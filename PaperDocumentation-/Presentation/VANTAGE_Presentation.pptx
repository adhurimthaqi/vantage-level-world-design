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4" r:id="rId4"/>
    <p:sldId id="258" r:id="rId5"/>
    <p:sldId id="259" r:id="rId6"/>
    <p:sldId id="260" r:id="rId7"/>
    <p:sldId id="261" r:id="rId8"/>
    <p:sldId id="262"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3614260-20DA-7FAF-9947-E835DF390802}">
          <p14:sldIdLst>
            <p14:sldId id="256"/>
          </p14:sldIdLst>
        </p14:section>
        <p14:section name="The level" id="{3447F526-4823-2693-2459-58A8AE267148}">
          <p14:sldIdLst>
            <p14:sldId id="257"/>
            <p14:sldId id="264"/>
          </p14:sldIdLst>
        </p14:section>
        <p14:section name="Levels" id="{CE06C448-CAE8-4805-CAE7-30429D99BF9B}">
          <p14:sldIdLst>
            <p14:sldId id="258"/>
            <p14:sldId id="259"/>
            <p14:sldId id="260"/>
          </p14:sldIdLst>
        </p14:section>
        <p14:section name="Design" id="{37E03B74-4E82-10BF-3CBA-37619BB1F5E1}">
          <p14:sldIdLst>
            <p14:sldId id="261"/>
            <p14:sldId id="262"/>
          </p14:sldIdLst>
        </p14:section>
        <p14:section name="Status" id="{2BC4885A-DBC6-C61F-6FF3-FEABE7E71D84}">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7DBECE-0F8D-48AF-9609-8B8970CEE712}" v="5" dt="2026-10-19T07:59:44.4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qi Adhurim HSLU I" userId="a166cb2a-c2fd-4c0b-b4ca-c817a47d0e89" providerId="ADAL" clId="{508424F3-63F3-4390-BA6A-A879E49D4726}"/>
    <pc:docChg chg="mod modSld modMainMaster">
      <pc:chgData name="Thaqi Adhurim HSLU I" userId="a166cb2a-c2fd-4c0b-b4ca-c817a47d0e89" providerId="ADAL" clId="{508424F3-63F3-4390-BA6A-A879E49D4726}" dt="2026-10-19T08:40:51.471" v="163" actId="1038"/>
      <pc:docMkLst>
        <pc:docMk/>
      </pc:docMkLst>
      <pc:sldChg chg="modSp mod">
        <pc:chgData name="Thaqi Adhurim HSLU I" userId="a166cb2a-c2fd-4c0b-b4ca-c817a47d0e89" providerId="ADAL" clId="{508424F3-63F3-4390-BA6A-A879E49D4726}" dt="2026-10-19T07:22:16.012" v="131" actId="1076"/>
        <pc:sldMkLst>
          <pc:docMk/>
          <pc:sldMk cId="0" sldId="256"/>
        </pc:sldMkLst>
        <pc:spChg chg="mod">
          <ac:chgData name="Thaqi Adhurim HSLU I" userId="a166cb2a-c2fd-4c0b-b4ca-c817a47d0e89" providerId="ADAL" clId="{508424F3-63F3-4390-BA6A-A879E49D4726}" dt="2026-10-19T07:19:24.638" v="128" actId="20577"/>
          <ac:spMkLst>
            <pc:docMk/>
            <pc:sldMk cId="0" sldId="256"/>
            <ac:spMk id="5" creationId="{00000000-0000-0000-0000-000000000000}"/>
          </ac:spMkLst>
        </pc:spChg>
        <pc:picChg chg="mod">
          <ac:chgData name="Thaqi Adhurim HSLU I" userId="a166cb2a-c2fd-4c0b-b4ca-c817a47d0e89" providerId="ADAL" clId="{508424F3-63F3-4390-BA6A-A879E49D4726}" dt="2026-10-19T07:22:16.012" v="131" actId="1076"/>
          <ac:picMkLst>
            <pc:docMk/>
            <pc:sldMk cId="0" sldId="256"/>
            <ac:picMk id="2" creationId="{00000000-0000-0000-0000-000000000000}"/>
          </ac:picMkLst>
        </pc:picChg>
      </pc:sldChg>
      <pc:sldChg chg="modSp mod">
        <pc:chgData name="Thaqi Adhurim HSLU I" userId="a166cb2a-c2fd-4c0b-b4ca-c817a47d0e89" providerId="ADAL" clId="{508424F3-63F3-4390-BA6A-A879E49D4726}" dt="2026-10-19T08:40:51.471" v="163" actId="1038"/>
        <pc:sldMkLst>
          <pc:docMk/>
          <pc:sldMk cId="0" sldId="257"/>
        </pc:sldMkLst>
        <pc:spChg chg="mod">
          <ac:chgData name="Thaqi Adhurim HSLU I" userId="a166cb2a-c2fd-4c0b-b4ca-c817a47d0e89" providerId="ADAL" clId="{508424F3-63F3-4390-BA6A-A879E49D4726}" dt="2026-10-19T07:59:44.499" v="135"/>
          <ac:spMkLst>
            <pc:docMk/>
            <pc:sldMk cId="0" sldId="257"/>
            <ac:spMk id="2" creationId="{00000000-0000-0000-0000-000000000000}"/>
          </ac:spMkLst>
        </pc:spChg>
        <pc:spChg chg="mod">
          <ac:chgData name="Thaqi Adhurim HSLU I" userId="a166cb2a-c2fd-4c0b-b4ca-c817a47d0e89" providerId="ADAL" clId="{508424F3-63F3-4390-BA6A-A879E49D4726}" dt="2026-10-19T08:40:51.471" v="163" actId="1038"/>
          <ac:spMkLst>
            <pc:docMk/>
            <pc:sldMk cId="0" sldId="257"/>
            <ac:spMk id="13" creationId="{00000000-0000-0000-0000-000000000000}"/>
          </ac:spMkLst>
        </pc:spChg>
        <pc:spChg chg="mod">
          <ac:chgData name="Thaqi Adhurim HSLU I" userId="a166cb2a-c2fd-4c0b-b4ca-c817a47d0e89" providerId="ADAL" clId="{508424F3-63F3-4390-BA6A-A879E49D4726}" dt="2026-10-19T08:40:47.469" v="153" actId="1038"/>
          <ac:spMkLst>
            <pc:docMk/>
            <pc:sldMk cId="0" sldId="257"/>
            <ac:spMk id="19" creationId="{00000000-0000-0000-0000-000000000000}"/>
          </ac:spMkLst>
        </pc:spChg>
        <pc:spChg chg="mod">
          <ac:chgData name="Thaqi Adhurim HSLU I" userId="a166cb2a-c2fd-4c0b-b4ca-c817a47d0e89" providerId="ADAL" clId="{508424F3-63F3-4390-BA6A-A879E49D4726}" dt="2026-10-19T08:40:43.443" v="143" actId="1037"/>
          <ac:spMkLst>
            <pc:docMk/>
            <pc:sldMk cId="0" sldId="257"/>
            <ac:spMk id="25" creationId="{00000000-0000-0000-0000-000000000000}"/>
          </ac:spMkLst>
        </pc:spChg>
        <pc:spChg chg="mod">
          <ac:chgData name="Thaqi Adhurim HSLU I" userId="a166cb2a-c2fd-4c0b-b4ca-c817a47d0e89" providerId="ADAL" clId="{508424F3-63F3-4390-BA6A-A879E49D4726}" dt="2026-10-19T07:18:17.695" v="3" actId="1076"/>
          <ac:spMkLst>
            <pc:docMk/>
            <pc:sldMk cId="0" sldId="257"/>
            <ac:spMk id="31" creationId="{00000000-0000-0000-0000-000000000000}"/>
          </ac:spMkLst>
        </pc:spChg>
      </pc:sldChg>
      <pc:sldChg chg="modSp">
        <pc:chgData name="Thaqi Adhurim HSLU I" userId="a166cb2a-c2fd-4c0b-b4ca-c817a47d0e89" providerId="ADAL" clId="{508424F3-63F3-4390-BA6A-A879E49D4726}" dt="2026-10-19T07:59:44.499" v="135"/>
        <pc:sldMkLst>
          <pc:docMk/>
          <pc:sldMk cId="0" sldId="258"/>
        </pc:sldMkLst>
        <pc:spChg chg="mod">
          <ac:chgData name="Thaqi Adhurim HSLU I" userId="a166cb2a-c2fd-4c0b-b4ca-c817a47d0e89" providerId="ADAL" clId="{508424F3-63F3-4390-BA6A-A879E49D4726}" dt="2026-10-19T07:59:44.499" v="135"/>
          <ac:spMkLst>
            <pc:docMk/>
            <pc:sldMk cId="0" sldId="258"/>
            <ac:spMk id="2" creationId="{00000000-0000-0000-0000-000000000000}"/>
          </ac:spMkLst>
        </pc:spChg>
      </pc:sldChg>
      <pc:sldChg chg="modSp">
        <pc:chgData name="Thaqi Adhurim HSLU I" userId="a166cb2a-c2fd-4c0b-b4ca-c817a47d0e89" providerId="ADAL" clId="{508424F3-63F3-4390-BA6A-A879E49D4726}" dt="2026-10-19T07:59:44.499" v="135"/>
        <pc:sldMkLst>
          <pc:docMk/>
          <pc:sldMk cId="0" sldId="259"/>
        </pc:sldMkLst>
        <pc:spChg chg="mod">
          <ac:chgData name="Thaqi Adhurim HSLU I" userId="a166cb2a-c2fd-4c0b-b4ca-c817a47d0e89" providerId="ADAL" clId="{508424F3-63F3-4390-BA6A-A879E49D4726}" dt="2026-10-19T07:59:44.499" v="135"/>
          <ac:spMkLst>
            <pc:docMk/>
            <pc:sldMk cId="0" sldId="259"/>
            <ac:spMk id="2" creationId="{00000000-0000-0000-0000-000000000000}"/>
          </ac:spMkLst>
        </pc:spChg>
      </pc:sldChg>
      <pc:sldChg chg="modSp">
        <pc:chgData name="Thaqi Adhurim HSLU I" userId="a166cb2a-c2fd-4c0b-b4ca-c817a47d0e89" providerId="ADAL" clId="{508424F3-63F3-4390-BA6A-A879E49D4726}" dt="2026-10-19T07:59:44.499" v="135"/>
        <pc:sldMkLst>
          <pc:docMk/>
          <pc:sldMk cId="0" sldId="260"/>
        </pc:sldMkLst>
        <pc:spChg chg="mod">
          <ac:chgData name="Thaqi Adhurim HSLU I" userId="a166cb2a-c2fd-4c0b-b4ca-c817a47d0e89" providerId="ADAL" clId="{508424F3-63F3-4390-BA6A-A879E49D4726}" dt="2026-10-19T07:59:44.499" v="135"/>
          <ac:spMkLst>
            <pc:docMk/>
            <pc:sldMk cId="0" sldId="260"/>
            <ac:spMk id="2" creationId="{00000000-0000-0000-0000-000000000000}"/>
          </ac:spMkLst>
        </pc:spChg>
      </pc:sldChg>
      <pc:sldChg chg="modSp">
        <pc:chgData name="Thaqi Adhurim HSLU I" userId="a166cb2a-c2fd-4c0b-b4ca-c817a47d0e89" providerId="ADAL" clId="{508424F3-63F3-4390-BA6A-A879E49D4726}" dt="2026-10-19T07:59:44.499" v="135"/>
        <pc:sldMkLst>
          <pc:docMk/>
          <pc:sldMk cId="0" sldId="261"/>
        </pc:sldMkLst>
        <pc:spChg chg="mod">
          <ac:chgData name="Thaqi Adhurim HSLU I" userId="a166cb2a-c2fd-4c0b-b4ca-c817a47d0e89" providerId="ADAL" clId="{508424F3-63F3-4390-BA6A-A879E49D4726}" dt="2026-10-19T07:59:44.499" v="135"/>
          <ac:spMkLst>
            <pc:docMk/>
            <pc:sldMk cId="0" sldId="261"/>
            <ac:spMk id="2" creationId="{00000000-0000-0000-0000-000000000000}"/>
          </ac:spMkLst>
        </pc:spChg>
      </pc:sldChg>
      <pc:sldChg chg="modSp">
        <pc:chgData name="Thaqi Adhurim HSLU I" userId="a166cb2a-c2fd-4c0b-b4ca-c817a47d0e89" providerId="ADAL" clId="{508424F3-63F3-4390-BA6A-A879E49D4726}" dt="2026-10-19T07:59:44.499" v="135"/>
        <pc:sldMkLst>
          <pc:docMk/>
          <pc:sldMk cId="0" sldId="262"/>
        </pc:sldMkLst>
        <pc:spChg chg="mod">
          <ac:chgData name="Thaqi Adhurim HSLU I" userId="a166cb2a-c2fd-4c0b-b4ca-c817a47d0e89" providerId="ADAL" clId="{508424F3-63F3-4390-BA6A-A879E49D4726}" dt="2026-10-19T07:59:44.499" v="135"/>
          <ac:spMkLst>
            <pc:docMk/>
            <pc:sldMk cId="0" sldId="262"/>
            <ac:spMk id="2" creationId="{00000000-0000-0000-0000-000000000000}"/>
          </ac:spMkLst>
        </pc:spChg>
      </pc:sldChg>
      <pc:sldChg chg="modSp">
        <pc:chgData name="Thaqi Adhurim HSLU I" userId="a166cb2a-c2fd-4c0b-b4ca-c817a47d0e89" providerId="ADAL" clId="{508424F3-63F3-4390-BA6A-A879E49D4726}" dt="2026-10-19T07:59:44.499" v="135"/>
        <pc:sldMkLst>
          <pc:docMk/>
          <pc:sldMk cId="0" sldId="263"/>
        </pc:sldMkLst>
        <pc:spChg chg="mod">
          <ac:chgData name="Thaqi Adhurim HSLU I" userId="a166cb2a-c2fd-4c0b-b4ca-c817a47d0e89" providerId="ADAL" clId="{508424F3-63F3-4390-BA6A-A879E49D4726}" dt="2026-10-19T07:59:44.499" v="135"/>
          <ac:spMkLst>
            <pc:docMk/>
            <pc:sldMk cId="0" sldId="263"/>
            <ac:spMk id="2" creationId="{00000000-0000-0000-0000-000000000000}"/>
          </ac:spMkLst>
        </pc:spChg>
      </pc:sldChg>
      <pc:sldChg chg="modSp">
        <pc:chgData name="Thaqi Adhurim HSLU I" userId="a166cb2a-c2fd-4c0b-b4ca-c817a47d0e89" providerId="ADAL" clId="{508424F3-63F3-4390-BA6A-A879E49D4726}" dt="2026-10-19T07:59:44.499" v="135"/>
        <pc:sldMkLst>
          <pc:docMk/>
          <pc:sldMk cId="1989655440" sldId="264"/>
        </pc:sldMkLst>
        <pc:spChg chg="mod">
          <ac:chgData name="Thaqi Adhurim HSLU I" userId="a166cb2a-c2fd-4c0b-b4ca-c817a47d0e89" providerId="ADAL" clId="{508424F3-63F3-4390-BA6A-A879E49D4726}" dt="2026-10-19T07:59:44.499" v="135"/>
          <ac:spMkLst>
            <pc:docMk/>
            <pc:sldMk cId="1989655440" sldId="264"/>
            <ac:spMk id="2" creationId="{00000000-0000-0000-0000-000000000000}"/>
          </ac:spMkLst>
        </pc:spChg>
      </pc:sldChg>
      <pc:sldMasterChg chg="modSldLayout">
        <pc:chgData name="Thaqi Adhurim HSLU I" userId="a166cb2a-c2fd-4c0b-b4ca-c817a47d0e89" providerId="ADAL" clId="{508424F3-63F3-4390-BA6A-A879E49D4726}" dt="2026-10-19T07:59:44.499" v="135"/>
        <pc:sldMasterMkLst>
          <pc:docMk/>
          <pc:sldMasterMk cId="3802206099" sldId="2147483652"/>
        </pc:sldMasterMkLst>
        <pc:sldLayoutChg chg="addSp delSp">
          <pc:chgData name="Thaqi Adhurim HSLU I" userId="a166cb2a-c2fd-4c0b-b4ca-c817a47d0e89" providerId="ADAL" clId="{508424F3-63F3-4390-BA6A-A879E49D4726}" dt="2026-10-19T07:59:44.499" v="135"/>
          <pc:sldLayoutMkLst>
            <pc:docMk/>
            <pc:sldMasterMk cId="3802206099" sldId="2147483652"/>
            <pc:sldLayoutMk cId="520799476" sldId="2147483681"/>
          </pc:sldLayoutMkLst>
          <pc:spChg chg="add del">
            <ac:chgData name="Thaqi Adhurim HSLU I" userId="a166cb2a-c2fd-4c0b-b4ca-c817a47d0e89" providerId="ADAL" clId="{508424F3-63F3-4390-BA6A-A879E49D4726}" dt="2026-10-19T07:59:44.499" v="135"/>
            <ac:spMkLst>
              <pc:docMk/>
              <pc:sldMasterMk cId="3802206099" sldId="2147483652"/>
              <pc:sldLayoutMk cId="520799476" sldId="2147483681"/>
              <ac:spMk id="3" creationId="{00000000-0000-0000-0000-000000000000}"/>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manualLayout>
          <c:layoutTarget val="inner"/>
          <c:xMode val="edge"/>
          <c:yMode val="edge"/>
          <c:x val="0.05"/>
          <c:y val="0.06"/>
          <c:w val="0.93"/>
          <c:h val="0.78"/>
        </c:manualLayout>
      </c:layout>
      <c:lineChart>
        <c:grouping val="standard"/>
        <c:varyColors val="0"/>
        <c:ser>
          <c:idx val="0"/>
          <c:order val="0"/>
          <c:tx>
            <c:strRef>
              <c:f>Sheet1!$B$1</c:f>
              <c:strCache>
                <c:ptCount val="1"/>
                <c:pt idx="0">
                  <c:v>Intensity</c:v>
                </c:pt>
              </c:strCache>
            </c:strRef>
          </c:tx>
          <c:spPr>
            <a:ln w="50800" cap="flat">
              <a:solidFill>
                <a:srgbClr val="F2A900"/>
              </a:solidFill>
              <a:prstDash val="solid"/>
              <a:round/>
            </a:ln>
            <a:effectLst/>
          </c:spPr>
          <c:marker>
            <c:symbol val="circle"/>
            <c:size val="11"/>
            <c:spPr>
              <a:solidFill>
                <a:srgbClr val="F2A900"/>
              </a:solidFill>
              <a:ln w="9525" cap="flat">
                <a:solidFill>
                  <a:srgbClr val="F2A900"/>
                </a:solidFill>
                <a:prstDash val="solid"/>
                <a:round/>
              </a:ln>
              <a:effectLst/>
            </c:spPr>
          </c:marker>
          <c:cat>
            <c:strRef>
              <c:f>Sheet1!$A$2:$A$12</c:f>
              <c:strCache>
                <c:ptCount val="11"/>
                <c:pt idx="0">
                  <c:v>Curiosity</c:v>
                </c:pt>
                <c:pt idx="1">
                  <c:v>Shock</c:v>
                </c:pt>
                <c:pt idx="2">
                  <c:v>Hunted</c:v>
                </c:pt>
                <c:pt idx="3">
                  <c:v>Control</c:v>
                </c:pt>
                <c:pt idx="4">
                  <c:v>Pressure</c:v>
                </c:pt>
                <c:pt idx="5">
                  <c:v>Purpose</c:v>
                </c:pt>
                <c:pt idx="6">
                  <c:v>Relief</c:v>
                </c:pt>
                <c:pt idx="7">
                  <c:v>Awe</c:v>
                </c:pt>
                <c:pt idx="8">
                  <c:v>Dread</c:v>
                </c:pt>
                <c:pt idx="9">
                  <c:v>Climax</c:v>
                </c:pt>
                <c:pt idx="10">
                  <c:v>Release</c:v>
                </c:pt>
              </c:strCache>
            </c:strRef>
          </c:cat>
          <c:val>
            <c:numRef>
              <c:f>Sheet1!$B$2:$B$12</c:f>
              <c:numCache>
                <c:formatCode>General</c:formatCode>
                <c:ptCount val="11"/>
                <c:pt idx="0">
                  <c:v>2</c:v>
                </c:pt>
                <c:pt idx="1">
                  <c:v>9</c:v>
                </c:pt>
                <c:pt idx="2">
                  <c:v>8</c:v>
                </c:pt>
                <c:pt idx="3">
                  <c:v>5</c:v>
                </c:pt>
                <c:pt idx="4">
                  <c:v>7</c:v>
                </c:pt>
                <c:pt idx="5">
                  <c:v>5</c:v>
                </c:pt>
                <c:pt idx="6">
                  <c:v>3</c:v>
                </c:pt>
                <c:pt idx="7">
                  <c:v>5</c:v>
                </c:pt>
                <c:pt idx="8">
                  <c:v>8</c:v>
                </c:pt>
                <c:pt idx="9">
                  <c:v>10</c:v>
                </c:pt>
                <c:pt idx="10">
                  <c:v>2</c:v>
                </c:pt>
              </c:numCache>
            </c:numRef>
          </c:val>
          <c:smooth val="1"/>
          <c:extLst>
            <c:ext xmlns:c16="http://schemas.microsoft.com/office/drawing/2014/chart" uri="{C3380CC4-5D6E-409C-BE32-E72D297353CC}">
              <c16:uniqueId val="{00000000-CBC2-486D-9F5B-2CD10C701DC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404040"/>
                </a:solidFill>
                <a:latin typeface="+mn-lt"/>
              </a:defRPr>
            </a:pPr>
            <a:endParaRPr lang="en-US"/>
          </a:p>
        </c:txPr>
        <c:crossAx val="2094734552"/>
        <c:crosses val="autoZero"/>
        <c:auto val="1"/>
        <c:lblAlgn val="ctr"/>
        <c:lblOffset val="100"/>
        <c:noMultiLvlLbl val="1"/>
      </c:catAx>
      <c:valAx>
        <c:axId val="2094734552"/>
        <c:scaling>
          <c:orientation val="minMax"/>
          <c:max val="11"/>
          <c:min val="0"/>
        </c:scaling>
        <c:delete val="1"/>
        <c:axPos val="l"/>
        <c:majorGridlines>
          <c:spPr>
            <a:ln w="6350" cap="flat">
              <a:solidFill>
                <a:srgbClr val="D9D9D9"/>
              </a:solidFill>
              <a:prstDash val="solid"/>
              <a:round/>
            </a:ln>
          </c:spPr>
        </c:majorGridlines>
        <c:numFmt formatCode="General" sourceLinked="0"/>
        <c:majorTickMark val="out"/>
        <c:minorTickMark val="none"/>
        <c:tickLblPos val="nextTo"/>
        <c:crossAx val="2094734554"/>
        <c:crosses val="autoZero"/>
        <c:crossBetween val="between"/>
        <c:majorUnit val="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7057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Hi, I'm Adhurim. My level is VANTAGE: a third-person shooter level in a military training base that has been overrun. You fight your way up a three-floor tower. Every floor has its own kind of lock, and the only way out is a helicopter from the helipad.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The world is my own Blender scene: a one-kilometre valley with the base, and the tower on a plot in the middle. On the right is the level as a cross-section, read from the bottom up. Each floor has its own space, its own lock and its own emotion: a trap on the ground floor, a key on the armory floor, a robot and a patrol door on the destroyed floor, and a boss on the helipad.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the level as a bubble diagram: every bubble is a space, its size is roughly how big it is in play, and the lines are the ways between them. Yellow lines are open; red dashed lines are locked until the condition next to them is met. Level 1 is a loop: the trap in the entrance closes the shutter to the stairs and the left door, so the only way is Room A, B, C, the West Wing and the turret hall back round. Level 2 is one hall as a hub with the Armory and the Office off it; the key slot opens the stairwell once the floor is clear. Level 3 is two rooms into a hall, then the robot room, the breach out to the patrols, the SE room and the exit. The finale is the helipad, the boss, then the helicopter. Five coins sit in spaces the route does not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Level 1 is a trap. You pick up the pistol outside, walk in, and just inside the door the alarm trigger drops the shutter in front of the stairs: siren, red light, and every soldier on the floor comes for you. If the security camera in Room A sees you first, it sets the alarm off early, so shooting it is a choice before the trap. During the lockdown the left door stays locked, so there is one way on: Rooms A, B and C, the West Wing and the turret hall. When the last enemy and the turret are down, the alarm stops and the shutter rolls up. Shock first, then control, then relief.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Level 2 is a puzzle under fire. You come up into a big hall with turrets and drones, so the pressure stays up. The goal is visible from the start: the stairwell gate with its red lamp. The rifle is in the Armory and the key is on the office desk, floating and glowing so it reads as important. The key slot is the only thing in the whole game you use with E, so it stands out. When the key turns the lamp goes green, and once the floor is clear the gate opens: reward, purpose, relief.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Level 3 is the destroyed floor. You arrive and see daylight through the blown-out side of the building: awe, and also a warning. When the indoor soldiers are down, the robot room opens. The heavy robot only takes damage from the rifle, which tests that you found it on level 2. Through the breach two patrols guard the broken slab, and killing both unlocks the SE room and the exit to the outside stairs. On the helipad two soldiers wait, then stepping on the pad brings the boss. When it dies the helicopter lands: the climax, then the release.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This is the curve I design for. Every level has its own rise and fall: the trap is a sudden spike on level 1, level 2 is steady pressure that ends in relief at the key slot, level 3 builds dread up to the robot, and the boss is the highest peak. The helicopter is the release afterwards, because a level that only stops at its peak feels unfinished.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The video you recommended, Peter Field's talk on spatial communication, says the level should explain itself before the HUD does. That is how I guide the player. The first corridor frames the shutter in front of the stairs, the exact thing the trap closes. Colours are rules: red is locked or danger, green is open. You can see the camera's light cone before it sees you. Only one object in the game uses E, so it stands out. Doors on the route are open and locked ones are shut. On level 3, daylight and a helipad sign pull you towards the finale.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Everything you saw is playable today, from the trap to the end screen. The procedural part is the seeded soldier placement, and an automated bot plays the whole level on every change. Next I'm modelling the robot, the boss and the helicopter in Blender, adding props for environmental storytelling and a mood per space, and running peer playtests, especially to balance the lockdown when you only have a pistol.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40080"/>
          </a:xfrm>
          <a:prstGeom prst="rect">
            <a:avLst/>
          </a:prstGeom>
          <a:noFill/>
          <a:ln/>
        </p:spPr>
        <p:txBody>
          <a:bodyPr wrap="square" rtlCol="0"/>
          <a:lstStyle>
            <a:lvl1pPr marL="0" indent="0" algn="l">
              <a:buNone/>
              <a:defRPr lang="en-US" sz="3200" dirty="0">
                <a:solidFill>
                  <a:schemeClr val="tx1"/>
                </a:solidFill>
              </a:defRPr>
            </a:lvl1pPr>
          </a:lstStyle>
          <a:p>
            <a:pPr marL="0" indent="0" algn="l">
              <a:buNone/>
            </a:pPr>
            <a:endParaRPr lang="en-US" sz="3200" dirty="0"/>
          </a:p>
        </p:txBody>
      </p:sp>
      <p:sp>
        <p:nvSpPr>
          <p:cNvPr id="3" name="Text 0"/>
          <p:cNvSpPr/>
          <p:nvPr/>
        </p:nvSpPr>
        <p:spPr>
          <a:xfrm>
            <a:off x="457200" y="6419088"/>
            <a:ext cx="8229600" cy="274320"/>
          </a:xfrm>
          <a:prstGeom prst="rect">
            <a:avLst/>
          </a:prstGeom>
          <a:noFill/>
          <a:ln/>
        </p:spPr>
        <p:txBody>
          <a:bodyPr wrap="square" lIns="0" tIns="0" rIns="0" bIns="0" rtlCol="0" anchor="ctr"/>
          <a:lstStyle/>
          <a:p>
            <a:pPr marL="0" indent="0">
              <a:buNone/>
            </a:pPr>
            <a:r>
              <a:rPr lang="en-US" sz="1000" dirty="0">
                <a:solidFill>
                  <a:schemeClr val="accent5"/>
                </a:solidFill>
                <a:latin typeface="Montserrat" panose="00000500000000000000" pitchFamily="2" charset="0"/>
              </a:rPr>
              <a:t>VANTAGE  ·  Adhurim Thaqi  ·  Level &amp; World Design HS26</a:t>
            </a:r>
            <a:endParaRPr lang="en-US" sz="1000" dirty="0">
              <a:latin typeface="Montserrat" panose="00000500000000000000" pitchFamily="2" charset="0"/>
            </a:endParaRPr>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F9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F98"/>
                </a:solidFill>
                <a:latin typeface="Montserrat" panose="00000500000000000000" pitchFamily="2" charset="0"/>
              </a:defRPr>
            </a:lvl1pPr>
          </a:lstStyle>
          <a:p>
            <a:pPr algn="r"/>
            <a:fld id="{F7021451-1387-4CA6-816F-3879F97B5CBC}" type="slidenum">
              <a:rPr lang="en-US" smtClean="0"/>
              <a:pPr algn="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bg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bg1"/>
          </a:solidFill>
          <a:latin typeface="+mn-lt"/>
          <a:ea typeface="+mn-ea"/>
          <a:cs typeface="+mn-cs"/>
        </a:defRPr>
      </a:lvl2pPr>
      <a:lvl3pPr marL="914400" algn="l" defTabSz="914400" rtl="0" eaLnBrk="1" latinLnBrk="0" hangingPunct="1">
        <a:defRPr sz="1800" kern="1200">
          <a:solidFill>
            <a:schemeClr val="bg1"/>
          </a:solidFill>
          <a:latin typeface="+mn-lt"/>
          <a:ea typeface="+mn-ea"/>
          <a:cs typeface="+mn-cs"/>
        </a:defRPr>
      </a:lvl3pPr>
      <a:lvl4pPr marL="1371600" algn="l" defTabSz="914400" rtl="0" eaLnBrk="1" latinLnBrk="0" hangingPunct="1">
        <a:defRPr sz="1800" kern="1200">
          <a:solidFill>
            <a:schemeClr val="bg1"/>
          </a:solidFill>
          <a:latin typeface="+mn-lt"/>
          <a:ea typeface="+mn-ea"/>
          <a:cs typeface="+mn-cs"/>
        </a:defRPr>
      </a:lvl4pPr>
      <a:lvl5pPr marL="1828800" algn="l" defTabSz="914400" rtl="0" eaLnBrk="1" latinLnBrk="0" hangingPunct="1">
        <a:defRPr sz="1800" kern="1200">
          <a:solidFill>
            <a:schemeClr val="bg1"/>
          </a:solidFill>
          <a:latin typeface="+mn-lt"/>
          <a:ea typeface="+mn-ea"/>
          <a:cs typeface="+mn-cs"/>
        </a:defRPr>
      </a:lvl5pPr>
      <a:lvl6pPr marL="2286000" algn="l" defTabSz="914400" rtl="0" eaLnBrk="1" latinLnBrk="0" hangingPunct="1">
        <a:defRPr sz="1800" kern="1200">
          <a:solidFill>
            <a:schemeClr val="bg1"/>
          </a:solidFill>
          <a:latin typeface="+mn-lt"/>
          <a:ea typeface="+mn-ea"/>
          <a:cs typeface="+mn-cs"/>
        </a:defRPr>
      </a:lvl6pPr>
      <a:lvl7pPr marL="2743200" algn="l" defTabSz="914400" rtl="0" eaLnBrk="1" latinLnBrk="0" hangingPunct="1">
        <a:defRPr sz="1800" kern="1200">
          <a:solidFill>
            <a:schemeClr val="bg1"/>
          </a:solidFill>
          <a:latin typeface="+mn-lt"/>
          <a:ea typeface="+mn-ea"/>
          <a:cs typeface="+mn-cs"/>
        </a:defRPr>
      </a:lvl7pPr>
      <a:lvl8pPr marL="3200400" algn="l" defTabSz="914400" rtl="0" eaLnBrk="1" latinLnBrk="0" hangingPunct="1">
        <a:defRPr sz="1800" kern="1200">
          <a:solidFill>
            <a:schemeClr val="bg1"/>
          </a:solidFill>
          <a:latin typeface="+mn-lt"/>
          <a:ea typeface="+mn-ea"/>
          <a:cs typeface="+mn-cs"/>
        </a:defRPr>
      </a:lvl8pPr>
      <a:lvl9pPr marL="3657600" algn="l" defTabSz="914400" rtl="0" eaLnBrk="1" latinLnBrk="0" hangingPunct="1">
        <a:defRPr sz="1800" kern="1200">
          <a:solidFill>
            <a:schemeClr val="bg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ower approach" descr="C:\Users\at488\AppData\Local\Temp\claude\C--Users-at488-OneDrive---Hochschule-Luzern-Desktop-Level-World-Design-\cc816706-66e7-4f21-b274-83f61f88f670\scratchpad\deck\screenshots\tower_1_approach.png"/>
          <p:cNvPicPr>
            <a:picLocks noChangeAspect="1"/>
          </p:cNvPicPr>
          <p:nvPr/>
        </p:nvPicPr>
        <p:blipFill>
          <a:blip r:embed="rId3"/>
          <a:srcRect/>
          <a:stretch/>
        </p:blipFill>
        <p:spPr>
          <a:xfrm>
            <a:off x="5775158" y="1521995"/>
            <a:ext cx="5967664" cy="38140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0"/>
          <p:cNvSpPr txBox="1"/>
          <p:nvPr/>
        </p:nvSpPr>
        <p:spPr>
          <a:xfrm>
            <a:off x="548640" y="1828800"/>
            <a:ext cx="5120640" cy="1097280"/>
          </a:xfrm>
          <a:prstGeom prst="rect">
            <a:avLst/>
          </a:prstGeom>
          <a:noFill/>
          <a:ln/>
        </p:spPr>
        <p:txBody>
          <a:bodyPr wrap="square" lIns="0" tIns="0" rIns="0" bIns="0" rtlCol="0" anchor="ctr"/>
          <a:lstStyle/>
          <a:p>
            <a:pPr marL="0" indent="0">
              <a:buNone/>
            </a:pPr>
            <a:r>
              <a:rPr lang="en-US" sz="6600" kern="0" spc="400" dirty="0">
                <a:solidFill>
                  <a:schemeClr val="tx1"/>
                </a:solidFill>
                <a:latin typeface="Bahnschrift SemiBold" pitchFamily="34" charset="0"/>
                <a:ea typeface="Bahnschrift SemiBold" pitchFamily="34" charset="-122"/>
                <a:cs typeface="Bahnschrift SemiBold" pitchFamily="34" charset="-120"/>
              </a:rPr>
              <a:t>VANTAGE</a:t>
            </a:r>
            <a:endParaRPr lang="en-US" sz="6600" dirty="0">
              <a:latin typeface="Montserrat" panose="00000500000000000000" pitchFamily="2" charset="0"/>
            </a:endParaRPr>
          </a:p>
        </p:txBody>
      </p:sp>
      <p:sp>
        <p:nvSpPr>
          <p:cNvPr id="4" name="Text 1"/>
          <p:cNvSpPr txBox="1"/>
          <p:nvPr/>
        </p:nvSpPr>
        <p:spPr>
          <a:xfrm>
            <a:off x="548640" y="2926080"/>
            <a:ext cx="5120640" cy="457200"/>
          </a:xfrm>
          <a:prstGeom prst="rect">
            <a:avLst/>
          </a:prstGeom>
          <a:noFill/>
          <a:ln/>
        </p:spPr>
        <p:txBody>
          <a:bodyPr wrap="square" lIns="0" tIns="0" rIns="0" bIns="0" rtlCol="0" anchor="ctr"/>
          <a:lstStyle/>
          <a:p>
            <a:pPr marL="0" indent="0">
              <a:buNone/>
            </a:pPr>
            <a:r>
              <a:rPr lang="en-US" sz="2000" dirty="0">
                <a:solidFill>
                  <a:schemeClr val="accent1"/>
                </a:solidFill>
                <a:latin typeface="Montserrat" panose="00000500000000000000" pitchFamily="2" charset="0"/>
              </a:rPr>
              <a:t>A tower assault in a captured training base</a:t>
            </a:r>
            <a:endParaRPr lang="en-US" sz="2000" dirty="0">
              <a:latin typeface="Montserrat" panose="00000500000000000000" pitchFamily="2" charset="0"/>
            </a:endParaRPr>
          </a:p>
        </p:txBody>
      </p:sp>
      <p:sp>
        <p:nvSpPr>
          <p:cNvPr id="5" name="Text 2"/>
          <p:cNvSpPr txBox="1"/>
          <p:nvPr/>
        </p:nvSpPr>
        <p:spPr>
          <a:xfrm>
            <a:off x="548640" y="3429000"/>
            <a:ext cx="5120640" cy="731520"/>
          </a:xfrm>
          <a:prstGeom prst="rect">
            <a:avLst/>
          </a:prstGeom>
          <a:noFill/>
          <a:ln/>
        </p:spPr>
        <p:txBody>
          <a:bodyPr wrap="square" lIns="0" tIns="0" rIns="0" bIns="0" rtlCol="0" anchor="ctr"/>
          <a:lstStyle/>
          <a:p>
            <a:pPr marL="0" indent="0">
              <a:buNone/>
            </a:pPr>
            <a:r>
              <a:rPr lang="en-US" sz="1600" dirty="0">
                <a:solidFill>
                  <a:schemeClr val="tx2"/>
                </a:solidFill>
                <a:latin typeface="Montserrat" panose="00000500000000000000" pitchFamily="2" charset="0"/>
              </a:rPr>
              <a:t>Three floors, a lock on each, ONLY one way out</a:t>
            </a:r>
            <a:endParaRPr lang="en-US" sz="1600" dirty="0">
              <a:latin typeface="Montserrat" panose="00000500000000000000" pitchFamily="2" charset="0"/>
            </a:endParaRPr>
          </a:p>
        </p:txBody>
      </p:sp>
      <p:sp>
        <p:nvSpPr>
          <p:cNvPr id="6" name="Text 3"/>
          <p:cNvSpPr txBox="1"/>
          <p:nvPr/>
        </p:nvSpPr>
        <p:spPr>
          <a:xfrm>
            <a:off x="548640" y="5303520"/>
            <a:ext cx="5120640" cy="640080"/>
          </a:xfrm>
          <a:prstGeom prst="rect">
            <a:avLst/>
          </a:prstGeom>
          <a:noFill/>
          <a:ln/>
        </p:spPr>
        <p:txBody>
          <a:bodyPr wrap="square" lIns="0" tIns="0" rIns="0" bIns="0" rtlCol="0" anchor="ctr"/>
          <a:lstStyle/>
          <a:p>
            <a:pPr marL="0" indent="0">
              <a:buNone/>
            </a:pPr>
            <a:r>
              <a:rPr lang="en-US" sz="1400" b="1" dirty="0">
                <a:solidFill>
                  <a:schemeClr val="accent5"/>
                </a:solidFill>
                <a:latin typeface="Montserrat" panose="00000500000000000000" pitchFamily="2" charset="0"/>
              </a:rPr>
              <a:t>Adhurim Thaqi</a:t>
            </a:r>
            <a:endParaRPr lang="en-US" sz="1400" dirty="0">
              <a:latin typeface="Montserrat" panose="00000500000000000000" pitchFamily="2" charset="0"/>
            </a:endParaRPr>
          </a:p>
          <a:p>
            <a:pPr marL="0" indent="0">
              <a:buNone/>
            </a:pPr>
            <a:r>
              <a:rPr lang="en-US" sz="1400" dirty="0">
                <a:solidFill>
                  <a:schemeClr val="accent5"/>
                </a:solidFill>
                <a:latin typeface="Montserrat" panose="00000500000000000000" pitchFamily="2" charset="0"/>
              </a:rPr>
              <a:t>Level &amp; World Design (I.BA_LWD), HS26  ·  current state</a:t>
            </a:r>
            <a:endParaRPr lang="en-US" sz="1400" dirty="0">
              <a:latin typeface="Montserrat"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40080"/>
          </a:xfrm>
          <a:prstGeom prst="rect">
            <a:avLst/>
          </a:prstGeom>
          <a:noFill/>
          <a:ln/>
        </p:spPr>
        <p:txBody>
          <a:bodyPr wrap="square" lIns="0" tIns="0" rIns="0" bIns="0" rtlCol="0" anchor="ctr"/>
          <a:lstStyle/>
          <a:p>
            <a:pPr marL="0" indent="0" algn="l">
              <a:buNone/>
            </a:pPr>
            <a:r>
              <a:rPr lang="en-US" sz="3200" dirty="0">
                <a:solidFill>
                  <a:schemeClr val="tx1"/>
                </a:solidFill>
              </a:rPr>
              <a:t>One tower, four spaces, a different lock on each</a:t>
            </a:r>
            <a:endParaRPr lang="en-US" sz="3200" dirty="0"/>
          </a:p>
        </p:txBody>
      </p:sp>
      <p:pic>
        <p:nvPicPr>
          <p:cNvPr id="3" name="aerial view" descr="C:\Users\at488\AppData\Local\Temp\claude\C--Users-at488-OneDrive---Hochschule-Luzern-Desktop-Level-World-Design-\cc816706-66e7-4f21-b274-83f61f88f670\scratchpad\deck\screenshots\tower_2_overview.png"/>
          <p:cNvPicPr>
            <a:picLocks noChangeAspect="1"/>
          </p:cNvPicPr>
          <p:nvPr/>
        </p:nvPicPr>
        <p:blipFill>
          <a:blip r:embed="rId3"/>
          <a:stretch>
            <a:fillRect/>
          </a:stretch>
        </p:blipFill>
        <p:spPr>
          <a:xfrm>
            <a:off x="457200" y="1143000"/>
            <a:ext cx="5852160" cy="3291840"/>
          </a:xfrm>
          <a:prstGeom prst="rect">
            <a:avLst/>
          </a:prstGeom>
        </p:spPr>
      </p:pic>
      <p:sp>
        <p:nvSpPr>
          <p:cNvPr id="4" name="Text 1"/>
          <p:cNvSpPr txBox="1"/>
          <p:nvPr/>
        </p:nvSpPr>
        <p:spPr>
          <a:xfrm>
            <a:off x="457200" y="4526280"/>
            <a:ext cx="5852160" cy="274320"/>
          </a:xfrm>
          <a:prstGeom prst="rect">
            <a:avLst/>
          </a:prstGeom>
          <a:noFill/>
          <a:ln/>
        </p:spPr>
        <p:txBody>
          <a:bodyPr wrap="square" lIns="0" tIns="0" rIns="0" bIns="0" rtlCol="0" anchor="ctr"/>
          <a:lstStyle/>
          <a:p>
            <a:pPr marL="0" indent="0">
              <a:buNone/>
            </a:pPr>
            <a:r>
              <a:rPr lang="en-US" sz="1100" i="1" dirty="0">
                <a:solidFill>
                  <a:schemeClr val="accent5"/>
                </a:solidFill>
                <a:latin typeface="Montserrat" panose="00000500000000000000" pitchFamily="2" charset="0"/>
              </a:rPr>
              <a:t>The tower in the base: the blown-out top floor and the helipad beside it are visible from the approach.</a:t>
            </a:r>
            <a:endParaRPr lang="en-US" sz="1100" dirty="0">
              <a:latin typeface="Montserrat" panose="00000500000000000000" pitchFamily="2" charset="0"/>
            </a:endParaRPr>
          </a:p>
        </p:txBody>
      </p:sp>
      <p:sp>
        <p:nvSpPr>
          <p:cNvPr id="5" name="Text 2"/>
          <p:cNvSpPr txBox="1"/>
          <p:nvPr/>
        </p:nvSpPr>
        <p:spPr>
          <a:xfrm>
            <a:off x="457200" y="4983480"/>
            <a:ext cx="1828800" cy="685800"/>
          </a:xfrm>
          <a:prstGeom prst="rect">
            <a:avLst/>
          </a:prstGeom>
          <a:noFill/>
          <a:ln/>
        </p:spPr>
        <p:txBody>
          <a:bodyPr wrap="square" lIns="0" tIns="0" rIns="0" bIns="0" rtlCol="0" anchor="ctr"/>
          <a:lstStyle/>
          <a:p>
            <a:pPr marL="0" indent="0">
              <a:buNone/>
            </a:pPr>
            <a:r>
              <a:rPr lang="en-US" sz="4000" dirty="0">
                <a:solidFill>
                  <a:schemeClr val="accent1"/>
                </a:solidFill>
                <a:latin typeface="Bahnschrift SemiBold" pitchFamily="34" charset="0"/>
                <a:ea typeface="Bahnschrift SemiBold" pitchFamily="34" charset="-122"/>
                <a:cs typeface="Bahnschrift SemiBold" pitchFamily="34" charset="-120"/>
              </a:rPr>
              <a:t>1 km</a:t>
            </a:r>
            <a:endParaRPr lang="en-US" sz="4000" dirty="0">
              <a:latin typeface="Montserrat" panose="00000500000000000000" pitchFamily="2" charset="0"/>
            </a:endParaRPr>
          </a:p>
        </p:txBody>
      </p:sp>
      <p:sp>
        <p:nvSpPr>
          <p:cNvPr id="6" name="Text 3"/>
          <p:cNvSpPr txBox="1"/>
          <p:nvPr/>
        </p:nvSpPr>
        <p:spPr>
          <a:xfrm>
            <a:off x="457200" y="5650992"/>
            <a:ext cx="1874520" cy="548640"/>
          </a:xfrm>
          <a:prstGeom prst="rect">
            <a:avLst/>
          </a:prstGeom>
          <a:noFill/>
          <a:ln/>
        </p:spPr>
        <p:txBody>
          <a:bodyPr wrap="square" lIns="0" tIns="0" rIns="0" bIns="0" rtlCol="0" anchor="ctr"/>
          <a:lstStyle/>
          <a:p>
            <a:pPr marL="0" indent="0">
              <a:buNone/>
            </a:pPr>
            <a:r>
              <a:rPr lang="en-US" sz="1200" dirty="0">
                <a:solidFill>
                  <a:schemeClr val="tx2"/>
                </a:solidFill>
                <a:latin typeface="Montserrat" panose="00000500000000000000" pitchFamily="2" charset="0"/>
              </a:rPr>
              <a:t>forested valley,</a:t>
            </a:r>
            <a:endParaRPr lang="en-US" sz="1200" dirty="0">
              <a:latin typeface="Montserrat" panose="00000500000000000000" pitchFamily="2" charset="0"/>
            </a:endParaRPr>
          </a:p>
          <a:p>
            <a:pPr marL="0" indent="0">
              <a:buNone/>
            </a:pPr>
            <a:r>
              <a:rPr lang="en-US" sz="1200" dirty="0">
                <a:solidFill>
                  <a:schemeClr val="tx2"/>
                </a:solidFill>
                <a:latin typeface="Montserrat" panose="00000500000000000000" pitchFamily="2" charset="0"/>
              </a:rPr>
              <a:t>my own Blender world</a:t>
            </a:r>
            <a:endParaRPr lang="en-US" sz="1200" dirty="0">
              <a:latin typeface="Montserrat" panose="00000500000000000000" pitchFamily="2" charset="0"/>
            </a:endParaRPr>
          </a:p>
        </p:txBody>
      </p:sp>
      <p:sp>
        <p:nvSpPr>
          <p:cNvPr id="7" name="Text 4"/>
          <p:cNvSpPr txBox="1"/>
          <p:nvPr/>
        </p:nvSpPr>
        <p:spPr>
          <a:xfrm>
            <a:off x="2450592" y="4983480"/>
            <a:ext cx="1828800" cy="685800"/>
          </a:xfrm>
          <a:prstGeom prst="rect">
            <a:avLst/>
          </a:prstGeom>
          <a:noFill/>
          <a:ln/>
        </p:spPr>
        <p:txBody>
          <a:bodyPr wrap="square" lIns="0" tIns="0" rIns="0" bIns="0" rtlCol="0" anchor="ctr"/>
          <a:lstStyle/>
          <a:p>
            <a:pPr marL="0" indent="0">
              <a:buNone/>
            </a:pPr>
            <a:r>
              <a:rPr lang="en-US" sz="4000" dirty="0">
                <a:solidFill>
                  <a:schemeClr val="accent1"/>
                </a:solidFill>
                <a:latin typeface="Bahnschrift SemiBold" pitchFamily="34" charset="0"/>
                <a:ea typeface="Bahnschrift SemiBold" pitchFamily="34" charset="-122"/>
                <a:cs typeface="Bahnschrift SemiBold" pitchFamily="34" charset="-120"/>
              </a:rPr>
              <a:t>3 + 1</a:t>
            </a:r>
            <a:endParaRPr lang="en-US" sz="4000" dirty="0">
              <a:latin typeface="Montserrat" panose="00000500000000000000" pitchFamily="2" charset="0"/>
            </a:endParaRPr>
          </a:p>
        </p:txBody>
      </p:sp>
      <p:sp>
        <p:nvSpPr>
          <p:cNvPr id="8" name="Text 5"/>
          <p:cNvSpPr txBox="1"/>
          <p:nvPr/>
        </p:nvSpPr>
        <p:spPr>
          <a:xfrm>
            <a:off x="2450592" y="5650992"/>
            <a:ext cx="1874520" cy="548640"/>
          </a:xfrm>
          <a:prstGeom prst="rect">
            <a:avLst/>
          </a:prstGeom>
          <a:noFill/>
          <a:ln/>
        </p:spPr>
        <p:txBody>
          <a:bodyPr wrap="square" lIns="0" tIns="0" rIns="0" bIns="0" rtlCol="0" anchor="ctr"/>
          <a:lstStyle/>
          <a:p>
            <a:pPr marL="0" indent="0">
              <a:buNone/>
            </a:pPr>
            <a:r>
              <a:rPr lang="en-US" sz="1200" dirty="0">
                <a:solidFill>
                  <a:schemeClr val="tx2"/>
                </a:solidFill>
                <a:latin typeface="Montserrat" panose="00000500000000000000" pitchFamily="2" charset="0"/>
              </a:rPr>
              <a:t>floors plus the</a:t>
            </a:r>
            <a:endParaRPr lang="en-US" sz="1200" dirty="0">
              <a:latin typeface="Montserrat" panose="00000500000000000000" pitchFamily="2" charset="0"/>
            </a:endParaRPr>
          </a:p>
          <a:p>
            <a:pPr marL="0" indent="0">
              <a:buNone/>
            </a:pPr>
            <a:r>
              <a:rPr lang="en-US" sz="1200" dirty="0">
                <a:solidFill>
                  <a:schemeClr val="tx2"/>
                </a:solidFill>
                <a:latin typeface="Montserrat" panose="00000500000000000000" pitchFamily="2" charset="0"/>
              </a:rPr>
              <a:t>helipad finale</a:t>
            </a:r>
            <a:endParaRPr lang="en-US" sz="1200" dirty="0">
              <a:latin typeface="Montserrat" panose="00000500000000000000" pitchFamily="2" charset="0"/>
            </a:endParaRPr>
          </a:p>
        </p:txBody>
      </p:sp>
      <p:sp>
        <p:nvSpPr>
          <p:cNvPr id="9" name="Text 6"/>
          <p:cNvSpPr txBox="1"/>
          <p:nvPr/>
        </p:nvSpPr>
        <p:spPr>
          <a:xfrm>
            <a:off x="4443984" y="4983480"/>
            <a:ext cx="1828800" cy="685800"/>
          </a:xfrm>
          <a:prstGeom prst="rect">
            <a:avLst/>
          </a:prstGeom>
          <a:noFill/>
          <a:ln/>
        </p:spPr>
        <p:txBody>
          <a:bodyPr wrap="square" lIns="0" tIns="0" rIns="0" bIns="0" rtlCol="0" anchor="ctr"/>
          <a:lstStyle/>
          <a:p>
            <a:pPr marL="0" indent="0">
              <a:buNone/>
            </a:pPr>
            <a:r>
              <a:rPr lang="en-US" sz="4000" dirty="0">
                <a:solidFill>
                  <a:schemeClr val="accent1"/>
                </a:solidFill>
                <a:latin typeface="Bahnschrift SemiBold" pitchFamily="34" charset="0"/>
                <a:ea typeface="Bahnschrift SemiBold" pitchFamily="34" charset="-122"/>
                <a:cs typeface="Bahnschrift SemiBold" pitchFamily="34" charset="-120"/>
              </a:rPr>
              <a:t>0</a:t>
            </a:r>
            <a:endParaRPr lang="en-US" sz="4000" dirty="0">
              <a:latin typeface="Montserrat" panose="00000500000000000000" pitchFamily="2" charset="0"/>
            </a:endParaRPr>
          </a:p>
        </p:txBody>
      </p:sp>
      <p:sp>
        <p:nvSpPr>
          <p:cNvPr id="10" name="Text 7"/>
          <p:cNvSpPr txBox="1"/>
          <p:nvPr/>
        </p:nvSpPr>
        <p:spPr>
          <a:xfrm>
            <a:off x="4443984" y="5650992"/>
            <a:ext cx="1874520" cy="548640"/>
          </a:xfrm>
          <a:prstGeom prst="rect">
            <a:avLst/>
          </a:prstGeom>
          <a:noFill/>
          <a:ln/>
        </p:spPr>
        <p:txBody>
          <a:bodyPr wrap="square" lIns="0" tIns="0" rIns="0" bIns="0" rtlCol="0" anchor="ctr"/>
          <a:lstStyle/>
          <a:p>
            <a:pPr marL="0" indent="0">
              <a:buNone/>
            </a:pPr>
            <a:r>
              <a:rPr lang="en-US" sz="1200" dirty="0">
                <a:solidFill>
                  <a:schemeClr val="tx2"/>
                </a:solidFill>
                <a:latin typeface="Montserrat" panose="00000500000000000000" pitchFamily="2" charset="0"/>
              </a:rPr>
              <a:t>weapons at the start:</a:t>
            </a:r>
            <a:endParaRPr lang="en-US" sz="1200" dirty="0">
              <a:latin typeface="Montserrat" panose="00000500000000000000" pitchFamily="2" charset="0"/>
            </a:endParaRPr>
          </a:p>
          <a:p>
            <a:pPr marL="0" indent="0">
              <a:buNone/>
            </a:pPr>
            <a:r>
              <a:rPr lang="en-US" sz="1200" dirty="0">
                <a:solidFill>
                  <a:schemeClr val="tx2"/>
                </a:solidFill>
                <a:latin typeface="Montserrat" panose="00000500000000000000" pitchFamily="2" charset="0"/>
              </a:rPr>
              <a:t>the pistol is at the door</a:t>
            </a:r>
            <a:endParaRPr lang="en-US" sz="1200" dirty="0">
              <a:latin typeface="Montserrat" panose="00000500000000000000" pitchFamily="2" charset="0"/>
            </a:endParaRPr>
          </a:p>
        </p:txBody>
      </p:sp>
      <p:sp>
        <p:nvSpPr>
          <p:cNvPr id="11" name="floor band FINALE"/>
          <p:cNvSpPr/>
          <p:nvPr/>
        </p:nvSpPr>
        <p:spPr>
          <a:xfrm>
            <a:off x="6675120" y="1143000"/>
            <a:ext cx="5056632" cy="1143000"/>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12" name="Text 9"/>
          <p:cNvSpPr txBox="1"/>
          <p:nvPr/>
        </p:nvSpPr>
        <p:spPr>
          <a:xfrm>
            <a:off x="6858000" y="1271016"/>
            <a:ext cx="1280160" cy="274320"/>
          </a:xfrm>
          <a:prstGeom prst="rect">
            <a:avLst/>
          </a:prstGeom>
          <a:noFill/>
          <a:ln/>
        </p:spPr>
        <p:txBody>
          <a:bodyPr wrap="square" lIns="0" tIns="0" rIns="0" bIns="0" rtlCol="0" anchor="ctr"/>
          <a:lstStyle/>
          <a:p>
            <a:pPr marL="0" indent="0">
              <a:buNone/>
            </a:pPr>
            <a:r>
              <a:rPr lang="en-US" sz="1200" b="1" dirty="0">
                <a:solidFill>
                  <a:schemeClr val="accent1"/>
                </a:solidFill>
                <a:latin typeface="Montserrat" panose="00000500000000000000" pitchFamily="2" charset="0"/>
              </a:rPr>
              <a:t>FINALE</a:t>
            </a:r>
            <a:endParaRPr lang="en-US" sz="1200" dirty="0">
              <a:latin typeface="Montserrat" panose="00000500000000000000" pitchFamily="2" charset="0"/>
            </a:endParaRPr>
          </a:p>
        </p:txBody>
      </p:sp>
      <p:sp>
        <p:nvSpPr>
          <p:cNvPr id="13" name="Text 10"/>
          <p:cNvSpPr txBox="1"/>
          <p:nvPr/>
        </p:nvSpPr>
        <p:spPr>
          <a:xfrm>
            <a:off x="7584711" y="1226419"/>
            <a:ext cx="3474720" cy="329184"/>
          </a:xfrm>
          <a:prstGeom prst="rect">
            <a:avLst/>
          </a:prstGeom>
          <a:noFill/>
          <a:ln/>
        </p:spPr>
        <p:txBody>
          <a:bodyPr wrap="square" lIns="0" tIns="0" rIns="0" bIns="0" rtlCol="0" anchor="ctr"/>
          <a:lstStyle/>
          <a:p>
            <a:pPr marL="0" indent="0">
              <a:buNone/>
            </a:pPr>
            <a:r>
              <a:rPr lang="en-US" sz="1800" dirty="0">
                <a:solidFill>
                  <a:schemeClr val="tx1"/>
                </a:solidFill>
                <a:latin typeface="Montserrat" panose="00000500000000000000" pitchFamily="2" charset="0"/>
              </a:rPr>
              <a:t>Helipad</a:t>
            </a:r>
            <a:endParaRPr lang="en-US" sz="1800" dirty="0">
              <a:latin typeface="Montserrat" panose="00000500000000000000" pitchFamily="2" charset="0"/>
            </a:endParaRPr>
          </a:p>
        </p:txBody>
      </p:sp>
      <p:sp>
        <p:nvSpPr>
          <p:cNvPr id="14" name="Text 11"/>
          <p:cNvSpPr txBox="1"/>
          <p:nvPr/>
        </p:nvSpPr>
        <p:spPr>
          <a:xfrm>
            <a:off x="6858000" y="1600200"/>
            <a:ext cx="4754880" cy="274320"/>
          </a:xfrm>
          <a:prstGeom prst="rect">
            <a:avLst/>
          </a:prstGeom>
          <a:noFill/>
          <a:ln/>
        </p:spPr>
        <p:txBody>
          <a:bodyPr wrap="square" lIns="0" tIns="0" rIns="0" bIns="0" rtlCol="0" anchor="ctr"/>
          <a:lstStyle/>
          <a:p>
            <a:pPr marL="0" indent="0">
              <a:buNone/>
            </a:pPr>
            <a:r>
              <a:rPr lang="en-US" sz="1300" dirty="0">
                <a:solidFill>
                  <a:schemeClr val="tx2"/>
                </a:solidFill>
                <a:latin typeface="Montserrat" panose="00000500000000000000" pitchFamily="2" charset="0"/>
              </a:rPr>
              <a:t>Two soldiers, then the boss; the helicopter lands</a:t>
            </a:r>
            <a:endParaRPr lang="en-US" sz="1300" dirty="0">
              <a:latin typeface="Montserrat" panose="00000500000000000000" pitchFamily="2" charset="0"/>
            </a:endParaRPr>
          </a:p>
        </p:txBody>
      </p:sp>
      <p:sp>
        <p:nvSpPr>
          <p:cNvPr id="15" name="pill Climax"/>
          <p:cNvSpPr txBox="1"/>
          <p:nvPr/>
        </p:nvSpPr>
        <p:spPr>
          <a:xfrm>
            <a:off x="6858000" y="1911096"/>
            <a:ext cx="832104"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latin typeface="Montserrat" panose="00000500000000000000" pitchFamily="2" charset="0"/>
              </a:rPr>
              <a:t>CLIMAX</a:t>
            </a:r>
            <a:endParaRPr lang="en-US" sz="1200" dirty="0">
              <a:latin typeface="Montserrat" panose="00000500000000000000" pitchFamily="2" charset="0"/>
            </a:endParaRPr>
          </a:p>
        </p:txBody>
      </p:sp>
      <p:sp>
        <p:nvSpPr>
          <p:cNvPr id="16" name="pill Release"/>
          <p:cNvSpPr txBox="1"/>
          <p:nvPr/>
        </p:nvSpPr>
        <p:spPr>
          <a:xfrm>
            <a:off x="7799832" y="1911096"/>
            <a:ext cx="937260"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RELEASE</a:t>
            </a:r>
            <a:endParaRPr lang="en-US" sz="1200" dirty="0">
              <a:latin typeface="Montserrat" panose="00000500000000000000" pitchFamily="2" charset="0"/>
            </a:endParaRPr>
          </a:p>
        </p:txBody>
      </p:sp>
      <p:sp>
        <p:nvSpPr>
          <p:cNvPr id="17" name="floor band LEVEL 3"/>
          <p:cNvSpPr/>
          <p:nvPr/>
        </p:nvSpPr>
        <p:spPr>
          <a:xfrm>
            <a:off x="6675120" y="2423160"/>
            <a:ext cx="5056632" cy="1143000"/>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18" name="Text 15"/>
          <p:cNvSpPr txBox="1"/>
          <p:nvPr/>
        </p:nvSpPr>
        <p:spPr>
          <a:xfrm>
            <a:off x="6858000" y="2551176"/>
            <a:ext cx="1280160" cy="274320"/>
          </a:xfrm>
          <a:prstGeom prst="rect">
            <a:avLst/>
          </a:prstGeom>
          <a:noFill/>
          <a:ln/>
        </p:spPr>
        <p:txBody>
          <a:bodyPr wrap="square" lIns="0" tIns="0" rIns="0" bIns="0" rtlCol="0" anchor="ctr"/>
          <a:lstStyle/>
          <a:p>
            <a:pPr marL="0" indent="0">
              <a:buNone/>
            </a:pPr>
            <a:r>
              <a:rPr lang="en-US" sz="1200" b="1" dirty="0">
                <a:solidFill>
                  <a:schemeClr val="accent1"/>
                </a:solidFill>
                <a:latin typeface="Montserrat" panose="00000500000000000000" pitchFamily="2" charset="0"/>
              </a:rPr>
              <a:t>LEVEL 3</a:t>
            </a:r>
            <a:endParaRPr lang="en-US" sz="1200" dirty="0">
              <a:latin typeface="Montserrat" panose="00000500000000000000" pitchFamily="2" charset="0"/>
            </a:endParaRPr>
          </a:p>
        </p:txBody>
      </p:sp>
      <p:sp>
        <p:nvSpPr>
          <p:cNvPr id="19" name="Text 16"/>
          <p:cNvSpPr txBox="1"/>
          <p:nvPr/>
        </p:nvSpPr>
        <p:spPr>
          <a:xfrm>
            <a:off x="7600753" y="2506579"/>
            <a:ext cx="3474720" cy="329184"/>
          </a:xfrm>
          <a:prstGeom prst="rect">
            <a:avLst/>
          </a:prstGeom>
          <a:noFill/>
          <a:ln/>
        </p:spPr>
        <p:txBody>
          <a:bodyPr wrap="square" lIns="0" tIns="0" rIns="0" bIns="0" rtlCol="0" anchor="ctr"/>
          <a:lstStyle/>
          <a:p>
            <a:pPr marL="0" indent="0">
              <a:buNone/>
            </a:pPr>
            <a:r>
              <a:rPr lang="en-US" sz="1800" dirty="0">
                <a:solidFill>
                  <a:schemeClr val="tx1"/>
                </a:solidFill>
                <a:latin typeface="Montserrat" panose="00000500000000000000" pitchFamily="2" charset="0"/>
              </a:rPr>
              <a:t>Destroyed floor</a:t>
            </a:r>
            <a:endParaRPr lang="en-US" sz="1800" dirty="0">
              <a:latin typeface="Montserrat" panose="00000500000000000000" pitchFamily="2" charset="0"/>
            </a:endParaRPr>
          </a:p>
        </p:txBody>
      </p:sp>
      <p:sp>
        <p:nvSpPr>
          <p:cNvPr id="20" name="Text 17"/>
          <p:cNvSpPr txBox="1"/>
          <p:nvPr/>
        </p:nvSpPr>
        <p:spPr>
          <a:xfrm>
            <a:off x="6858000" y="2880360"/>
            <a:ext cx="4754880" cy="274320"/>
          </a:xfrm>
          <a:prstGeom prst="rect">
            <a:avLst/>
          </a:prstGeom>
          <a:noFill/>
          <a:ln/>
        </p:spPr>
        <p:txBody>
          <a:bodyPr wrap="square" lIns="0" tIns="0" rIns="0" bIns="0" rtlCol="0" anchor="ctr"/>
          <a:lstStyle/>
          <a:p>
            <a:pPr marL="0" indent="0">
              <a:buNone/>
            </a:pPr>
            <a:r>
              <a:rPr lang="en-US" sz="1300" dirty="0">
                <a:solidFill>
                  <a:schemeClr val="tx2"/>
                </a:solidFill>
                <a:latin typeface="Montserrat" panose="00000500000000000000" pitchFamily="2" charset="0"/>
              </a:rPr>
              <a:t>Robot room, then two patrols outside: a kill-door</a:t>
            </a:r>
            <a:endParaRPr lang="en-US" sz="1300" dirty="0">
              <a:latin typeface="Montserrat" panose="00000500000000000000" pitchFamily="2" charset="0"/>
            </a:endParaRPr>
          </a:p>
        </p:txBody>
      </p:sp>
      <p:sp>
        <p:nvSpPr>
          <p:cNvPr id="21" name="pill Awe"/>
          <p:cNvSpPr txBox="1"/>
          <p:nvPr/>
        </p:nvSpPr>
        <p:spPr>
          <a:xfrm>
            <a:off x="6858000" y="3191256"/>
            <a:ext cx="516636" cy="310896"/>
          </a:xfrm>
          <a:prstGeom prst="roundRect">
            <a:avLst>
              <a:gd name="adj" fmla="val 50000"/>
            </a:avLst>
          </a:prstGeom>
          <a:solidFill>
            <a:schemeClr val="accent4"/>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AWE</a:t>
            </a:r>
            <a:endParaRPr lang="en-US" sz="1200" dirty="0">
              <a:latin typeface="Montserrat" panose="00000500000000000000" pitchFamily="2" charset="0"/>
            </a:endParaRPr>
          </a:p>
        </p:txBody>
      </p:sp>
      <p:sp>
        <p:nvSpPr>
          <p:cNvPr id="22" name="pill Dread"/>
          <p:cNvSpPr txBox="1"/>
          <p:nvPr/>
        </p:nvSpPr>
        <p:spPr>
          <a:xfrm>
            <a:off x="7484364" y="3191256"/>
            <a:ext cx="726948"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latin typeface="Montserrat" panose="00000500000000000000" pitchFamily="2" charset="0"/>
              </a:rPr>
              <a:t>DREAD</a:t>
            </a:r>
            <a:endParaRPr lang="en-US" sz="1200" dirty="0">
              <a:latin typeface="Montserrat" panose="00000500000000000000" pitchFamily="2" charset="0"/>
            </a:endParaRPr>
          </a:p>
        </p:txBody>
      </p:sp>
      <p:sp>
        <p:nvSpPr>
          <p:cNvPr id="23" name="floor band LEVEL 2"/>
          <p:cNvSpPr/>
          <p:nvPr/>
        </p:nvSpPr>
        <p:spPr>
          <a:xfrm>
            <a:off x="6675120" y="3703320"/>
            <a:ext cx="5056632" cy="1143000"/>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24" name="Text 21"/>
          <p:cNvSpPr txBox="1"/>
          <p:nvPr/>
        </p:nvSpPr>
        <p:spPr>
          <a:xfrm>
            <a:off x="6858000" y="3831336"/>
            <a:ext cx="1280160" cy="274320"/>
          </a:xfrm>
          <a:prstGeom prst="rect">
            <a:avLst/>
          </a:prstGeom>
          <a:noFill/>
          <a:ln/>
        </p:spPr>
        <p:txBody>
          <a:bodyPr wrap="square" lIns="0" tIns="0" rIns="0" bIns="0" rtlCol="0" anchor="ctr"/>
          <a:lstStyle/>
          <a:p>
            <a:pPr marL="0" indent="0">
              <a:buNone/>
            </a:pPr>
            <a:r>
              <a:rPr lang="en-US" sz="1200" b="1" dirty="0">
                <a:solidFill>
                  <a:schemeClr val="accent1"/>
                </a:solidFill>
                <a:latin typeface="Montserrat" panose="00000500000000000000" pitchFamily="2" charset="0"/>
              </a:rPr>
              <a:t>LEVEL 2</a:t>
            </a:r>
            <a:endParaRPr lang="en-US" sz="1200" dirty="0">
              <a:latin typeface="Montserrat" panose="00000500000000000000" pitchFamily="2" charset="0"/>
            </a:endParaRPr>
          </a:p>
        </p:txBody>
      </p:sp>
      <p:sp>
        <p:nvSpPr>
          <p:cNvPr id="25" name="Text 22"/>
          <p:cNvSpPr txBox="1"/>
          <p:nvPr/>
        </p:nvSpPr>
        <p:spPr>
          <a:xfrm>
            <a:off x="7616795" y="3762676"/>
            <a:ext cx="3474720" cy="329184"/>
          </a:xfrm>
          <a:prstGeom prst="rect">
            <a:avLst/>
          </a:prstGeom>
          <a:noFill/>
          <a:ln/>
        </p:spPr>
        <p:txBody>
          <a:bodyPr wrap="square" lIns="0" tIns="0" rIns="0" bIns="0" rtlCol="0" anchor="ctr"/>
          <a:lstStyle/>
          <a:p>
            <a:pPr marL="0" indent="0">
              <a:buNone/>
            </a:pPr>
            <a:r>
              <a:rPr lang="en-US" sz="1800" dirty="0">
                <a:solidFill>
                  <a:schemeClr val="tx1"/>
                </a:solidFill>
                <a:latin typeface="Montserrat" panose="00000500000000000000" pitchFamily="2" charset="0"/>
              </a:rPr>
              <a:t>Armory</a:t>
            </a:r>
            <a:endParaRPr lang="en-US" sz="1800" dirty="0">
              <a:latin typeface="Montserrat" panose="00000500000000000000" pitchFamily="2" charset="0"/>
            </a:endParaRPr>
          </a:p>
        </p:txBody>
      </p:sp>
      <p:sp>
        <p:nvSpPr>
          <p:cNvPr id="26" name="Text 23"/>
          <p:cNvSpPr txBox="1"/>
          <p:nvPr/>
        </p:nvSpPr>
        <p:spPr>
          <a:xfrm>
            <a:off x="6858000" y="4160520"/>
            <a:ext cx="4754880" cy="274320"/>
          </a:xfrm>
          <a:prstGeom prst="rect">
            <a:avLst/>
          </a:prstGeom>
          <a:noFill/>
          <a:ln/>
        </p:spPr>
        <p:txBody>
          <a:bodyPr wrap="square" lIns="0" tIns="0" rIns="0" bIns="0" rtlCol="0" anchor="ctr"/>
          <a:lstStyle/>
          <a:p>
            <a:pPr marL="0" indent="0">
              <a:buNone/>
            </a:pPr>
            <a:r>
              <a:rPr lang="en-US" sz="1300" dirty="0">
                <a:solidFill>
                  <a:schemeClr val="tx2"/>
                </a:solidFill>
                <a:latin typeface="Montserrat" panose="00000500000000000000" pitchFamily="2" charset="0"/>
              </a:rPr>
              <a:t>Find the rifle and the key, use the key slot</a:t>
            </a:r>
            <a:endParaRPr lang="en-US" sz="1300" dirty="0">
              <a:latin typeface="Montserrat" panose="00000500000000000000" pitchFamily="2" charset="0"/>
            </a:endParaRPr>
          </a:p>
        </p:txBody>
      </p:sp>
      <p:sp>
        <p:nvSpPr>
          <p:cNvPr id="27" name="pill Pressure"/>
          <p:cNvSpPr txBox="1"/>
          <p:nvPr/>
        </p:nvSpPr>
        <p:spPr>
          <a:xfrm>
            <a:off x="6858000" y="4471416"/>
            <a:ext cx="1042416"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latin typeface="Montserrat" panose="00000500000000000000" pitchFamily="2" charset="0"/>
              </a:rPr>
              <a:t>PRESSURE</a:t>
            </a:r>
            <a:endParaRPr lang="en-US" sz="1200" dirty="0">
              <a:latin typeface="Montserrat" panose="00000500000000000000" pitchFamily="2" charset="0"/>
            </a:endParaRPr>
          </a:p>
        </p:txBody>
      </p:sp>
      <p:sp>
        <p:nvSpPr>
          <p:cNvPr id="28" name="pill Relief"/>
          <p:cNvSpPr txBox="1"/>
          <p:nvPr/>
        </p:nvSpPr>
        <p:spPr>
          <a:xfrm>
            <a:off x="8010144" y="4471416"/>
            <a:ext cx="832104"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RELIEF</a:t>
            </a:r>
            <a:endParaRPr lang="en-US" sz="1200" dirty="0">
              <a:latin typeface="Montserrat" panose="00000500000000000000" pitchFamily="2" charset="0"/>
            </a:endParaRPr>
          </a:p>
        </p:txBody>
      </p:sp>
      <p:sp>
        <p:nvSpPr>
          <p:cNvPr id="29" name="floor band LEVEL 1"/>
          <p:cNvSpPr/>
          <p:nvPr/>
        </p:nvSpPr>
        <p:spPr>
          <a:xfrm>
            <a:off x="6675120" y="4983480"/>
            <a:ext cx="5056632" cy="1143000"/>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30" name="Text 27"/>
          <p:cNvSpPr txBox="1"/>
          <p:nvPr/>
        </p:nvSpPr>
        <p:spPr>
          <a:xfrm>
            <a:off x="6858000" y="5111496"/>
            <a:ext cx="1280160" cy="274320"/>
          </a:xfrm>
          <a:prstGeom prst="rect">
            <a:avLst/>
          </a:prstGeom>
          <a:noFill/>
          <a:ln/>
        </p:spPr>
        <p:txBody>
          <a:bodyPr wrap="square" lIns="0" tIns="0" rIns="0" bIns="0" rtlCol="0" anchor="ctr"/>
          <a:lstStyle/>
          <a:p>
            <a:pPr marL="0" indent="0">
              <a:buNone/>
            </a:pPr>
            <a:r>
              <a:rPr lang="en-US" sz="1200" b="1" dirty="0">
                <a:solidFill>
                  <a:schemeClr val="accent1"/>
                </a:solidFill>
                <a:latin typeface="Montserrat" panose="00000500000000000000" pitchFamily="2" charset="0"/>
              </a:rPr>
              <a:t>LEVEL 1</a:t>
            </a:r>
            <a:endParaRPr lang="en-US" sz="1200" dirty="0">
              <a:latin typeface="Montserrat" panose="00000500000000000000" pitchFamily="2" charset="0"/>
            </a:endParaRPr>
          </a:p>
        </p:txBody>
      </p:sp>
      <p:sp>
        <p:nvSpPr>
          <p:cNvPr id="31" name="Text 28"/>
          <p:cNvSpPr txBox="1"/>
          <p:nvPr/>
        </p:nvSpPr>
        <p:spPr>
          <a:xfrm>
            <a:off x="7587996" y="5056632"/>
            <a:ext cx="3474720" cy="329184"/>
          </a:xfrm>
          <a:prstGeom prst="rect">
            <a:avLst/>
          </a:prstGeom>
          <a:noFill/>
          <a:ln/>
        </p:spPr>
        <p:txBody>
          <a:bodyPr wrap="square" lIns="0" tIns="0" rIns="0" bIns="0" rtlCol="0" anchor="ctr"/>
          <a:lstStyle/>
          <a:p>
            <a:pPr marL="0" indent="0">
              <a:buNone/>
            </a:pPr>
            <a:r>
              <a:rPr lang="en-US" sz="1800" dirty="0">
                <a:solidFill>
                  <a:schemeClr val="tx1"/>
                </a:solidFill>
                <a:latin typeface="Montserrat" panose="00000500000000000000" pitchFamily="2" charset="0"/>
              </a:rPr>
              <a:t>Ground floor</a:t>
            </a:r>
            <a:endParaRPr lang="en-US" sz="1800" dirty="0">
              <a:latin typeface="Montserrat" panose="00000500000000000000" pitchFamily="2" charset="0"/>
            </a:endParaRPr>
          </a:p>
        </p:txBody>
      </p:sp>
      <p:sp>
        <p:nvSpPr>
          <p:cNvPr id="32" name="Text 29"/>
          <p:cNvSpPr txBox="1"/>
          <p:nvPr/>
        </p:nvSpPr>
        <p:spPr>
          <a:xfrm>
            <a:off x="6858000" y="5440680"/>
            <a:ext cx="4754880" cy="274320"/>
          </a:xfrm>
          <a:prstGeom prst="rect">
            <a:avLst/>
          </a:prstGeom>
          <a:noFill/>
          <a:ln/>
        </p:spPr>
        <p:txBody>
          <a:bodyPr wrap="square" lIns="0" tIns="0" rIns="0" bIns="0" rtlCol="0" anchor="ctr"/>
          <a:lstStyle/>
          <a:p>
            <a:pPr marL="0" indent="0">
              <a:buNone/>
            </a:pPr>
            <a:r>
              <a:rPr lang="en-US" sz="1300" dirty="0">
                <a:solidFill>
                  <a:schemeClr val="tx2"/>
                </a:solidFill>
                <a:latin typeface="Montserrat" panose="00000500000000000000" pitchFamily="2" charset="0"/>
              </a:rPr>
              <a:t>A trap locks you in: clear the floor to get out</a:t>
            </a:r>
            <a:endParaRPr lang="en-US" sz="1300" dirty="0">
              <a:latin typeface="Montserrat" panose="00000500000000000000" pitchFamily="2" charset="0"/>
            </a:endParaRPr>
          </a:p>
        </p:txBody>
      </p:sp>
      <p:sp>
        <p:nvSpPr>
          <p:cNvPr id="33" name="pill Shock"/>
          <p:cNvSpPr txBox="1"/>
          <p:nvPr/>
        </p:nvSpPr>
        <p:spPr>
          <a:xfrm>
            <a:off x="6858000" y="5751576"/>
            <a:ext cx="726948"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latin typeface="Montserrat" panose="00000500000000000000" pitchFamily="2" charset="0"/>
              </a:rPr>
              <a:t>SHOCK</a:t>
            </a:r>
            <a:endParaRPr lang="en-US" sz="1200" dirty="0">
              <a:latin typeface="Montserrat" panose="00000500000000000000" pitchFamily="2" charset="0"/>
            </a:endParaRPr>
          </a:p>
        </p:txBody>
      </p:sp>
      <p:sp>
        <p:nvSpPr>
          <p:cNvPr id="34" name="pill Control"/>
          <p:cNvSpPr txBox="1"/>
          <p:nvPr/>
        </p:nvSpPr>
        <p:spPr>
          <a:xfrm>
            <a:off x="7694676" y="5751576"/>
            <a:ext cx="937260" cy="310896"/>
          </a:xfrm>
          <a:prstGeom prst="roundRect">
            <a:avLst>
              <a:gd name="adj" fmla="val 50000"/>
            </a:avLst>
          </a:prstGeom>
          <a:solidFill>
            <a:schemeClr val="accent1"/>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CONTROL</a:t>
            </a:r>
            <a:endParaRPr lang="en-US" sz="1200" dirty="0">
              <a:latin typeface="Montserrat" panose="00000500000000000000" pitchFamily="2" charset="0"/>
            </a:endParaRPr>
          </a:p>
        </p:txBody>
      </p:sp>
      <p:sp>
        <p:nvSpPr>
          <p:cNvPr id="3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F9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Bubble diagram">
    <p:spTree>
      <p:nvGrpSpPr>
        <p:cNvPr id="1" name=""/>
        <p:cNvGrpSpPr/>
        <p:nvPr/>
      </p:nvGrpSpPr>
      <p:grpSpPr>
        <a:xfrm>
          <a:off x="0" y="0"/>
          <a:ext cx="0" cy="0"/>
          <a:chOff x="0" y="0"/>
          <a:chExt cx="0" cy="0"/>
        </a:xfrm>
      </p:grpSpPr>
      <p:sp>
        <p:nvSpPr>
          <p:cNvPr id="19" name="panel FINALE">
            <a:extLst>
              <a:ext uri="{FF2B5EF4-FFF2-40B4-BE49-F238E27FC236}">
                <a16:creationId xmlns:a16="http://schemas.microsoft.com/office/drawing/2014/main" id="{7F85BCBE-0826-5790-3B99-18CC8E006374}"/>
              </a:ext>
            </a:extLst>
          </p:cNvPr>
          <p:cNvSpPr/>
          <p:nvPr/>
        </p:nvSpPr>
        <p:spPr>
          <a:xfrm>
            <a:off x="10241280" y="1097280"/>
            <a:ext cx="1490472" cy="4343400"/>
          </a:xfrm>
          <a:prstGeom prst="rect">
            <a:avLst/>
          </a:prstGeom>
          <a:solidFill>
            <a:schemeClr val="lt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dk1"/>
          </a:fontRef>
        </p:style>
        <p:txBody>
          <a:bodyPr rtlCol="0" anchor="ctr"/>
          <a:lstStyle/>
          <a:p>
            <a:pPr algn="ctr"/>
            <a:endParaRPr lang="en-CH" dirty="0">
              <a:latin typeface="Montserrat" panose="00000500000000000000" pitchFamily="2" charset="0"/>
            </a:endParaRPr>
          </a:p>
        </p:txBody>
      </p:sp>
      <p:sp>
        <p:nvSpPr>
          <p:cNvPr id="17" name="panel LEVEL 3">
            <a:extLst>
              <a:ext uri="{FF2B5EF4-FFF2-40B4-BE49-F238E27FC236}">
                <a16:creationId xmlns:a16="http://schemas.microsoft.com/office/drawing/2014/main" id="{08E09871-BB4A-1319-DC55-02F6ACAC1A74}"/>
              </a:ext>
            </a:extLst>
          </p:cNvPr>
          <p:cNvSpPr/>
          <p:nvPr/>
        </p:nvSpPr>
        <p:spPr>
          <a:xfrm>
            <a:off x="6766560" y="1097280"/>
            <a:ext cx="3291840" cy="4343400"/>
          </a:xfrm>
          <a:prstGeom prst="rect">
            <a:avLst/>
          </a:prstGeom>
          <a:solidFill>
            <a:schemeClr val="lt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dk1"/>
          </a:fontRef>
        </p:style>
        <p:txBody>
          <a:bodyPr rtlCol="0" anchor="ctr"/>
          <a:lstStyle/>
          <a:p>
            <a:pPr algn="ctr"/>
            <a:endParaRPr lang="en-CH" dirty="0">
              <a:latin typeface="Montserrat" panose="00000500000000000000" pitchFamily="2" charset="0"/>
            </a:endParaRPr>
          </a:p>
        </p:txBody>
      </p:sp>
      <p:sp>
        <p:nvSpPr>
          <p:cNvPr id="15" name="panel LEVEL 2">
            <a:extLst>
              <a:ext uri="{FF2B5EF4-FFF2-40B4-BE49-F238E27FC236}">
                <a16:creationId xmlns:a16="http://schemas.microsoft.com/office/drawing/2014/main" id="{A9F938BF-4A32-973E-8DFA-481E1ACE58BA}"/>
              </a:ext>
            </a:extLst>
          </p:cNvPr>
          <p:cNvSpPr/>
          <p:nvPr/>
        </p:nvSpPr>
        <p:spPr>
          <a:xfrm>
            <a:off x="4206240" y="1097280"/>
            <a:ext cx="2377440" cy="4343400"/>
          </a:xfrm>
          <a:prstGeom prst="rect">
            <a:avLst/>
          </a:prstGeom>
          <a:solidFill>
            <a:schemeClr val="lt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dk1"/>
          </a:fontRef>
        </p:style>
        <p:txBody>
          <a:bodyPr rtlCol="0" anchor="ctr"/>
          <a:lstStyle/>
          <a:p>
            <a:pPr algn="ctr"/>
            <a:endParaRPr lang="en-CH" dirty="0">
              <a:latin typeface="Montserrat" panose="00000500000000000000" pitchFamily="2" charset="0"/>
            </a:endParaRPr>
          </a:p>
        </p:txBody>
      </p:sp>
      <p:sp>
        <p:nvSpPr>
          <p:cNvPr id="13" name="panel LEVEL 1">
            <a:extLst>
              <a:ext uri="{FF2B5EF4-FFF2-40B4-BE49-F238E27FC236}">
                <a16:creationId xmlns:a16="http://schemas.microsoft.com/office/drawing/2014/main" id="{503F1918-BA6B-E7C3-76A0-4B1F6E816700}"/>
              </a:ext>
            </a:extLst>
          </p:cNvPr>
          <p:cNvSpPr/>
          <p:nvPr/>
        </p:nvSpPr>
        <p:spPr>
          <a:xfrm>
            <a:off x="457200" y="1097280"/>
            <a:ext cx="3566160" cy="4343400"/>
          </a:xfrm>
          <a:prstGeom prst="rect">
            <a:avLst/>
          </a:prstGeom>
          <a:solidFill>
            <a:schemeClr val="lt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dk1"/>
          </a:fontRef>
        </p:style>
        <p:txBody>
          <a:bodyPr rtlCol="0" anchor="ctr"/>
          <a:lstStyle/>
          <a:p>
            <a:pPr algn="ctr"/>
            <a:endParaRPr lang="en-CH" dirty="0">
              <a:latin typeface="Montserrat" panose="00000500000000000000" pitchFamily="2" charset="0"/>
            </a:endParaRPr>
          </a:p>
        </p:txBody>
      </p:sp>
      <p:cxnSp>
        <p:nvCxnSpPr>
          <p:cNvPr id="79" name="link pad to heli">
            <a:extLst>
              <a:ext uri="{FF2B5EF4-FFF2-40B4-BE49-F238E27FC236}">
                <a16:creationId xmlns:a16="http://schemas.microsoft.com/office/drawing/2014/main" id="{412FEA04-4755-FC1A-1E05-C61CA78B524B}"/>
              </a:ext>
            </a:extLst>
          </p:cNvPr>
          <p:cNvCxnSpPr/>
          <p:nvPr/>
        </p:nvCxnSpPr>
        <p:spPr>
          <a:xfrm>
            <a:off x="10986516" y="3616452"/>
            <a:ext cx="0" cy="438912"/>
          </a:xfrm>
          <a:prstGeom prst="line">
            <a:avLst/>
          </a:prstGeom>
          <a:ln w="28575">
            <a:solidFill>
              <a:schemeClr val="accent2"/>
            </a:solidFill>
            <a:prstDash val="dash"/>
            <a:tailEnd type="triangle" w="med" len="sm"/>
          </a:ln>
        </p:spPr>
        <p:style>
          <a:lnRef idx="1">
            <a:schemeClr val="accent1"/>
          </a:lnRef>
          <a:fillRef idx="0">
            <a:schemeClr val="accent1"/>
          </a:fillRef>
          <a:effectRef idx="0">
            <a:schemeClr val="accent1"/>
          </a:effectRef>
          <a:fontRef idx="minor">
            <a:schemeClr val="bg1"/>
          </a:fontRef>
        </p:style>
      </p:cxnSp>
      <p:cxnSp>
        <p:nvCxnSpPr>
          <p:cNvPr id="78" name="link e4 to pad">
            <a:extLst>
              <a:ext uri="{FF2B5EF4-FFF2-40B4-BE49-F238E27FC236}">
                <a16:creationId xmlns:a16="http://schemas.microsoft.com/office/drawing/2014/main" id="{B5AB6F3D-23F7-428A-A0D2-D13446FA050C}"/>
              </a:ext>
            </a:extLst>
          </p:cNvPr>
          <p:cNvCxnSpPr/>
          <p:nvPr/>
        </p:nvCxnSpPr>
        <p:spPr>
          <a:xfrm>
            <a:off x="10986516" y="1938528"/>
            <a:ext cx="0" cy="562356"/>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70" name="link se to exit3">
            <a:extLst>
              <a:ext uri="{FF2B5EF4-FFF2-40B4-BE49-F238E27FC236}">
                <a16:creationId xmlns:a16="http://schemas.microsoft.com/office/drawing/2014/main" id="{6572703A-1099-8AF7-2A10-D2D5E3A16695}"/>
              </a:ext>
            </a:extLst>
          </p:cNvPr>
          <p:cNvCxnSpPr/>
          <p:nvPr/>
        </p:nvCxnSpPr>
        <p:spPr>
          <a:xfrm flipV="1">
            <a:off x="9418320" y="2939796"/>
            <a:ext cx="0" cy="438912"/>
          </a:xfrm>
          <a:prstGeom prst="line">
            <a:avLst/>
          </a:prstGeom>
          <a:ln w="28575">
            <a:solidFill>
              <a:schemeClr val="accent2"/>
            </a:solidFill>
            <a:prstDash val="dash"/>
            <a:tailEnd type="triangle" w="med" len="sm"/>
          </a:ln>
        </p:spPr>
        <p:style>
          <a:lnRef idx="1">
            <a:schemeClr val="accent1"/>
          </a:lnRef>
          <a:fillRef idx="0">
            <a:schemeClr val="accent1"/>
          </a:fillRef>
          <a:effectRef idx="0">
            <a:schemeClr val="accent1"/>
          </a:effectRef>
          <a:fontRef idx="minor">
            <a:schemeClr val="bg1"/>
          </a:fontRef>
        </p:style>
      </p:cxnSp>
      <p:cxnSp>
        <p:nvCxnSpPr>
          <p:cNvPr id="69" name="link des to se">
            <a:extLst>
              <a:ext uri="{FF2B5EF4-FFF2-40B4-BE49-F238E27FC236}">
                <a16:creationId xmlns:a16="http://schemas.microsoft.com/office/drawing/2014/main" id="{431ED930-3E61-3E08-DBA3-ABF1F5F5504E}"/>
              </a:ext>
            </a:extLst>
          </p:cNvPr>
          <p:cNvCxnSpPr/>
          <p:nvPr/>
        </p:nvCxnSpPr>
        <p:spPr>
          <a:xfrm flipV="1">
            <a:off x="8679406" y="4028308"/>
            <a:ext cx="481988" cy="523900"/>
          </a:xfrm>
          <a:prstGeom prst="line">
            <a:avLst/>
          </a:prstGeom>
          <a:ln w="28575">
            <a:solidFill>
              <a:schemeClr val="accent2"/>
            </a:solidFill>
            <a:prstDash val="dash"/>
            <a:tailEnd type="triangle" w="med" len="sm"/>
          </a:ln>
        </p:spPr>
        <p:style>
          <a:lnRef idx="1">
            <a:schemeClr val="accent1"/>
          </a:lnRef>
          <a:fillRef idx="0">
            <a:schemeClr val="accent1"/>
          </a:fillRef>
          <a:effectRef idx="0">
            <a:schemeClr val="accent1"/>
          </a:effectRef>
          <a:fontRef idx="minor">
            <a:schemeClr val="bg1"/>
          </a:fontRef>
        </p:style>
      </p:cxnSp>
      <p:cxnSp>
        <p:nvCxnSpPr>
          <p:cNvPr id="68" name="link des to slab">
            <a:extLst>
              <a:ext uri="{FF2B5EF4-FFF2-40B4-BE49-F238E27FC236}">
                <a16:creationId xmlns:a16="http://schemas.microsoft.com/office/drawing/2014/main" id="{2E7A859E-FBD1-972E-FA73-C5145889221C}"/>
              </a:ext>
            </a:extLst>
          </p:cNvPr>
          <p:cNvCxnSpPr/>
          <p:nvPr/>
        </p:nvCxnSpPr>
        <p:spPr>
          <a:xfrm>
            <a:off x="8828132" y="4911264"/>
            <a:ext cx="233921" cy="9746"/>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67" name="link rob to des">
            <a:extLst>
              <a:ext uri="{FF2B5EF4-FFF2-40B4-BE49-F238E27FC236}">
                <a16:creationId xmlns:a16="http://schemas.microsoft.com/office/drawing/2014/main" id="{81959389-273D-C92A-983D-F3CC38A17772}"/>
              </a:ext>
            </a:extLst>
          </p:cNvPr>
          <p:cNvCxnSpPr/>
          <p:nvPr/>
        </p:nvCxnSpPr>
        <p:spPr>
          <a:xfrm>
            <a:off x="7730476" y="4703312"/>
            <a:ext cx="184809" cy="54816"/>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66" name="link hall3 to rob">
            <a:extLst>
              <a:ext uri="{FF2B5EF4-FFF2-40B4-BE49-F238E27FC236}">
                <a16:creationId xmlns:a16="http://schemas.microsoft.com/office/drawing/2014/main" id="{D7461692-4DBE-CD03-B423-145472AEF74E}"/>
              </a:ext>
            </a:extLst>
          </p:cNvPr>
          <p:cNvCxnSpPr/>
          <p:nvPr/>
        </p:nvCxnSpPr>
        <p:spPr>
          <a:xfrm flipH="1">
            <a:off x="7521808" y="3907355"/>
            <a:ext cx="146620" cy="256004"/>
          </a:xfrm>
          <a:prstGeom prst="line">
            <a:avLst/>
          </a:prstGeom>
          <a:ln w="28575">
            <a:solidFill>
              <a:schemeClr val="accent2"/>
            </a:solidFill>
            <a:prstDash val="dash"/>
            <a:tailEnd type="triangle" w="med" len="sm"/>
          </a:ln>
        </p:spPr>
        <p:style>
          <a:lnRef idx="1">
            <a:schemeClr val="accent1"/>
          </a:lnRef>
          <a:fillRef idx="0">
            <a:schemeClr val="accent1"/>
          </a:fillRef>
          <a:effectRef idx="0">
            <a:schemeClr val="accent1"/>
          </a:effectRef>
          <a:fontRef idx="minor">
            <a:schemeClr val="bg1"/>
          </a:fontRef>
        </p:style>
      </p:cxnSp>
      <p:cxnSp>
        <p:nvCxnSpPr>
          <p:cNvPr id="65" name="link com to hall3">
            <a:extLst>
              <a:ext uri="{FF2B5EF4-FFF2-40B4-BE49-F238E27FC236}">
                <a16:creationId xmlns:a16="http://schemas.microsoft.com/office/drawing/2014/main" id="{9ED34AC9-3790-6F62-F132-BE06D3E07646}"/>
              </a:ext>
            </a:extLst>
          </p:cNvPr>
          <p:cNvCxnSpPr/>
          <p:nvPr/>
        </p:nvCxnSpPr>
        <p:spPr>
          <a:xfrm flipH="1">
            <a:off x="8016177" y="2924238"/>
            <a:ext cx="110267" cy="269541"/>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64" name="link bar to hall3">
            <a:extLst>
              <a:ext uri="{FF2B5EF4-FFF2-40B4-BE49-F238E27FC236}">
                <a16:creationId xmlns:a16="http://schemas.microsoft.com/office/drawing/2014/main" id="{12DB3533-6ECC-4D75-0C48-7D8FF3E9A139}"/>
              </a:ext>
            </a:extLst>
          </p:cNvPr>
          <p:cNvCxnSpPr/>
          <p:nvPr/>
        </p:nvCxnSpPr>
        <p:spPr>
          <a:xfrm>
            <a:off x="7491509" y="3021984"/>
            <a:ext cx="145138" cy="212125"/>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63" name="link e3 to com">
            <a:extLst>
              <a:ext uri="{FF2B5EF4-FFF2-40B4-BE49-F238E27FC236}">
                <a16:creationId xmlns:a16="http://schemas.microsoft.com/office/drawing/2014/main" id="{C4A09237-C7DD-15CB-BB8C-52309437068E}"/>
              </a:ext>
            </a:extLst>
          </p:cNvPr>
          <p:cNvCxnSpPr/>
          <p:nvPr/>
        </p:nvCxnSpPr>
        <p:spPr>
          <a:xfrm>
            <a:off x="7816324" y="1910076"/>
            <a:ext cx="226976" cy="321548"/>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62" name="link e3 to bar">
            <a:extLst>
              <a:ext uri="{FF2B5EF4-FFF2-40B4-BE49-F238E27FC236}">
                <a16:creationId xmlns:a16="http://schemas.microsoft.com/office/drawing/2014/main" id="{7CBBD059-594C-91ED-551E-3AEAA240E5FA}"/>
              </a:ext>
            </a:extLst>
          </p:cNvPr>
          <p:cNvCxnSpPr/>
          <p:nvPr/>
        </p:nvCxnSpPr>
        <p:spPr>
          <a:xfrm flipH="1">
            <a:off x="7449410" y="1922117"/>
            <a:ext cx="207751" cy="415503"/>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49" name="link hall2 to st2">
            <a:extLst>
              <a:ext uri="{FF2B5EF4-FFF2-40B4-BE49-F238E27FC236}">
                <a16:creationId xmlns:a16="http://schemas.microsoft.com/office/drawing/2014/main" id="{FF76E95A-F07A-3919-CD28-96CC0298BC9C}"/>
              </a:ext>
            </a:extLst>
          </p:cNvPr>
          <p:cNvCxnSpPr/>
          <p:nvPr/>
        </p:nvCxnSpPr>
        <p:spPr>
          <a:xfrm flipV="1">
            <a:off x="5394960" y="2208276"/>
            <a:ext cx="0" cy="1216152"/>
          </a:xfrm>
          <a:prstGeom prst="line">
            <a:avLst/>
          </a:prstGeom>
          <a:ln w="28575">
            <a:solidFill>
              <a:schemeClr val="accent2"/>
            </a:solidFill>
            <a:prstDash val="dash"/>
            <a:tailEnd type="triangle" w="med" len="sm"/>
          </a:ln>
        </p:spPr>
        <p:style>
          <a:lnRef idx="1">
            <a:schemeClr val="accent1"/>
          </a:lnRef>
          <a:fillRef idx="0">
            <a:schemeClr val="accent1"/>
          </a:fillRef>
          <a:effectRef idx="0">
            <a:schemeClr val="accent1"/>
          </a:effectRef>
          <a:fontRef idx="minor">
            <a:schemeClr val="bg1"/>
          </a:fontRef>
        </p:style>
      </p:cxnSp>
      <p:cxnSp>
        <p:nvCxnSpPr>
          <p:cNvPr id="48" name="link hall2 to off">
            <a:extLst>
              <a:ext uri="{FF2B5EF4-FFF2-40B4-BE49-F238E27FC236}">
                <a16:creationId xmlns:a16="http://schemas.microsoft.com/office/drawing/2014/main" id="{39486DB4-FB45-3EAE-4609-6A4850CA0109}"/>
              </a:ext>
            </a:extLst>
          </p:cNvPr>
          <p:cNvCxnSpPr/>
          <p:nvPr/>
        </p:nvCxnSpPr>
        <p:spPr>
          <a:xfrm flipV="1">
            <a:off x="5697851" y="3064296"/>
            <a:ext cx="259319" cy="442367"/>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47" name="link hall2 to arm">
            <a:extLst>
              <a:ext uri="{FF2B5EF4-FFF2-40B4-BE49-F238E27FC236}">
                <a16:creationId xmlns:a16="http://schemas.microsoft.com/office/drawing/2014/main" id="{D66BCDC5-DFBB-8777-D0EF-812EB6D113AC}"/>
              </a:ext>
            </a:extLst>
          </p:cNvPr>
          <p:cNvCxnSpPr/>
          <p:nvPr/>
        </p:nvCxnSpPr>
        <p:spPr>
          <a:xfrm flipH="1" flipV="1">
            <a:off x="4832750" y="3064296"/>
            <a:ext cx="259318" cy="442367"/>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46" name="link e2 to hall2">
            <a:extLst>
              <a:ext uri="{FF2B5EF4-FFF2-40B4-BE49-F238E27FC236}">
                <a16:creationId xmlns:a16="http://schemas.microsoft.com/office/drawing/2014/main" id="{0425C2DE-7791-2753-88A2-4ADE9A79BC25}"/>
              </a:ext>
            </a:extLst>
          </p:cNvPr>
          <p:cNvCxnSpPr/>
          <p:nvPr/>
        </p:nvCxnSpPr>
        <p:spPr>
          <a:xfrm flipV="1">
            <a:off x="5394960" y="4631436"/>
            <a:ext cx="0" cy="333756"/>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37" name="link ent to st1">
            <a:extLst>
              <a:ext uri="{FF2B5EF4-FFF2-40B4-BE49-F238E27FC236}">
                <a16:creationId xmlns:a16="http://schemas.microsoft.com/office/drawing/2014/main" id="{CBF16E16-9A97-41FF-0763-B2D87AD7FCA6}"/>
              </a:ext>
            </a:extLst>
          </p:cNvPr>
          <p:cNvCxnSpPr/>
          <p:nvPr/>
        </p:nvCxnSpPr>
        <p:spPr>
          <a:xfrm flipV="1">
            <a:off x="2240280" y="3648456"/>
            <a:ext cx="0" cy="438912"/>
          </a:xfrm>
          <a:prstGeom prst="line">
            <a:avLst/>
          </a:prstGeom>
          <a:ln w="28575">
            <a:solidFill>
              <a:schemeClr val="accent2"/>
            </a:solidFill>
            <a:prstDash val="dash"/>
            <a:tailEnd type="triangle" w="med" len="sm"/>
          </a:ln>
        </p:spPr>
        <p:style>
          <a:lnRef idx="1">
            <a:schemeClr val="accent1"/>
          </a:lnRef>
          <a:fillRef idx="0">
            <a:schemeClr val="accent1"/>
          </a:fillRef>
          <a:effectRef idx="0">
            <a:schemeClr val="accent1"/>
          </a:effectRef>
          <a:fontRef idx="minor">
            <a:schemeClr val="bg1"/>
          </a:fontRef>
        </p:style>
      </p:cxnSp>
      <p:cxnSp>
        <p:nvCxnSpPr>
          <p:cNvPr id="36" name="link th to ent">
            <a:extLst>
              <a:ext uri="{FF2B5EF4-FFF2-40B4-BE49-F238E27FC236}">
                <a16:creationId xmlns:a16="http://schemas.microsoft.com/office/drawing/2014/main" id="{87312879-B597-EE14-B527-856829027FC5}"/>
              </a:ext>
            </a:extLst>
          </p:cNvPr>
          <p:cNvCxnSpPr/>
          <p:nvPr/>
        </p:nvCxnSpPr>
        <p:spPr>
          <a:xfrm>
            <a:off x="1335307" y="3318961"/>
            <a:ext cx="615872" cy="852745"/>
          </a:xfrm>
          <a:prstGeom prst="line">
            <a:avLst/>
          </a:prstGeom>
          <a:ln w="28575">
            <a:solidFill>
              <a:schemeClr val="accent2"/>
            </a:solidFill>
            <a:prstDash val="dash"/>
            <a:tailEnd type="triangle" w="med" len="sm"/>
          </a:ln>
        </p:spPr>
        <p:style>
          <a:lnRef idx="1">
            <a:schemeClr val="accent1"/>
          </a:lnRef>
          <a:fillRef idx="0">
            <a:schemeClr val="accent1"/>
          </a:fillRef>
          <a:effectRef idx="0">
            <a:schemeClr val="accent1"/>
          </a:effectRef>
          <a:fontRef idx="minor">
            <a:schemeClr val="bg1"/>
          </a:fontRef>
        </p:style>
      </p:cxnSp>
      <p:cxnSp>
        <p:nvCxnSpPr>
          <p:cNvPr id="35" name="link ww to th">
            <a:extLst>
              <a:ext uri="{FF2B5EF4-FFF2-40B4-BE49-F238E27FC236}">
                <a16:creationId xmlns:a16="http://schemas.microsoft.com/office/drawing/2014/main" id="{3947D0B1-C397-B863-5165-4909F929781A}"/>
              </a:ext>
            </a:extLst>
          </p:cNvPr>
          <p:cNvCxnSpPr/>
          <p:nvPr/>
        </p:nvCxnSpPr>
        <p:spPr>
          <a:xfrm flipH="1">
            <a:off x="1432242" y="2336935"/>
            <a:ext cx="332494" cy="274668"/>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34" name="link rc to ww">
            <a:extLst>
              <a:ext uri="{FF2B5EF4-FFF2-40B4-BE49-F238E27FC236}">
                <a16:creationId xmlns:a16="http://schemas.microsoft.com/office/drawing/2014/main" id="{56CE3962-53BF-B238-672C-CD1B417BDAEF}"/>
              </a:ext>
            </a:extLst>
          </p:cNvPr>
          <p:cNvCxnSpPr/>
          <p:nvPr/>
        </p:nvCxnSpPr>
        <p:spPr>
          <a:xfrm flipH="1" flipV="1">
            <a:off x="2549749" y="2093130"/>
            <a:ext cx="327218" cy="26178"/>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33" name="link rb to rc">
            <a:extLst>
              <a:ext uri="{FF2B5EF4-FFF2-40B4-BE49-F238E27FC236}">
                <a16:creationId xmlns:a16="http://schemas.microsoft.com/office/drawing/2014/main" id="{9E8E4BC8-1D66-4BEF-D033-419BB8491537}"/>
              </a:ext>
            </a:extLst>
          </p:cNvPr>
          <p:cNvCxnSpPr/>
          <p:nvPr/>
        </p:nvCxnSpPr>
        <p:spPr>
          <a:xfrm flipH="1" flipV="1">
            <a:off x="3317125" y="2521614"/>
            <a:ext cx="42582" cy="223555"/>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32" name="link ra to rb">
            <a:extLst>
              <a:ext uri="{FF2B5EF4-FFF2-40B4-BE49-F238E27FC236}">
                <a16:creationId xmlns:a16="http://schemas.microsoft.com/office/drawing/2014/main" id="{7576F99F-5299-8304-CB2C-62510490D855}"/>
              </a:ext>
            </a:extLst>
          </p:cNvPr>
          <p:cNvCxnSpPr/>
          <p:nvPr/>
        </p:nvCxnSpPr>
        <p:spPr>
          <a:xfrm flipV="1">
            <a:off x="3348054" y="3484956"/>
            <a:ext cx="29674" cy="217607"/>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31" name="link ent to ra">
            <a:extLst>
              <a:ext uri="{FF2B5EF4-FFF2-40B4-BE49-F238E27FC236}">
                <a16:creationId xmlns:a16="http://schemas.microsoft.com/office/drawing/2014/main" id="{0F93321E-3DE6-1DD0-9474-0D7BBA1B9BD2}"/>
              </a:ext>
            </a:extLst>
          </p:cNvPr>
          <p:cNvCxnSpPr/>
          <p:nvPr/>
        </p:nvCxnSpPr>
        <p:spPr>
          <a:xfrm flipV="1">
            <a:off x="2684721" y="4284337"/>
            <a:ext cx="217184" cy="94428"/>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cxnSp>
        <p:nvCxnSpPr>
          <p:cNvPr id="30" name="link out to ent">
            <a:extLst>
              <a:ext uri="{FF2B5EF4-FFF2-40B4-BE49-F238E27FC236}">
                <a16:creationId xmlns:a16="http://schemas.microsoft.com/office/drawing/2014/main" id="{C4211F47-0210-DDCF-39E2-BBF0B58E8992}"/>
              </a:ext>
            </a:extLst>
          </p:cNvPr>
          <p:cNvCxnSpPr/>
          <p:nvPr/>
        </p:nvCxnSpPr>
        <p:spPr>
          <a:xfrm flipV="1">
            <a:off x="1524452" y="4691758"/>
            <a:ext cx="236795" cy="59199"/>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sp>
        <p:nvSpPr>
          <p:cNvPr id="2" name="Text 0"/>
          <p:cNvSpPr>
            <a:spLocks noGrp="1"/>
          </p:cNvSpPr>
          <p:nvPr>
            <p:ph type="title" idx="100" hasCustomPrompt="1"/>
          </p:nvPr>
        </p:nvSpPr>
        <p:spPr>
          <a:xfrm>
            <a:off x="457200" y="274320"/>
            <a:ext cx="11247120" cy="640080"/>
          </a:xfrm>
          <a:prstGeom prst="rect">
            <a:avLst/>
          </a:prstGeom>
          <a:noFill/>
          <a:ln/>
        </p:spPr>
        <p:txBody>
          <a:bodyPr wrap="square" lIns="0" tIns="0" rIns="0" bIns="0" rtlCol="0" anchor="ctr"/>
          <a:lstStyle/>
          <a:p>
            <a:pPr marL="0" indent="0" algn="l">
              <a:buNone/>
            </a:pPr>
            <a:r>
              <a:rPr lang="en-GB" sz="3200">
                <a:solidFill>
                  <a:schemeClr val="tx1"/>
                </a:solidFill>
              </a:rPr>
              <a:t>Bubble diagram: how the spaces connect</a:t>
            </a:r>
            <a:endParaRPr lang="en-US" sz="3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F98"/>
                </a:solidFill>
              </a:defRPr>
            </a:lvl1pPr>
          </a:lstStyle>
          <a:p>
            <a:pPr algn="r"/>
            <a:fld id="{F7021451-1387-4CA6-816F-3879F97B5CBC}" type="slidenum">
              <a:rPr lang="en-US" b="0"/>
              <a:t>3</a:t>
            </a:fld>
            <a:endParaRPr lang="en-US"/>
          </a:p>
        </p:txBody>
      </p:sp>
      <p:sp>
        <p:nvSpPr>
          <p:cNvPr id="14" name="panel title LEVEL 1">
            <a:extLst>
              <a:ext uri="{FF2B5EF4-FFF2-40B4-BE49-F238E27FC236}">
                <a16:creationId xmlns:a16="http://schemas.microsoft.com/office/drawing/2014/main" id="{BFD1E05A-9035-94D0-38E8-55935F448993}"/>
              </a:ext>
            </a:extLst>
          </p:cNvPr>
          <p:cNvSpPr txBox="1"/>
          <p:nvPr/>
        </p:nvSpPr>
        <p:spPr>
          <a:xfrm>
            <a:off x="621792" y="1207008"/>
            <a:ext cx="3291840" cy="184666"/>
          </a:xfrm>
          <a:prstGeom prst="rect">
            <a:avLst/>
          </a:prstGeom>
          <a:noFill/>
        </p:spPr>
        <p:txBody>
          <a:bodyPr vert="horz" wrap="square" lIns="0" tIns="0" rIns="0" bIns="0" rtlCol="0">
            <a:spAutoFit/>
          </a:bodyPr>
          <a:lstStyle/>
          <a:p>
            <a:r>
              <a:rPr lang="de-CH" sz="1200" b="1" dirty="0">
                <a:solidFill>
                  <a:schemeClr val="accent1"/>
                </a:solidFill>
                <a:latin typeface="Montserrat" panose="00000500000000000000" pitchFamily="2" charset="0"/>
              </a:rPr>
              <a:t>LEVEL 1</a:t>
            </a:r>
            <a:r>
              <a:rPr lang="de-CH" sz="1200" dirty="0">
                <a:solidFill>
                  <a:schemeClr val="dk1"/>
                </a:solidFill>
                <a:latin typeface="Montserrat" panose="00000500000000000000" pitchFamily="2" charset="0"/>
              </a:rPr>
              <a:t>  Ground floor</a:t>
            </a:r>
            <a:endParaRPr lang="en-CH" sz="1200" dirty="0">
              <a:solidFill>
                <a:schemeClr val="dk1"/>
              </a:solidFill>
              <a:latin typeface="Montserrat" panose="00000500000000000000" pitchFamily="2" charset="0"/>
            </a:endParaRPr>
          </a:p>
        </p:txBody>
      </p:sp>
      <p:sp>
        <p:nvSpPr>
          <p:cNvPr id="16" name="panel title LEVEL 2">
            <a:extLst>
              <a:ext uri="{FF2B5EF4-FFF2-40B4-BE49-F238E27FC236}">
                <a16:creationId xmlns:a16="http://schemas.microsoft.com/office/drawing/2014/main" id="{7B76EB58-0CA8-BF87-CF0A-939C6BF412A1}"/>
              </a:ext>
            </a:extLst>
          </p:cNvPr>
          <p:cNvSpPr txBox="1"/>
          <p:nvPr/>
        </p:nvSpPr>
        <p:spPr>
          <a:xfrm>
            <a:off x="4370832" y="1207008"/>
            <a:ext cx="2103120" cy="184666"/>
          </a:xfrm>
          <a:prstGeom prst="rect">
            <a:avLst/>
          </a:prstGeom>
          <a:noFill/>
        </p:spPr>
        <p:txBody>
          <a:bodyPr vert="horz" wrap="square" lIns="0" tIns="0" rIns="0" bIns="0" rtlCol="0">
            <a:spAutoFit/>
          </a:bodyPr>
          <a:lstStyle/>
          <a:p>
            <a:r>
              <a:rPr lang="de-CH" sz="1200" b="1" dirty="0">
                <a:solidFill>
                  <a:schemeClr val="accent1"/>
                </a:solidFill>
                <a:latin typeface="Montserrat" panose="00000500000000000000" pitchFamily="2" charset="0"/>
              </a:rPr>
              <a:t>LEVEL 2</a:t>
            </a:r>
            <a:r>
              <a:rPr lang="de-CH" sz="1200" dirty="0">
                <a:solidFill>
                  <a:schemeClr val="dk1"/>
                </a:solidFill>
                <a:latin typeface="Montserrat" panose="00000500000000000000" pitchFamily="2" charset="0"/>
              </a:rPr>
              <a:t>  Armory</a:t>
            </a:r>
            <a:endParaRPr lang="en-CH" sz="1200" dirty="0">
              <a:solidFill>
                <a:schemeClr val="dk1"/>
              </a:solidFill>
              <a:latin typeface="Montserrat" panose="00000500000000000000" pitchFamily="2" charset="0"/>
            </a:endParaRPr>
          </a:p>
        </p:txBody>
      </p:sp>
      <p:sp>
        <p:nvSpPr>
          <p:cNvPr id="18" name="panel title LEVEL 3">
            <a:extLst>
              <a:ext uri="{FF2B5EF4-FFF2-40B4-BE49-F238E27FC236}">
                <a16:creationId xmlns:a16="http://schemas.microsoft.com/office/drawing/2014/main" id="{DBF0BC49-F219-39BB-8DA0-8D2711DBB19A}"/>
              </a:ext>
            </a:extLst>
          </p:cNvPr>
          <p:cNvSpPr txBox="1"/>
          <p:nvPr/>
        </p:nvSpPr>
        <p:spPr>
          <a:xfrm>
            <a:off x="6931152" y="1207008"/>
            <a:ext cx="3017520" cy="184666"/>
          </a:xfrm>
          <a:prstGeom prst="rect">
            <a:avLst/>
          </a:prstGeom>
          <a:noFill/>
        </p:spPr>
        <p:txBody>
          <a:bodyPr vert="horz" wrap="square" lIns="0" tIns="0" rIns="0" bIns="0" rtlCol="0">
            <a:spAutoFit/>
          </a:bodyPr>
          <a:lstStyle/>
          <a:p>
            <a:r>
              <a:rPr lang="de-CH" sz="1200" b="1" dirty="0">
                <a:solidFill>
                  <a:schemeClr val="accent1"/>
                </a:solidFill>
                <a:latin typeface="Montserrat" panose="00000500000000000000" pitchFamily="2" charset="0"/>
              </a:rPr>
              <a:t>LEVEL 3</a:t>
            </a:r>
            <a:r>
              <a:rPr lang="de-CH" sz="1200" dirty="0">
                <a:solidFill>
                  <a:schemeClr val="dk1"/>
                </a:solidFill>
                <a:latin typeface="Montserrat" panose="00000500000000000000" pitchFamily="2" charset="0"/>
              </a:rPr>
              <a:t>  Destroyed floor</a:t>
            </a:r>
            <a:endParaRPr lang="en-CH" sz="1200" dirty="0">
              <a:solidFill>
                <a:schemeClr val="dk1"/>
              </a:solidFill>
              <a:latin typeface="Montserrat" panose="00000500000000000000" pitchFamily="2" charset="0"/>
            </a:endParaRPr>
          </a:p>
        </p:txBody>
      </p:sp>
      <p:sp>
        <p:nvSpPr>
          <p:cNvPr id="20" name="panel title FINALE">
            <a:extLst>
              <a:ext uri="{FF2B5EF4-FFF2-40B4-BE49-F238E27FC236}">
                <a16:creationId xmlns:a16="http://schemas.microsoft.com/office/drawing/2014/main" id="{E3082FD4-DF76-CC59-E718-F86C21FAB8A4}"/>
              </a:ext>
            </a:extLst>
          </p:cNvPr>
          <p:cNvSpPr txBox="1"/>
          <p:nvPr/>
        </p:nvSpPr>
        <p:spPr>
          <a:xfrm>
            <a:off x="10405872" y="1207008"/>
            <a:ext cx="1163780" cy="169277"/>
          </a:xfrm>
          <a:prstGeom prst="rect">
            <a:avLst/>
          </a:prstGeom>
          <a:noFill/>
        </p:spPr>
        <p:txBody>
          <a:bodyPr vert="horz" wrap="none" lIns="0" tIns="0" rIns="0" bIns="0" rtlCol="0">
            <a:spAutoFit/>
          </a:bodyPr>
          <a:lstStyle/>
          <a:p>
            <a:r>
              <a:rPr lang="de-CH" sz="1100" b="1" dirty="0">
                <a:solidFill>
                  <a:schemeClr val="accent1"/>
                </a:solidFill>
                <a:latin typeface="Montserrat" panose="00000500000000000000" pitchFamily="2" charset="0"/>
              </a:rPr>
              <a:t>FINALE</a:t>
            </a:r>
            <a:r>
              <a:rPr lang="de-CH" sz="1100" dirty="0">
                <a:solidFill>
                  <a:schemeClr val="dk1"/>
                </a:solidFill>
                <a:latin typeface="Montserrat" panose="00000500000000000000" pitchFamily="2" charset="0"/>
              </a:rPr>
              <a:t>  Helipad</a:t>
            </a:r>
            <a:endParaRPr lang="en-CH" sz="1100" dirty="0">
              <a:solidFill>
                <a:schemeClr val="dk1"/>
              </a:solidFill>
              <a:latin typeface="Montserrat" panose="00000500000000000000" pitchFamily="2" charset="0"/>
            </a:endParaRPr>
          </a:p>
        </p:txBody>
      </p:sp>
      <p:sp>
        <p:nvSpPr>
          <p:cNvPr id="21" name="bubble Outside">
            <a:extLst>
              <a:ext uri="{FF2B5EF4-FFF2-40B4-BE49-F238E27FC236}">
                <a16:creationId xmlns:a16="http://schemas.microsoft.com/office/drawing/2014/main" id="{D0CFFC1F-E638-8A5D-B4CD-DAE592A6B5F1}"/>
              </a:ext>
            </a:extLst>
          </p:cNvPr>
          <p:cNvSpPr/>
          <p:nvPr/>
        </p:nvSpPr>
        <p:spPr>
          <a:xfrm>
            <a:off x="777240" y="4480560"/>
            <a:ext cx="731520" cy="731520"/>
          </a:xfrm>
          <a:prstGeom prst="ellipse">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solidFill>
                  <a:schemeClr val="dk1"/>
                </a:solidFill>
                <a:latin typeface="Montserrat" panose="00000500000000000000" pitchFamily="2" charset="0"/>
              </a:rPr>
              <a:t>Outside</a:t>
            </a:r>
          </a:p>
          <a:p>
            <a:pPr algn="ctr"/>
            <a:r>
              <a:rPr lang="de-CH" sz="900" dirty="0">
                <a:solidFill>
                  <a:schemeClr val="dk1"/>
                </a:solidFill>
                <a:latin typeface="Montserrat" panose="00000500000000000000" pitchFamily="2" charset="0"/>
              </a:rPr>
              <a:t>pistol</a:t>
            </a:r>
            <a:endParaRPr lang="en-CH" sz="900" dirty="0">
              <a:solidFill>
                <a:schemeClr val="dk1"/>
              </a:solidFill>
              <a:latin typeface="Montserrat" panose="00000500000000000000" pitchFamily="2" charset="0"/>
            </a:endParaRPr>
          </a:p>
        </p:txBody>
      </p:sp>
      <p:sp>
        <p:nvSpPr>
          <p:cNvPr id="22" name="bubble Entrance">
            <a:extLst>
              <a:ext uri="{FF2B5EF4-FFF2-40B4-BE49-F238E27FC236}">
                <a16:creationId xmlns:a16="http://schemas.microsoft.com/office/drawing/2014/main" id="{51FC893B-C24C-9C2B-13D7-2DC3CE6C48DF}"/>
              </a:ext>
            </a:extLst>
          </p:cNvPr>
          <p:cNvSpPr/>
          <p:nvPr/>
        </p:nvSpPr>
        <p:spPr>
          <a:xfrm>
            <a:off x="1783080" y="4114800"/>
            <a:ext cx="914400" cy="914400"/>
          </a:xfrm>
          <a:prstGeom prst="ellipse">
            <a:avLst/>
          </a:prstGeom>
          <a:solidFill>
            <a:schemeClr val="accent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latin typeface="Montserrat" panose="00000500000000000000" pitchFamily="2" charset="0"/>
              </a:rPr>
              <a:t>Entrance</a:t>
            </a:r>
          </a:p>
          <a:p>
            <a:pPr algn="ctr"/>
            <a:r>
              <a:rPr lang="de-CH" sz="900" dirty="0">
                <a:latin typeface="Montserrat" panose="00000500000000000000" pitchFamily="2" charset="0"/>
              </a:rPr>
              <a:t>alarm trap</a:t>
            </a:r>
            <a:endParaRPr lang="en-CH" sz="900" dirty="0">
              <a:latin typeface="Montserrat" panose="00000500000000000000" pitchFamily="2" charset="0"/>
            </a:endParaRPr>
          </a:p>
        </p:txBody>
      </p:sp>
      <p:sp>
        <p:nvSpPr>
          <p:cNvPr id="23" name="bubble Room A">
            <a:extLst>
              <a:ext uri="{FF2B5EF4-FFF2-40B4-BE49-F238E27FC236}">
                <a16:creationId xmlns:a16="http://schemas.microsoft.com/office/drawing/2014/main" id="{498A5CDD-24CD-C9BE-DF41-C0AA769E58EC}"/>
              </a:ext>
            </a:extLst>
          </p:cNvPr>
          <p:cNvSpPr/>
          <p:nvPr/>
        </p:nvSpPr>
        <p:spPr>
          <a:xfrm>
            <a:off x="2903220" y="3726180"/>
            <a:ext cx="777240" cy="77724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latin typeface="Montserrat" panose="00000500000000000000" pitchFamily="2" charset="0"/>
              </a:rPr>
              <a:t>Room A</a:t>
            </a:r>
          </a:p>
          <a:p>
            <a:pPr algn="ctr"/>
            <a:r>
              <a:rPr lang="de-CH" sz="900" dirty="0">
                <a:latin typeface="Montserrat" panose="00000500000000000000" pitchFamily="2" charset="0"/>
              </a:rPr>
              <a:t>camera</a:t>
            </a:r>
            <a:endParaRPr lang="en-CH" sz="900" dirty="0">
              <a:latin typeface="Montserrat" panose="00000500000000000000" pitchFamily="2" charset="0"/>
            </a:endParaRPr>
          </a:p>
        </p:txBody>
      </p:sp>
      <p:sp>
        <p:nvSpPr>
          <p:cNvPr id="24" name="bubble Room B">
            <a:extLst>
              <a:ext uri="{FF2B5EF4-FFF2-40B4-BE49-F238E27FC236}">
                <a16:creationId xmlns:a16="http://schemas.microsoft.com/office/drawing/2014/main" id="{6AA7FEDF-8B17-D673-EB99-517A1DAE438F}"/>
              </a:ext>
            </a:extLst>
          </p:cNvPr>
          <p:cNvSpPr/>
          <p:nvPr/>
        </p:nvSpPr>
        <p:spPr>
          <a:xfrm>
            <a:off x="3086100" y="2766060"/>
            <a:ext cx="685800" cy="68580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latin typeface="Montserrat" panose="00000500000000000000" pitchFamily="2" charset="0"/>
              </a:rPr>
              <a:t>Room B</a:t>
            </a:r>
            <a:endParaRPr lang="en-CH" sz="1100" b="1" dirty="0">
              <a:latin typeface="Montserrat" panose="00000500000000000000" pitchFamily="2" charset="0"/>
            </a:endParaRPr>
          </a:p>
        </p:txBody>
      </p:sp>
      <p:sp>
        <p:nvSpPr>
          <p:cNvPr id="26" name="bubble Room C">
            <a:extLst>
              <a:ext uri="{FF2B5EF4-FFF2-40B4-BE49-F238E27FC236}">
                <a16:creationId xmlns:a16="http://schemas.microsoft.com/office/drawing/2014/main" id="{9675EBB5-980F-6991-0B07-D8FD8E423BEC}"/>
              </a:ext>
            </a:extLst>
          </p:cNvPr>
          <p:cNvSpPr/>
          <p:nvPr/>
        </p:nvSpPr>
        <p:spPr>
          <a:xfrm>
            <a:off x="2903220" y="1805940"/>
            <a:ext cx="685800" cy="68580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latin typeface="Montserrat" panose="00000500000000000000" pitchFamily="2" charset="0"/>
              </a:rPr>
              <a:t>Room C</a:t>
            </a:r>
            <a:endParaRPr lang="en-CH" sz="1100" b="1" dirty="0">
              <a:latin typeface="Montserrat" panose="00000500000000000000" pitchFamily="2" charset="0"/>
            </a:endParaRPr>
          </a:p>
        </p:txBody>
      </p:sp>
      <p:sp>
        <p:nvSpPr>
          <p:cNvPr id="27" name="bubble West Wing">
            <a:extLst>
              <a:ext uri="{FF2B5EF4-FFF2-40B4-BE49-F238E27FC236}">
                <a16:creationId xmlns:a16="http://schemas.microsoft.com/office/drawing/2014/main" id="{8A1A8036-7874-9767-5CA0-81B1F2C6DEB3}"/>
              </a:ext>
            </a:extLst>
          </p:cNvPr>
          <p:cNvSpPr/>
          <p:nvPr/>
        </p:nvSpPr>
        <p:spPr>
          <a:xfrm>
            <a:off x="1691640" y="1645920"/>
            <a:ext cx="822960" cy="82296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900" b="1" dirty="0">
                <a:latin typeface="Montserrat" panose="00000500000000000000" pitchFamily="2" charset="0"/>
              </a:rPr>
              <a:t>West Wing</a:t>
            </a:r>
            <a:endParaRPr lang="en-CH" sz="900" b="1" dirty="0">
              <a:latin typeface="Montserrat" panose="00000500000000000000" pitchFamily="2" charset="0"/>
            </a:endParaRPr>
          </a:p>
        </p:txBody>
      </p:sp>
      <p:sp>
        <p:nvSpPr>
          <p:cNvPr id="28" name="bubble Turret hall">
            <a:extLst>
              <a:ext uri="{FF2B5EF4-FFF2-40B4-BE49-F238E27FC236}">
                <a16:creationId xmlns:a16="http://schemas.microsoft.com/office/drawing/2014/main" id="{DB112DE5-D0EF-917E-FF5D-6E4268555B24}"/>
              </a:ext>
            </a:extLst>
          </p:cNvPr>
          <p:cNvSpPr/>
          <p:nvPr/>
        </p:nvSpPr>
        <p:spPr>
          <a:xfrm>
            <a:off x="594360" y="2468880"/>
            <a:ext cx="914400" cy="91440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050" b="1" dirty="0">
                <a:latin typeface="Montserrat" panose="00000500000000000000" pitchFamily="2" charset="0"/>
              </a:rPr>
              <a:t>Turret hall</a:t>
            </a:r>
          </a:p>
          <a:p>
            <a:pPr algn="ctr"/>
            <a:r>
              <a:rPr lang="de-CH" sz="900" dirty="0">
                <a:latin typeface="Montserrat" panose="00000500000000000000" pitchFamily="2" charset="0"/>
              </a:rPr>
              <a:t>turret</a:t>
            </a:r>
            <a:endParaRPr lang="en-CH" sz="900" dirty="0">
              <a:latin typeface="Montserrat" panose="00000500000000000000" pitchFamily="2" charset="0"/>
            </a:endParaRPr>
          </a:p>
        </p:txBody>
      </p:sp>
      <p:sp>
        <p:nvSpPr>
          <p:cNvPr id="29" name="bubble Stairs">
            <a:extLst>
              <a:ext uri="{FF2B5EF4-FFF2-40B4-BE49-F238E27FC236}">
                <a16:creationId xmlns:a16="http://schemas.microsoft.com/office/drawing/2014/main" id="{1B59CCAF-626A-15C1-E778-2F6DD13523E1}"/>
              </a:ext>
            </a:extLst>
          </p:cNvPr>
          <p:cNvSpPr/>
          <p:nvPr/>
        </p:nvSpPr>
        <p:spPr>
          <a:xfrm>
            <a:off x="1874520" y="2880360"/>
            <a:ext cx="731520" cy="731520"/>
          </a:xfrm>
          <a:prstGeom prst="ellipse">
            <a:avLst/>
          </a:prstGeom>
          <a:solidFill>
            <a:schemeClr val="accent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solidFill>
                  <a:schemeClr val="dk1"/>
                </a:solidFill>
                <a:latin typeface="Montserrat" panose="00000500000000000000" pitchFamily="2" charset="0"/>
              </a:rPr>
              <a:t>Stairs</a:t>
            </a:r>
          </a:p>
          <a:p>
            <a:pPr algn="ctr"/>
            <a:r>
              <a:rPr lang="de-CH" sz="900" dirty="0">
                <a:solidFill>
                  <a:schemeClr val="dk1"/>
                </a:solidFill>
                <a:latin typeface="Montserrat" panose="00000500000000000000" pitchFamily="2" charset="0"/>
              </a:rPr>
              <a:t>up to L2</a:t>
            </a:r>
            <a:endParaRPr lang="en-CH" sz="900" dirty="0">
              <a:solidFill>
                <a:schemeClr val="dk1"/>
              </a:solidFill>
              <a:latin typeface="Montserrat" panose="00000500000000000000" pitchFamily="2" charset="0"/>
            </a:endParaRPr>
          </a:p>
        </p:txBody>
      </p:sp>
      <p:sp>
        <p:nvSpPr>
          <p:cNvPr id="38" name="lock: locked in lockdown">
            <a:extLst>
              <a:ext uri="{FF2B5EF4-FFF2-40B4-BE49-F238E27FC236}">
                <a16:creationId xmlns:a16="http://schemas.microsoft.com/office/drawing/2014/main" id="{90BD548F-471F-D8A3-A62E-C1A925218C19}"/>
              </a:ext>
            </a:extLst>
          </p:cNvPr>
          <p:cNvSpPr txBox="1"/>
          <p:nvPr/>
        </p:nvSpPr>
        <p:spPr>
          <a:xfrm>
            <a:off x="566928" y="4005072"/>
            <a:ext cx="1188720" cy="276999"/>
          </a:xfrm>
          <a:prstGeom prst="rect">
            <a:avLst/>
          </a:prstGeom>
          <a:noFill/>
        </p:spPr>
        <p:txBody>
          <a:bodyPr vert="horz" wrap="square" lIns="0" tIns="0" rIns="0" bIns="0" rtlCol="0" anchor="ctr">
            <a:noAutofit/>
          </a:bodyPr>
          <a:lstStyle/>
          <a:p>
            <a:r>
              <a:rPr lang="de-CH" sz="900" b="1" dirty="0">
                <a:solidFill>
                  <a:srgbClr val="C8102E"/>
                </a:solidFill>
                <a:latin typeface="Montserrat" panose="00000500000000000000" pitchFamily="2" charset="0"/>
              </a:rPr>
              <a:t>locked in lockdown</a:t>
            </a:r>
            <a:endParaRPr lang="en-CH" sz="900" b="1" dirty="0">
              <a:solidFill>
                <a:srgbClr val="C8102E"/>
              </a:solidFill>
              <a:latin typeface="Montserrat" panose="00000500000000000000" pitchFamily="2" charset="0"/>
            </a:endParaRPr>
          </a:p>
        </p:txBody>
      </p:sp>
      <p:sp>
        <p:nvSpPr>
          <p:cNvPr id="39" name="lock: shutter:&#10;floor clear">
            <a:extLst>
              <a:ext uri="{FF2B5EF4-FFF2-40B4-BE49-F238E27FC236}">
                <a16:creationId xmlns:a16="http://schemas.microsoft.com/office/drawing/2014/main" id="{9BEDF302-737C-D382-994C-A23595E582D9}"/>
              </a:ext>
            </a:extLst>
          </p:cNvPr>
          <p:cNvSpPr txBox="1"/>
          <p:nvPr/>
        </p:nvSpPr>
        <p:spPr>
          <a:xfrm>
            <a:off x="2331720" y="3657600"/>
            <a:ext cx="685800" cy="276999"/>
          </a:xfrm>
          <a:prstGeom prst="rect">
            <a:avLst/>
          </a:prstGeom>
          <a:noFill/>
        </p:spPr>
        <p:txBody>
          <a:bodyPr vert="horz" wrap="square" lIns="0" tIns="0" rIns="0" bIns="0" rtlCol="0" anchor="ctr">
            <a:noAutofit/>
          </a:bodyPr>
          <a:lstStyle/>
          <a:p>
            <a:r>
              <a:rPr lang="de-CH" sz="900" b="1" dirty="0">
                <a:solidFill>
                  <a:srgbClr val="C8102E"/>
                </a:solidFill>
                <a:latin typeface="Montserrat" panose="00000500000000000000" pitchFamily="2" charset="0"/>
              </a:rPr>
              <a:t>shutter:</a:t>
            </a:r>
          </a:p>
          <a:p>
            <a:r>
              <a:rPr lang="de-CH" sz="900" b="1" dirty="0">
                <a:solidFill>
                  <a:srgbClr val="C8102E"/>
                </a:solidFill>
                <a:latin typeface="Montserrat" panose="00000500000000000000" pitchFamily="2" charset="0"/>
              </a:rPr>
              <a:t>floor clear</a:t>
            </a:r>
            <a:endParaRPr lang="en-CH" sz="900" b="1" dirty="0">
              <a:solidFill>
                <a:srgbClr val="C8102E"/>
              </a:solidFill>
              <a:latin typeface="Montserrat" panose="00000500000000000000" pitchFamily="2" charset="0"/>
            </a:endParaRPr>
          </a:p>
        </p:txBody>
      </p:sp>
      <p:sp>
        <p:nvSpPr>
          <p:cNvPr id="40" name="coin ww">
            <a:extLst>
              <a:ext uri="{FF2B5EF4-FFF2-40B4-BE49-F238E27FC236}">
                <a16:creationId xmlns:a16="http://schemas.microsoft.com/office/drawing/2014/main" id="{5F5373CB-AD82-9C44-E0F5-819604E68E69}"/>
              </a:ext>
            </a:extLst>
          </p:cNvPr>
          <p:cNvSpPr/>
          <p:nvPr/>
        </p:nvSpPr>
        <p:spPr>
          <a:xfrm>
            <a:off x="2280514" y="1642262"/>
            <a:ext cx="237744" cy="237744"/>
          </a:xfrm>
          <a:prstGeom prst="ellipse">
            <a:avLst/>
          </a:prstGeom>
          <a:solidFill>
            <a:srgbClr val="FFC83C"/>
          </a:solidFill>
          <a:ln w="15875">
            <a:solidFill>
              <a:schemeClr val="lt1"/>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lstStyle/>
          <a:p>
            <a:pPr algn="ctr"/>
            <a:r>
              <a:rPr lang="de-CH" sz="800" b="1" dirty="0">
                <a:solidFill>
                  <a:schemeClr val="lt1"/>
                </a:solidFill>
                <a:latin typeface="Montserrat" panose="00000500000000000000" pitchFamily="2" charset="0"/>
              </a:rPr>
              <a:t>C</a:t>
            </a:r>
            <a:endParaRPr lang="en-CH" sz="800" b="1" dirty="0">
              <a:solidFill>
                <a:schemeClr val="lt1"/>
              </a:solidFill>
              <a:latin typeface="Montserrat" panose="00000500000000000000" pitchFamily="2" charset="0"/>
            </a:endParaRPr>
          </a:p>
        </p:txBody>
      </p:sp>
      <p:sp>
        <p:nvSpPr>
          <p:cNvPr id="41" name="entry from level 1">
            <a:extLst>
              <a:ext uri="{FF2B5EF4-FFF2-40B4-BE49-F238E27FC236}">
                <a16:creationId xmlns:a16="http://schemas.microsoft.com/office/drawing/2014/main" id="{E2445D05-2F0A-5FCA-0605-99ACE265B65A}"/>
              </a:ext>
            </a:extLst>
          </p:cNvPr>
          <p:cNvSpPr/>
          <p:nvPr/>
        </p:nvSpPr>
        <p:spPr>
          <a:xfrm>
            <a:off x="4869180" y="4992624"/>
            <a:ext cx="1051560" cy="256032"/>
          </a:xfrm>
          <a:prstGeom prst="roundRect">
            <a:avLst>
              <a:gd name="adj" fmla="val 50000"/>
            </a:avLst>
          </a:prstGeom>
          <a:noFill/>
          <a:ln w="15875" cap="flat" cmpd="sng" algn="ctr">
            <a:solidFill>
              <a:schemeClr val="accent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lstStyle/>
          <a:p>
            <a:pPr algn="ctr"/>
            <a:r>
              <a:rPr lang="de-CH" sz="900" b="1" dirty="0">
                <a:solidFill>
                  <a:schemeClr val="accent1"/>
                </a:solidFill>
                <a:latin typeface="Montserrat" panose="00000500000000000000" pitchFamily="2" charset="0"/>
              </a:rPr>
              <a:t>from level 1</a:t>
            </a:r>
            <a:endParaRPr lang="en-CH" sz="900" b="1" dirty="0">
              <a:solidFill>
                <a:schemeClr val="accent1"/>
              </a:solidFill>
              <a:latin typeface="Montserrat" panose="00000500000000000000" pitchFamily="2" charset="0"/>
            </a:endParaRPr>
          </a:p>
        </p:txBody>
      </p:sp>
      <p:sp>
        <p:nvSpPr>
          <p:cNvPr id="42" name="bubble Hall">
            <a:extLst>
              <a:ext uri="{FF2B5EF4-FFF2-40B4-BE49-F238E27FC236}">
                <a16:creationId xmlns:a16="http://schemas.microsoft.com/office/drawing/2014/main" id="{3253FD68-F7F1-E82B-E1BC-0B5085BD6058}"/>
              </a:ext>
            </a:extLst>
          </p:cNvPr>
          <p:cNvSpPr/>
          <p:nvPr/>
        </p:nvSpPr>
        <p:spPr>
          <a:xfrm>
            <a:off x="4823460" y="3451860"/>
            <a:ext cx="1143000" cy="114300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latin typeface="Montserrat" panose="00000500000000000000" pitchFamily="2" charset="0"/>
              </a:rPr>
              <a:t>Hall</a:t>
            </a:r>
          </a:p>
          <a:p>
            <a:pPr algn="ctr"/>
            <a:r>
              <a:rPr lang="de-CH" sz="900" dirty="0">
                <a:latin typeface="Montserrat" panose="00000500000000000000" pitchFamily="2" charset="0"/>
              </a:rPr>
              <a:t>turrets, drones</a:t>
            </a:r>
            <a:endParaRPr lang="en-CH" sz="900" dirty="0">
              <a:latin typeface="Montserrat" panose="00000500000000000000" pitchFamily="2" charset="0"/>
            </a:endParaRPr>
          </a:p>
        </p:txBody>
      </p:sp>
      <p:sp>
        <p:nvSpPr>
          <p:cNvPr id="43" name="bubble Armory">
            <a:extLst>
              <a:ext uri="{FF2B5EF4-FFF2-40B4-BE49-F238E27FC236}">
                <a16:creationId xmlns:a16="http://schemas.microsoft.com/office/drawing/2014/main" id="{C4763BCD-53BF-9FB2-ACA7-434884DC9D51}"/>
              </a:ext>
            </a:extLst>
          </p:cNvPr>
          <p:cNvSpPr/>
          <p:nvPr/>
        </p:nvSpPr>
        <p:spPr>
          <a:xfrm>
            <a:off x="4229100" y="2308860"/>
            <a:ext cx="777240" cy="777240"/>
          </a:xfrm>
          <a:prstGeom prst="ellipse">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solidFill>
                  <a:schemeClr val="dk1"/>
                </a:solidFill>
                <a:latin typeface="Montserrat" panose="00000500000000000000" pitchFamily="2" charset="0"/>
              </a:rPr>
              <a:t>Armory</a:t>
            </a:r>
          </a:p>
          <a:p>
            <a:pPr algn="ctr"/>
            <a:r>
              <a:rPr lang="de-CH" sz="900" dirty="0">
                <a:solidFill>
                  <a:schemeClr val="dk1"/>
                </a:solidFill>
                <a:latin typeface="Montserrat" panose="00000500000000000000" pitchFamily="2" charset="0"/>
              </a:rPr>
              <a:t>rifle</a:t>
            </a:r>
            <a:endParaRPr lang="en-CH" sz="900" dirty="0">
              <a:solidFill>
                <a:schemeClr val="dk1"/>
              </a:solidFill>
              <a:latin typeface="Montserrat" panose="00000500000000000000" pitchFamily="2" charset="0"/>
            </a:endParaRPr>
          </a:p>
        </p:txBody>
      </p:sp>
      <p:sp>
        <p:nvSpPr>
          <p:cNvPr id="44" name="bubble Office">
            <a:extLst>
              <a:ext uri="{FF2B5EF4-FFF2-40B4-BE49-F238E27FC236}">
                <a16:creationId xmlns:a16="http://schemas.microsoft.com/office/drawing/2014/main" id="{DC7D2E9F-A19C-DA92-1231-21328B6B64EE}"/>
              </a:ext>
            </a:extLst>
          </p:cNvPr>
          <p:cNvSpPr/>
          <p:nvPr/>
        </p:nvSpPr>
        <p:spPr>
          <a:xfrm>
            <a:off x="5783580" y="2308860"/>
            <a:ext cx="777240" cy="777240"/>
          </a:xfrm>
          <a:prstGeom prst="ellipse">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solidFill>
                  <a:schemeClr val="dk1"/>
                </a:solidFill>
                <a:latin typeface="Montserrat" panose="00000500000000000000" pitchFamily="2" charset="0"/>
              </a:rPr>
              <a:t>Office</a:t>
            </a:r>
          </a:p>
          <a:p>
            <a:pPr algn="ctr"/>
            <a:r>
              <a:rPr lang="de-CH" sz="900" dirty="0">
                <a:solidFill>
                  <a:schemeClr val="dk1"/>
                </a:solidFill>
                <a:latin typeface="Montserrat" panose="00000500000000000000" pitchFamily="2" charset="0"/>
              </a:rPr>
              <a:t>key</a:t>
            </a:r>
            <a:endParaRPr lang="en-CH" sz="900" dirty="0">
              <a:solidFill>
                <a:schemeClr val="dk1"/>
              </a:solidFill>
              <a:latin typeface="Montserrat" panose="00000500000000000000" pitchFamily="2" charset="0"/>
            </a:endParaRPr>
          </a:p>
        </p:txBody>
      </p:sp>
      <p:sp>
        <p:nvSpPr>
          <p:cNvPr id="45" name="bubble Stairwell">
            <a:extLst>
              <a:ext uri="{FF2B5EF4-FFF2-40B4-BE49-F238E27FC236}">
                <a16:creationId xmlns:a16="http://schemas.microsoft.com/office/drawing/2014/main" id="{FD59A8BB-D166-EA77-DF5A-82981C002AEE}"/>
              </a:ext>
            </a:extLst>
          </p:cNvPr>
          <p:cNvSpPr/>
          <p:nvPr/>
        </p:nvSpPr>
        <p:spPr>
          <a:xfrm>
            <a:off x="5052060" y="1485900"/>
            <a:ext cx="685800" cy="685800"/>
          </a:xfrm>
          <a:prstGeom prst="ellipse">
            <a:avLst/>
          </a:prstGeom>
          <a:solidFill>
            <a:schemeClr val="accent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950" b="1" dirty="0">
                <a:solidFill>
                  <a:schemeClr val="dk1"/>
                </a:solidFill>
                <a:latin typeface="Montserrat" panose="00000500000000000000" pitchFamily="2" charset="0"/>
              </a:rPr>
              <a:t>Stairwell</a:t>
            </a:r>
          </a:p>
          <a:p>
            <a:pPr algn="ctr"/>
            <a:r>
              <a:rPr lang="de-CH" sz="900" dirty="0">
                <a:solidFill>
                  <a:schemeClr val="dk1"/>
                </a:solidFill>
                <a:latin typeface="Montserrat" panose="00000500000000000000" pitchFamily="2" charset="0"/>
              </a:rPr>
              <a:t>up to L3</a:t>
            </a:r>
            <a:endParaRPr lang="en-CH" sz="900" dirty="0">
              <a:solidFill>
                <a:schemeClr val="dk1"/>
              </a:solidFill>
              <a:latin typeface="Montserrat" panose="00000500000000000000" pitchFamily="2" charset="0"/>
            </a:endParaRPr>
          </a:p>
        </p:txBody>
      </p:sp>
      <p:sp>
        <p:nvSpPr>
          <p:cNvPr id="50" name="lock: key slot [E]&#10;+ floor clear">
            <a:extLst>
              <a:ext uri="{FF2B5EF4-FFF2-40B4-BE49-F238E27FC236}">
                <a16:creationId xmlns:a16="http://schemas.microsoft.com/office/drawing/2014/main" id="{A15B9648-0543-152B-4454-74FFE0E8D81E}"/>
              </a:ext>
            </a:extLst>
          </p:cNvPr>
          <p:cNvSpPr txBox="1"/>
          <p:nvPr/>
        </p:nvSpPr>
        <p:spPr>
          <a:xfrm>
            <a:off x="5010912" y="2724912"/>
            <a:ext cx="768096" cy="276999"/>
          </a:xfrm>
          <a:prstGeom prst="rect">
            <a:avLst/>
          </a:prstGeom>
          <a:solidFill>
            <a:schemeClr val="lt2"/>
          </a:solidFill>
        </p:spPr>
        <p:txBody>
          <a:bodyPr vert="horz" wrap="square" lIns="0" tIns="0" rIns="0" bIns="0" rtlCol="0" anchor="ctr">
            <a:noAutofit/>
          </a:bodyPr>
          <a:lstStyle/>
          <a:p>
            <a:pPr algn="ctr"/>
            <a:r>
              <a:rPr lang="en-GB" sz="900" b="1" dirty="0">
                <a:solidFill>
                  <a:srgbClr val="C8102E"/>
                </a:solidFill>
                <a:latin typeface="Montserrat" panose="00000500000000000000" pitchFamily="2" charset="0"/>
              </a:rPr>
              <a:t>key slot [E]</a:t>
            </a:r>
          </a:p>
          <a:p>
            <a:pPr algn="ctr"/>
            <a:r>
              <a:rPr lang="en-GB" sz="900" b="1" dirty="0">
                <a:solidFill>
                  <a:srgbClr val="C8102E"/>
                </a:solidFill>
                <a:latin typeface="Montserrat" panose="00000500000000000000" pitchFamily="2" charset="0"/>
              </a:rPr>
              <a:t>+ floor clear</a:t>
            </a:r>
            <a:endParaRPr lang="en-CH" sz="900" b="1" dirty="0">
              <a:solidFill>
                <a:srgbClr val="C8102E"/>
              </a:solidFill>
              <a:latin typeface="Montserrat" panose="00000500000000000000" pitchFamily="2" charset="0"/>
            </a:endParaRPr>
          </a:p>
        </p:txBody>
      </p:sp>
      <p:sp>
        <p:nvSpPr>
          <p:cNvPr id="51" name="coin hall2">
            <a:extLst>
              <a:ext uri="{FF2B5EF4-FFF2-40B4-BE49-F238E27FC236}">
                <a16:creationId xmlns:a16="http://schemas.microsoft.com/office/drawing/2014/main" id="{F21C5B89-A638-F9AE-0A02-B27E1B488D31}"/>
              </a:ext>
            </a:extLst>
          </p:cNvPr>
          <p:cNvSpPr/>
          <p:nvPr/>
        </p:nvSpPr>
        <p:spPr>
          <a:xfrm>
            <a:off x="5687568" y="3493008"/>
            <a:ext cx="237744" cy="237744"/>
          </a:xfrm>
          <a:prstGeom prst="ellipse">
            <a:avLst/>
          </a:prstGeom>
          <a:solidFill>
            <a:srgbClr val="FFC83C"/>
          </a:solidFill>
          <a:ln w="15875">
            <a:solidFill>
              <a:schemeClr val="lt1"/>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lstStyle/>
          <a:p>
            <a:pPr algn="ctr"/>
            <a:r>
              <a:rPr lang="de-CH" sz="800" b="1" dirty="0">
                <a:solidFill>
                  <a:schemeClr val="lt1"/>
                </a:solidFill>
                <a:latin typeface="Montserrat" panose="00000500000000000000" pitchFamily="2" charset="0"/>
              </a:rPr>
              <a:t>C</a:t>
            </a:r>
            <a:endParaRPr lang="en-CH" sz="800" b="1" dirty="0">
              <a:solidFill>
                <a:schemeClr val="lt1"/>
              </a:solidFill>
              <a:latin typeface="Montserrat" panose="00000500000000000000" pitchFamily="2" charset="0"/>
            </a:endParaRPr>
          </a:p>
        </p:txBody>
      </p:sp>
      <p:sp>
        <p:nvSpPr>
          <p:cNvPr id="52" name="coin off">
            <a:extLst>
              <a:ext uri="{FF2B5EF4-FFF2-40B4-BE49-F238E27FC236}">
                <a16:creationId xmlns:a16="http://schemas.microsoft.com/office/drawing/2014/main" id="{2AEB2DDF-B0A4-62BC-91D6-CA5212A6B6CF}"/>
              </a:ext>
            </a:extLst>
          </p:cNvPr>
          <p:cNvSpPr/>
          <p:nvPr/>
        </p:nvSpPr>
        <p:spPr>
          <a:xfrm>
            <a:off x="6333134" y="2298802"/>
            <a:ext cx="237744" cy="237744"/>
          </a:xfrm>
          <a:prstGeom prst="ellipse">
            <a:avLst/>
          </a:prstGeom>
          <a:solidFill>
            <a:srgbClr val="FFC83C"/>
          </a:solidFill>
          <a:ln w="15875">
            <a:solidFill>
              <a:schemeClr val="lt1"/>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lstStyle/>
          <a:p>
            <a:pPr algn="ctr"/>
            <a:r>
              <a:rPr lang="de-CH" sz="800" b="1" dirty="0">
                <a:solidFill>
                  <a:schemeClr val="lt1"/>
                </a:solidFill>
                <a:latin typeface="Montserrat" panose="00000500000000000000" pitchFamily="2" charset="0"/>
              </a:rPr>
              <a:t>C</a:t>
            </a:r>
            <a:endParaRPr lang="en-CH" sz="800" b="1" dirty="0">
              <a:solidFill>
                <a:schemeClr val="lt1"/>
              </a:solidFill>
              <a:latin typeface="Montserrat" panose="00000500000000000000" pitchFamily="2" charset="0"/>
            </a:endParaRPr>
          </a:p>
        </p:txBody>
      </p:sp>
      <p:sp>
        <p:nvSpPr>
          <p:cNvPr id="53" name="entry from level 2">
            <a:extLst>
              <a:ext uri="{FF2B5EF4-FFF2-40B4-BE49-F238E27FC236}">
                <a16:creationId xmlns:a16="http://schemas.microsoft.com/office/drawing/2014/main" id="{54847319-26E2-C261-084A-DCF963F7BF52}"/>
              </a:ext>
            </a:extLst>
          </p:cNvPr>
          <p:cNvSpPr/>
          <p:nvPr/>
        </p:nvSpPr>
        <p:spPr>
          <a:xfrm>
            <a:off x="7200900" y="1655064"/>
            <a:ext cx="1051560" cy="256032"/>
          </a:xfrm>
          <a:prstGeom prst="roundRect">
            <a:avLst>
              <a:gd name="adj" fmla="val 50000"/>
            </a:avLst>
          </a:prstGeom>
          <a:noFill/>
          <a:ln w="15875" cap="flat" cmpd="sng" algn="ctr">
            <a:solidFill>
              <a:schemeClr val="accent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lstStyle/>
          <a:p>
            <a:pPr algn="ctr"/>
            <a:r>
              <a:rPr lang="de-CH" sz="900" b="1" dirty="0">
                <a:solidFill>
                  <a:schemeClr val="accent1"/>
                </a:solidFill>
                <a:latin typeface="Montserrat" panose="00000500000000000000" pitchFamily="2" charset="0"/>
              </a:rPr>
              <a:t>from level 2</a:t>
            </a:r>
            <a:endParaRPr lang="en-CH" sz="900" b="1" dirty="0">
              <a:solidFill>
                <a:schemeClr val="accent1"/>
              </a:solidFill>
              <a:latin typeface="Montserrat" panose="00000500000000000000" pitchFamily="2" charset="0"/>
            </a:endParaRPr>
          </a:p>
        </p:txBody>
      </p:sp>
      <p:sp>
        <p:nvSpPr>
          <p:cNvPr id="54" name="bubble Barracks">
            <a:extLst>
              <a:ext uri="{FF2B5EF4-FFF2-40B4-BE49-F238E27FC236}">
                <a16:creationId xmlns:a16="http://schemas.microsoft.com/office/drawing/2014/main" id="{7575E175-7457-6F14-A178-5B7E4F326DFA}"/>
              </a:ext>
            </a:extLst>
          </p:cNvPr>
          <p:cNvSpPr/>
          <p:nvPr/>
        </p:nvSpPr>
        <p:spPr>
          <a:xfrm>
            <a:off x="6903720" y="2331720"/>
            <a:ext cx="731519" cy="73152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050" b="1" dirty="0">
                <a:latin typeface="Montserrat" panose="00000500000000000000" pitchFamily="2" charset="0"/>
              </a:rPr>
              <a:t>Barracks</a:t>
            </a:r>
            <a:endParaRPr lang="en-CH" sz="1050" b="1" dirty="0">
              <a:latin typeface="Montserrat" panose="00000500000000000000" pitchFamily="2" charset="0"/>
            </a:endParaRPr>
          </a:p>
        </p:txBody>
      </p:sp>
      <p:sp>
        <p:nvSpPr>
          <p:cNvPr id="55" name="bubble Comms">
            <a:extLst>
              <a:ext uri="{FF2B5EF4-FFF2-40B4-BE49-F238E27FC236}">
                <a16:creationId xmlns:a16="http://schemas.microsoft.com/office/drawing/2014/main" id="{0B815814-C046-50F3-65F4-8A1648B71076}"/>
              </a:ext>
            </a:extLst>
          </p:cNvPr>
          <p:cNvSpPr/>
          <p:nvPr/>
        </p:nvSpPr>
        <p:spPr>
          <a:xfrm>
            <a:off x="7909560" y="2194560"/>
            <a:ext cx="731520" cy="73152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latin typeface="Montserrat" panose="00000500000000000000" pitchFamily="2" charset="0"/>
              </a:rPr>
              <a:t>Comms</a:t>
            </a:r>
            <a:endParaRPr lang="en-CH" sz="1100" b="1" dirty="0">
              <a:latin typeface="Montserrat" panose="00000500000000000000" pitchFamily="2" charset="0"/>
            </a:endParaRPr>
          </a:p>
        </p:txBody>
      </p:sp>
      <p:sp>
        <p:nvSpPr>
          <p:cNvPr id="56" name="bubble Hall">
            <a:extLst>
              <a:ext uri="{FF2B5EF4-FFF2-40B4-BE49-F238E27FC236}">
                <a16:creationId xmlns:a16="http://schemas.microsoft.com/office/drawing/2014/main" id="{6061536F-3D37-FBBC-B53F-724EE5EE8743}"/>
              </a:ext>
            </a:extLst>
          </p:cNvPr>
          <p:cNvSpPr/>
          <p:nvPr/>
        </p:nvSpPr>
        <p:spPr>
          <a:xfrm>
            <a:off x="7498080" y="3200400"/>
            <a:ext cx="731520" cy="73152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latin typeface="Montserrat" panose="00000500000000000000" pitchFamily="2" charset="0"/>
              </a:rPr>
              <a:t>Hall</a:t>
            </a:r>
            <a:endParaRPr lang="en-CH" sz="1100" b="1" dirty="0">
              <a:latin typeface="Montserrat" panose="00000500000000000000" pitchFamily="2" charset="0"/>
            </a:endParaRPr>
          </a:p>
        </p:txBody>
      </p:sp>
      <p:sp>
        <p:nvSpPr>
          <p:cNvPr id="57" name="bubble Robot room">
            <a:extLst>
              <a:ext uri="{FF2B5EF4-FFF2-40B4-BE49-F238E27FC236}">
                <a16:creationId xmlns:a16="http://schemas.microsoft.com/office/drawing/2014/main" id="{1BE8AA8B-C0C7-5064-C167-9BB0F1B32773}"/>
              </a:ext>
            </a:extLst>
          </p:cNvPr>
          <p:cNvSpPr/>
          <p:nvPr/>
        </p:nvSpPr>
        <p:spPr>
          <a:xfrm>
            <a:off x="6853428" y="4137660"/>
            <a:ext cx="868680" cy="868680"/>
          </a:xfrm>
          <a:prstGeom prst="ellipse">
            <a:avLst/>
          </a:prstGeom>
          <a:solidFill>
            <a:schemeClr val="accent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900" b="1" dirty="0">
                <a:latin typeface="Montserrat" panose="00000500000000000000" pitchFamily="2" charset="0"/>
              </a:rPr>
              <a:t>Robot room</a:t>
            </a:r>
          </a:p>
          <a:p>
            <a:pPr algn="ctr"/>
            <a:r>
              <a:rPr lang="de-CH" sz="900" dirty="0">
                <a:latin typeface="Montserrat" panose="00000500000000000000" pitchFamily="2" charset="0"/>
              </a:rPr>
              <a:t>rifle only</a:t>
            </a:r>
            <a:endParaRPr lang="en-CH" sz="900" dirty="0">
              <a:latin typeface="Montserrat" panose="00000500000000000000" pitchFamily="2" charset="0"/>
            </a:endParaRPr>
          </a:p>
        </p:txBody>
      </p:sp>
      <p:sp>
        <p:nvSpPr>
          <p:cNvPr id="58" name="bubble Destroyed">
            <a:extLst>
              <a:ext uri="{FF2B5EF4-FFF2-40B4-BE49-F238E27FC236}">
                <a16:creationId xmlns:a16="http://schemas.microsoft.com/office/drawing/2014/main" id="{0941F4A4-89A0-F73C-E298-3D8EEADF9982}"/>
              </a:ext>
            </a:extLst>
          </p:cNvPr>
          <p:cNvSpPr/>
          <p:nvPr/>
        </p:nvSpPr>
        <p:spPr>
          <a:xfrm>
            <a:off x="7932420" y="4457700"/>
            <a:ext cx="868680" cy="86868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000" b="1" dirty="0">
                <a:latin typeface="Montserrat" panose="00000500000000000000" pitchFamily="2" charset="0"/>
              </a:rPr>
              <a:t>Destroyed</a:t>
            </a:r>
          </a:p>
          <a:p>
            <a:pPr algn="ctr"/>
            <a:r>
              <a:rPr lang="de-CH" sz="900" dirty="0">
                <a:latin typeface="Montserrat" panose="00000500000000000000" pitchFamily="2" charset="0"/>
              </a:rPr>
              <a:t>the breach</a:t>
            </a:r>
            <a:endParaRPr lang="en-CH" sz="900" dirty="0">
              <a:latin typeface="Montserrat" panose="00000500000000000000" pitchFamily="2" charset="0"/>
            </a:endParaRPr>
          </a:p>
        </p:txBody>
      </p:sp>
      <p:sp>
        <p:nvSpPr>
          <p:cNvPr id="59" name="bubble Slab">
            <a:extLst>
              <a:ext uri="{FF2B5EF4-FFF2-40B4-BE49-F238E27FC236}">
                <a16:creationId xmlns:a16="http://schemas.microsoft.com/office/drawing/2014/main" id="{31DFB5A0-2649-AA54-AEFC-F1B93D22061C}"/>
              </a:ext>
            </a:extLst>
          </p:cNvPr>
          <p:cNvSpPr/>
          <p:nvPr/>
        </p:nvSpPr>
        <p:spPr>
          <a:xfrm>
            <a:off x="9098280" y="4572000"/>
            <a:ext cx="731520" cy="73152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latin typeface="Montserrat" panose="00000500000000000000" pitchFamily="2" charset="0"/>
              </a:rPr>
              <a:t>Slab</a:t>
            </a:r>
          </a:p>
          <a:p>
            <a:pPr algn="ctr"/>
            <a:r>
              <a:rPr lang="de-CH" sz="900" dirty="0">
                <a:latin typeface="Montserrat" panose="00000500000000000000" pitchFamily="2" charset="0"/>
              </a:rPr>
              <a:t>2 patrols</a:t>
            </a:r>
            <a:endParaRPr lang="en-CH" sz="900" dirty="0">
              <a:latin typeface="Montserrat" panose="00000500000000000000" pitchFamily="2" charset="0"/>
            </a:endParaRPr>
          </a:p>
        </p:txBody>
      </p:sp>
      <p:sp>
        <p:nvSpPr>
          <p:cNvPr id="60" name="bubble SE room">
            <a:extLst>
              <a:ext uri="{FF2B5EF4-FFF2-40B4-BE49-F238E27FC236}">
                <a16:creationId xmlns:a16="http://schemas.microsoft.com/office/drawing/2014/main" id="{DD9DEFC1-24F5-7523-54E7-0CB530D8C4E7}"/>
              </a:ext>
            </a:extLst>
          </p:cNvPr>
          <p:cNvSpPr/>
          <p:nvPr/>
        </p:nvSpPr>
        <p:spPr>
          <a:xfrm>
            <a:off x="9075420" y="3406140"/>
            <a:ext cx="685800" cy="68580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050" b="1" dirty="0">
                <a:latin typeface="Montserrat" panose="00000500000000000000" pitchFamily="2" charset="0"/>
              </a:rPr>
              <a:t>SE room</a:t>
            </a:r>
            <a:endParaRPr lang="en-CH" sz="1050" b="1" dirty="0">
              <a:latin typeface="Montserrat" panose="00000500000000000000" pitchFamily="2" charset="0"/>
            </a:endParaRPr>
          </a:p>
        </p:txBody>
      </p:sp>
      <p:sp>
        <p:nvSpPr>
          <p:cNvPr id="61" name="bubble Exit">
            <a:extLst>
              <a:ext uri="{FF2B5EF4-FFF2-40B4-BE49-F238E27FC236}">
                <a16:creationId xmlns:a16="http://schemas.microsoft.com/office/drawing/2014/main" id="{264A6EAA-01C5-7C97-98D2-355C5F7DFF7E}"/>
              </a:ext>
            </a:extLst>
          </p:cNvPr>
          <p:cNvSpPr/>
          <p:nvPr/>
        </p:nvSpPr>
        <p:spPr>
          <a:xfrm>
            <a:off x="9075420" y="2217420"/>
            <a:ext cx="685800" cy="685800"/>
          </a:xfrm>
          <a:prstGeom prst="ellipse">
            <a:avLst/>
          </a:prstGeom>
          <a:solidFill>
            <a:schemeClr val="accent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solidFill>
                  <a:schemeClr val="dk1"/>
                </a:solidFill>
                <a:latin typeface="Montserrat" panose="00000500000000000000" pitchFamily="2" charset="0"/>
              </a:rPr>
              <a:t>Exit</a:t>
            </a:r>
          </a:p>
          <a:p>
            <a:pPr algn="ctr"/>
            <a:r>
              <a:rPr lang="de-CH" sz="900" dirty="0">
                <a:solidFill>
                  <a:schemeClr val="dk1"/>
                </a:solidFill>
                <a:latin typeface="Montserrat" panose="00000500000000000000" pitchFamily="2" charset="0"/>
              </a:rPr>
              <a:t>to the roof</a:t>
            </a:r>
            <a:endParaRPr lang="en-CH" sz="900" dirty="0">
              <a:solidFill>
                <a:schemeClr val="dk1"/>
              </a:solidFill>
              <a:latin typeface="Montserrat" panose="00000500000000000000" pitchFamily="2" charset="0"/>
            </a:endParaRPr>
          </a:p>
        </p:txBody>
      </p:sp>
      <p:sp>
        <p:nvSpPr>
          <p:cNvPr id="71" name="lock: indoor soldiers dead">
            <a:extLst>
              <a:ext uri="{FF2B5EF4-FFF2-40B4-BE49-F238E27FC236}">
                <a16:creationId xmlns:a16="http://schemas.microsoft.com/office/drawing/2014/main" id="{AEE4953E-EC94-45FD-DB17-8FE341427344}"/>
              </a:ext>
            </a:extLst>
          </p:cNvPr>
          <p:cNvSpPr txBox="1"/>
          <p:nvPr/>
        </p:nvSpPr>
        <p:spPr>
          <a:xfrm>
            <a:off x="7699248" y="3986784"/>
            <a:ext cx="1280160" cy="276999"/>
          </a:xfrm>
          <a:prstGeom prst="rect">
            <a:avLst/>
          </a:prstGeom>
          <a:noFill/>
        </p:spPr>
        <p:txBody>
          <a:bodyPr vert="horz" wrap="square" lIns="0" tIns="0" rIns="0" bIns="0" rtlCol="0" anchor="ctr">
            <a:noAutofit/>
          </a:bodyPr>
          <a:lstStyle/>
          <a:p>
            <a:r>
              <a:rPr lang="de-CH" sz="900" b="1" dirty="0">
                <a:solidFill>
                  <a:srgbClr val="C8102E"/>
                </a:solidFill>
                <a:latin typeface="Montserrat" panose="00000500000000000000" pitchFamily="2" charset="0"/>
              </a:rPr>
              <a:t>indoor soldiers dead</a:t>
            </a:r>
            <a:endParaRPr lang="en-CH" sz="900" b="1" dirty="0">
              <a:solidFill>
                <a:srgbClr val="C8102E"/>
              </a:solidFill>
              <a:latin typeface="Montserrat" panose="00000500000000000000" pitchFamily="2" charset="0"/>
            </a:endParaRPr>
          </a:p>
        </p:txBody>
      </p:sp>
      <p:sp>
        <p:nvSpPr>
          <p:cNvPr id="72" name="lock: both patrols dead">
            <a:extLst>
              <a:ext uri="{FF2B5EF4-FFF2-40B4-BE49-F238E27FC236}">
                <a16:creationId xmlns:a16="http://schemas.microsoft.com/office/drawing/2014/main" id="{9A5BF4AF-F271-B2AC-F192-3F38615E7EC8}"/>
              </a:ext>
            </a:extLst>
          </p:cNvPr>
          <p:cNvSpPr txBox="1"/>
          <p:nvPr/>
        </p:nvSpPr>
        <p:spPr>
          <a:xfrm>
            <a:off x="8979408" y="4224528"/>
            <a:ext cx="1051560" cy="276999"/>
          </a:xfrm>
          <a:prstGeom prst="rect">
            <a:avLst/>
          </a:prstGeom>
          <a:noFill/>
        </p:spPr>
        <p:txBody>
          <a:bodyPr vert="horz" wrap="square" lIns="0" tIns="0" rIns="0" bIns="0" rtlCol="0" anchor="ctr">
            <a:noAutofit/>
          </a:bodyPr>
          <a:lstStyle/>
          <a:p>
            <a:r>
              <a:rPr lang="de-CH" sz="900" b="1" dirty="0">
                <a:solidFill>
                  <a:srgbClr val="C8102E"/>
                </a:solidFill>
                <a:latin typeface="Montserrat" panose="00000500000000000000" pitchFamily="2" charset="0"/>
              </a:rPr>
              <a:t>both patrols dead</a:t>
            </a:r>
            <a:endParaRPr lang="en-CH" sz="900" b="1" dirty="0">
              <a:solidFill>
                <a:srgbClr val="C8102E"/>
              </a:solidFill>
              <a:latin typeface="Montserrat" panose="00000500000000000000" pitchFamily="2" charset="0"/>
            </a:endParaRPr>
          </a:p>
        </p:txBody>
      </p:sp>
      <p:sp>
        <p:nvSpPr>
          <p:cNvPr id="73" name="lock: everyone dead">
            <a:extLst>
              <a:ext uri="{FF2B5EF4-FFF2-40B4-BE49-F238E27FC236}">
                <a16:creationId xmlns:a16="http://schemas.microsoft.com/office/drawing/2014/main" id="{BD9E5280-3BDF-8855-DEDD-886A32B7D27A}"/>
              </a:ext>
            </a:extLst>
          </p:cNvPr>
          <p:cNvSpPr txBox="1"/>
          <p:nvPr/>
        </p:nvSpPr>
        <p:spPr>
          <a:xfrm>
            <a:off x="8275320" y="3072384"/>
            <a:ext cx="1024128" cy="276999"/>
          </a:xfrm>
          <a:prstGeom prst="rect">
            <a:avLst/>
          </a:prstGeom>
          <a:noFill/>
        </p:spPr>
        <p:txBody>
          <a:bodyPr vert="horz" wrap="square" lIns="0" tIns="0" rIns="0" bIns="0" rtlCol="0" anchor="ctr">
            <a:noAutofit/>
          </a:bodyPr>
          <a:lstStyle/>
          <a:p>
            <a:pPr algn="r"/>
            <a:r>
              <a:rPr lang="de-CH" sz="900" b="1" dirty="0">
                <a:solidFill>
                  <a:srgbClr val="C8102E"/>
                </a:solidFill>
                <a:latin typeface="Montserrat" panose="00000500000000000000" pitchFamily="2" charset="0"/>
              </a:rPr>
              <a:t>everyone dead</a:t>
            </a:r>
            <a:endParaRPr lang="en-CH" sz="900" b="1" dirty="0">
              <a:solidFill>
                <a:srgbClr val="C8102E"/>
              </a:solidFill>
              <a:latin typeface="Montserrat" panose="00000500000000000000" pitchFamily="2" charset="0"/>
            </a:endParaRPr>
          </a:p>
        </p:txBody>
      </p:sp>
      <p:sp>
        <p:nvSpPr>
          <p:cNvPr id="74" name="coin slab">
            <a:extLst>
              <a:ext uri="{FF2B5EF4-FFF2-40B4-BE49-F238E27FC236}">
                <a16:creationId xmlns:a16="http://schemas.microsoft.com/office/drawing/2014/main" id="{0A89BF20-9722-7AED-1DB1-81E8359E4C51}"/>
              </a:ext>
            </a:extLst>
          </p:cNvPr>
          <p:cNvSpPr/>
          <p:nvPr/>
        </p:nvSpPr>
        <p:spPr>
          <a:xfrm>
            <a:off x="9608515" y="4555541"/>
            <a:ext cx="237744" cy="237744"/>
          </a:xfrm>
          <a:prstGeom prst="ellipse">
            <a:avLst/>
          </a:prstGeom>
          <a:solidFill>
            <a:srgbClr val="FFC83C"/>
          </a:solidFill>
          <a:ln w="15875">
            <a:solidFill>
              <a:schemeClr val="lt1"/>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lstStyle/>
          <a:p>
            <a:pPr algn="ctr"/>
            <a:r>
              <a:rPr lang="de-CH" sz="800" b="1" dirty="0">
                <a:solidFill>
                  <a:schemeClr val="lt1"/>
                </a:solidFill>
                <a:latin typeface="Montserrat" panose="00000500000000000000" pitchFamily="2" charset="0"/>
              </a:rPr>
              <a:t>C</a:t>
            </a:r>
            <a:endParaRPr lang="en-CH" sz="800" b="1" dirty="0">
              <a:solidFill>
                <a:schemeClr val="lt1"/>
              </a:solidFill>
              <a:latin typeface="Montserrat" panose="00000500000000000000" pitchFamily="2" charset="0"/>
            </a:endParaRPr>
          </a:p>
        </p:txBody>
      </p:sp>
      <p:sp>
        <p:nvSpPr>
          <p:cNvPr id="75" name="entry outside stairs">
            <a:extLst>
              <a:ext uri="{FF2B5EF4-FFF2-40B4-BE49-F238E27FC236}">
                <a16:creationId xmlns:a16="http://schemas.microsoft.com/office/drawing/2014/main" id="{374EE63D-534F-F077-CFAD-10F0A0EA185E}"/>
              </a:ext>
            </a:extLst>
          </p:cNvPr>
          <p:cNvSpPr/>
          <p:nvPr/>
        </p:nvSpPr>
        <p:spPr>
          <a:xfrm>
            <a:off x="10437876" y="1655064"/>
            <a:ext cx="1097280" cy="256032"/>
          </a:xfrm>
          <a:prstGeom prst="roundRect">
            <a:avLst>
              <a:gd name="adj" fmla="val 50000"/>
            </a:avLst>
          </a:prstGeom>
          <a:noFill/>
          <a:ln w="15875" cap="flat" cmpd="sng" algn="ctr">
            <a:solidFill>
              <a:schemeClr val="accent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lstStyle/>
          <a:p>
            <a:pPr algn="ctr"/>
            <a:r>
              <a:rPr lang="de-CH" sz="900" b="1" dirty="0">
                <a:solidFill>
                  <a:schemeClr val="accent1"/>
                </a:solidFill>
                <a:latin typeface="Montserrat" panose="00000500000000000000" pitchFamily="2" charset="0"/>
              </a:rPr>
              <a:t>outside stairs</a:t>
            </a:r>
            <a:endParaRPr lang="en-CH" sz="900" b="1" dirty="0">
              <a:solidFill>
                <a:schemeClr val="accent1"/>
              </a:solidFill>
              <a:latin typeface="Montserrat" panose="00000500000000000000" pitchFamily="2" charset="0"/>
            </a:endParaRPr>
          </a:p>
        </p:txBody>
      </p:sp>
      <p:sp>
        <p:nvSpPr>
          <p:cNvPr id="76" name="bubble Helipad">
            <a:extLst>
              <a:ext uri="{FF2B5EF4-FFF2-40B4-BE49-F238E27FC236}">
                <a16:creationId xmlns:a16="http://schemas.microsoft.com/office/drawing/2014/main" id="{A9EC9ACF-0DE2-CB73-F581-703719BA918B}"/>
              </a:ext>
            </a:extLst>
          </p:cNvPr>
          <p:cNvSpPr/>
          <p:nvPr/>
        </p:nvSpPr>
        <p:spPr>
          <a:xfrm>
            <a:off x="10460736" y="2537460"/>
            <a:ext cx="1051560" cy="1051560"/>
          </a:xfrm>
          <a:prstGeom prst="ellipse">
            <a:avLst/>
          </a:prstGeom>
          <a:solidFill>
            <a:schemeClr val="accent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100" b="1" dirty="0">
                <a:latin typeface="Montserrat" panose="00000500000000000000" pitchFamily="2" charset="0"/>
              </a:rPr>
              <a:t>Helipad</a:t>
            </a:r>
          </a:p>
          <a:p>
            <a:pPr algn="ctr"/>
            <a:r>
              <a:rPr lang="de-CH" sz="900" dirty="0">
                <a:latin typeface="Montserrat" panose="00000500000000000000" pitchFamily="2" charset="0"/>
              </a:rPr>
              <a:t>boss</a:t>
            </a:r>
            <a:endParaRPr lang="en-CH" sz="900" dirty="0">
              <a:latin typeface="Montserrat" panose="00000500000000000000" pitchFamily="2" charset="0"/>
            </a:endParaRPr>
          </a:p>
        </p:txBody>
      </p:sp>
      <p:sp>
        <p:nvSpPr>
          <p:cNvPr id="77" name="bubble Extraction">
            <a:extLst>
              <a:ext uri="{FF2B5EF4-FFF2-40B4-BE49-F238E27FC236}">
                <a16:creationId xmlns:a16="http://schemas.microsoft.com/office/drawing/2014/main" id="{CF2B105D-9673-7E10-BB5A-7C8A66B15841}"/>
              </a:ext>
            </a:extLst>
          </p:cNvPr>
          <p:cNvSpPr/>
          <p:nvPr/>
        </p:nvSpPr>
        <p:spPr>
          <a:xfrm>
            <a:off x="10552176" y="4091940"/>
            <a:ext cx="868680" cy="868680"/>
          </a:xfrm>
          <a:prstGeom prst="ellipse">
            <a:avLst/>
          </a:prstGeom>
          <a:solidFill>
            <a:schemeClr val="accent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noAutofit/>
          </a:bodyPr>
          <a:lstStyle/>
          <a:p>
            <a:pPr algn="ctr"/>
            <a:r>
              <a:rPr lang="de-CH" sz="1000" b="1" dirty="0">
                <a:solidFill>
                  <a:schemeClr val="dk1"/>
                </a:solidFill>
                <a:latin typeface="Montserrat" panose="00000500000000000000" pitchFamily="2" charset="0"/>
              </a:rPr>
              <a:t>Extraction</a:t>
            </a:r>
          </a:p>
          <a:p>
            <a:pPr algn="ctr"/>
            <a:r>
              <a:rPr lang="de-CH" sz="900" dirty="0">
                <a:solidFill>
                  <a:schemeClr val="dk1"/>
                </a:solidFill>
                <a:latin typeface="Montserrat" panose="00000500000000000000" pitchFamily="2" charset="0"/>
              </a:rPr>
              <a:t>helicopter</a:t>
            </a:r>
            <a:endParaRPr lang="en-CH" sz="900" dirty="0">
              <a:solidFill>
                <a:schemeClr val="dk1"/>
              </a:solidFill>
              <a:latin typeface="Montserrat" panose="00000500000000000000" pitchFamily="2" charset="0"/>
            </a:endParaRPr>
          </a:p>
        </p:txBody>
      </p:sp>
      <p:sp>
        <p:nvSpPr>
          <p:cNvPr id="80" name="lock: boss dead">
            <a:extLst>
              <a:ext uri="{FF2B5EF4-FFF2-40B4-BE49-F238E27FC236}">
                <a16:creationId xmlns:a16="http://schemas.microsoft.com/office/drawing/2014/main" id="{071ED364-7EE6-38B4-5A80-0CFB2F4B0567}"/>
              </a:ext>
            </a:extLst>
          </p:cNvPr>
          <p:cNvSpPr txBox="1"/>
          <p:nvPr/>
        </p:nvSpPr>
        <p:spPr>
          <a:xfrm>
            <a:off x="10332720" y="3703320"/>
            <a:ext cx="566928" cy="276999"/>
          </a:xfrm>
          <a:prstGeom prst="rect">
            <a:avLst/>
          </a:prstGeom>
          <a:noFill/>
        </p:spPr>
        <p:txBody>
          <a:bodyPr vert="horz" wrap="square" lIns="0" tIns="0" rIns="0" bIns="0" rtlCol="0" anchor="ctr">
            <a:noAutofit/>
          </a:bodyPr>
          <a:lstStyle/>
          <a:p>
            <a:r>
              <a:rPr lang="de-CH" sz="900" b="1" dirty="0">
                <a:solidFill>
                  <a:srgbClr val="C8102E"/>
                </a:solidFill>
                <a:latin typeface="Montserrat" panose="00000500000000000000" pitchFamily="2" charset="0"/>
              </a:rPr>
              <a:t>boss dead</a:t>
            </a:r>
            <a:endParaRPr lang="en-CH" sz="900" b="1" dirty="0">
              <a:solidFill>
                <a:srgbClr val="C8102E"/>
              </a:solidFill>
              <a:latin typeface="Montserrat" panose="00000500000000000000" pitchFamily="2" charset="0"/>
            </a:endParaRPr>
          </a:p>
        </p:txBody>
      </p:sp>
      <p:sp>
        <p:nvSpPr>
          <p:cNvPr id="81" name="coin pad">
            <a:extLst>
              <a:ext uri="{FF2B5EF4-FFF2-40B4-BE49-F238E27FC236}">
                <a16:creationId xmlns:a16="http://schemas.microsoft.com/office/drawing/2014/main" id="{A033B55B-51CB-815B-92D9-978A1EEAA29A}"/>
              </a:ext>
            </a:extLst>
          </p:cNvPr>
          <p:cNvSpPr/>
          <p:nvPr/>
        </p:nvSpPr>
        <p:spPr>
          <a:xfrm>
            <a:off x="11246206" y="2565806"/>
            <a:ext cx="237743" cy="237744"/>
          </a:xfrm>
          <a:prstGeom prst="ellipse">
            <a:avLst/>
          </a:prstGeom>
          <a:solidFill>
            <a:srgbClr val="FFC83C"/>
          </a:solidFill>
          <a:ln w="15875">
            <a:solidFill>
              <a:schemeClr val="lt1"/>
            </a:solidFill>
          </a:ln>
        </p:spPr>
        <p:style>
          <a:lnRef idx="2">
            <a:schemeClr val="accent1">
              <a:shade val="15000"/>
            </a:schemeClr>
          </a:lnRef>
          <a:fillRef idx="1">
            <a:schemeClr val="accent1"/>
          </a:fillRef>
          <a:effectRef idx="0">
            <a:schemeClr val="accent1"/>
          </a:effectRef>
          <a:fontRef idx="minor">
            <a:schemeClr val="dk1"/>
          </a:fontRef>
        </p:style>
        <p:txBody>
          <a:bodyPr wrap="none" lIns="0" tIns="0" rIns="0" bIns="0" rtlCol="0" anchor="ctr"/>
          <a:lstStyle/>
          <a:p>
            <a:pPr algn="ctr"/>
            <a:r>
              <a:rPr lang="de-CH" sz="800" b="1" dirty="0">
                <a:solidFill>
                  <a:schemeClr val="lt1"/>
                </a:solidFill>
                <a:latin typeface="Montserrat" panose="00000500000000000000" pitchFamily="2" charset="0"/>
              </a:rPr>
              <a:t>C</a:t>
            </a:r>
            <a:endParaRPr lang="en-CH" sz="800" b="1" dirty="0">
              <a:solidFill>
                <a:schemeClr val="lt1"/>
              </a:solidFill>
              <a:latin typeface="Montserrat" panose="00000500000000000000" pitchFamily="2" charset="0"/>
            </a:endParaRPr>
          </a:p>
        </p:txBody>
      </p:sp>
      <p:sp>
        <p:nvSpPr>
          <p:cNvPr id="82" name="legend space (size = how big)">
            <a:extLst>
              <a:ext uri="{FF2B5EF4-FFF2-40B4-BE49-F238E27FC236}">
                <a16:creationId xmlns:a16="http://schemas.microsoft.com/office/drawing/2014/main" id="{833CC15E-C396-EA42-815E-879D28605B94}"/>
              </a:ext>
            </a:extLst>
          </p:cNvPr>
          <p:cNvSpPr/>
          <p:nvPr/>
        </p:nvSpPr>
        <p:spPr>
          <a:xfrm>
            <a:off x="457200" y="5614416"/>
            <a:ext cx="182880" cy="182880"/>
          </a:xfrm>
          <a:prstGeom prst="ellipse">
            <a:avLst/>
          </a:prstGeom>
          <a:solidFill>
            <a:schemeClr val="accent6"/>
          </a:solidFill>
          <a:ln w="12700">
            <a:solidFill>
              <a:schemeClr val="accent5"/>
            </a:solidFill>
          </a:ln>
        </p:spPr>
        <p:style>
          <a:lnRef idx="2">
            <a:schemeClr val="accent1">
              <a:shade val="15000"/>
            </a:schemeClr>
          </a:lnRef>
          <a:fillRef idx="1">
            <a:schemeClr val="accent1"/>
          </a:fillRef>
          <a:effectRef idx="0">
            <a:schemeClr val="accent1"/>
          </a:effectRef>
          <a:fontRef idx="minor">
            <a:schemeClr val="dk1"/>
          </a:fontRef>
        </p:style>
        <p:txBody>
          <a:bodyPr rtlCol="0" anchor="ctr"/>
          <a:lstStyle/>
          <a:p>
            <a:pPr algn="ctr"/>
            <a:endParaRPr lang="en-CH" dirty="0">
              <a:latin typeface="Montserrat" panose="00000500000000000000" pitchFamily="2" charset="0"/>
            </a:endParaRPr>
          </a:p>
        </p:txBody>
      </p:sp>
      <p:sp>
        <p:nvSpPr>
          <p:cNvPr id="83" name="legend text space (size = how big)">
            <a:extLst>
              <a:ext uri="{FF2B5EF4-FFF2-40B4-BE49-F238E27FC236}">
                <a16:creationId xmlns:a16="http://schemas.microsoft.com/office/drawing/2014/main" id="{2E037186-6F6A-128B-D90F-FD47484D37BE}"/>
              </a:ext>
            </a:extLst>
          </p:cNvPr>
          <p:cNvSpPr txBox="1"/>
          <p:nvPr/>
        </p:nvSpPr>
        <p:spPr>
          <a:xfrm>
            <a:off x="713232" y="5596128"/>
            <a:ext cx="1463040" cy="276999"/>
          </a:xfrm>
          <a:prstGeom prst="rect">
            <a:avLst/>
          </a:prstGeom>
          <a:noFill/>
        </p:spPr>
        <p:txBody>
          <a:bodyPr vert="horz" wrap="square" lIns="0" tIns="0" rIns="0" bIns="0" rtlCol="0" anchor="ctr">
            <a:noAutofit/>
          </a:bodyPr>
          <a:lstStyle/>
          <a:p>
            <a:r>
              <a:rPr lang="de-CH" sz="1000" dirty="0">
                <a:solidFill>
                  <a:schemeClr val="dk2"/>
                </a:solidFill>
                <a:latin typeface="Montserrat" panose="00000500000000000000" pitchFamily="2" charset="0"/>
              </a:rPr>
              <a:t>space (size = how big)</a:t>
            </a:r>
            <a:endParaRPr lang="en-CH" sz="1000" dirty="0">
              <a:solidFill>
                <a:schemeClr val="dk2"/>
              </a:solidFill>
              <a:latin typeface="Montserrat" panose="00000500000000000000" pitchFamily="2" charset="0"/>
            </a:endParaRPr>
          </a:p>
        </p:txBody>
      </p:sp>
      <p:sp>
        <p:nvSpPr>
          <p:cNvPr id="84" name="legend pickup">
            <a:extLst>
              <a:ext uri="{FF2B5EF4-FFF2-40B4-BE49-F238E27FC236}">
                <a16:creationId xmlns:a16="http://schemas.microsoft.com/office/drawing/2014/main" id="{892B67C6-2A44-C236-F229-B8834EB27F64}"/>
              </a:ext>
            </a:extLst>
          </p:cNvPr>
          <p:cNvSpPr/>
          <p:nvPr/>
        </p:nvSpPr>
        <p:spPr>
          <a:xfrm>
            <a:off x="2331720" y="5614416"/>
            <a:ext cx="182880" cy="18288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dk1"/>
          </a:fontRef>
        </p:style>
        <p:txBody>
          <a:bodyPr rtlCol="0" anchor="ctr"/>
          <a:lstStyle/>
          <a:p>
            <a:pPr algn="ctr"/>
            <a:endParaRPr lang="en-CH" dirty="0">
              <a:latin typeface="Montserrat" panose="00000500000000000000" pitchFamily="2" charset="0"/>
            </a:endParaRPr>
          </a:p>
        </p:txBody>
      </p:sp>
      <p:sp>
        <p:nvSpPr>
          <p:cNvPr id="85" name="legend text pickup">
            <a:extLst>
              <a:ext uri="{FF2B5EF4-FFF2-40B4-BE49-F238E27FC236}">
                <a16:creationId xmlns:a16="http://schemas.microsoft.com/office/drawing/2014/main" id="{1B440943-FB45-5788-E3FF-F65BA6565FC2}"/>
              </a:ext>
            </a:extLst>
          </p:cNvPr>
          <p:cNvSpPr txBox="1"/>
          <p:nvPr/>
        </p:nvSpPr>
        <p:spPr>
          <a:xfrm>
            <a:off x="2587752" y="5596128"/>
            <a:ext cx="1463040" cy="276999"/>
          </a:xfrm>
          <a:prstGeom prst="rect">
            <a:avLst/>
          </a:prstGeom>
          <a:noFill/>
        </p:spPr>
        <p:txBody>
          <a:bodyPr vert="horz" wrap="square" lIns="0" tIns="0" rIns="0" bIns="0" rtlCol="0" anchor="ctr">
            <a:noAutofit/>
          </a:bodyPr>
          <a:lstStyle/>
          <a:p>
            <a:r>
              <a:rPr lang="de-CH" sz="1000" dirty="0">
                <a:solidFill>
                  <a:schemeClr val="dk2"/>
                </a:solidFill>
                <a:latin typeface="Montserrat" panose="00000500000000000000" pitchFamily="2" charset="0"/>
              </a:rPr>
              <a:t>pickup</a:t>
            </a:r>
            <a:endParaRPr lang="en-CH" sz="1000" dirty="0">
              <a:solidFill>
                <a:schemeClr val="dk2"/>
              </a:solidFill>
              <a:latin typeface="Montserrat" panose="00000500000000000000" pitchFamily="2" charset="0"/>
            </a:endParaRPr>
          </a:p>
        </p:txBody>
      </p:sp>
      <p:sp>
        <p:nvSpPr>
          <p:cNvPr id="86" name="legend trap / boss">
            <a:extLst>
              <a:ext uri="{FF2B5EF4-FFF2-40B4-BE49-F238E27FC236}">
                <a16:creationId xmlns:a16="http://schemas.microsoft.com/office/drawing/2014/main" id="{76DCECB9-1A3E-E216-CCB7-720C49D20253}"/>
              </a:ext>
            </a:extLst>
          </p:cNvPr>
          <p:cNvSpPr/>
          <p:nvPr/>
        </p:nvSpPr>
        <p:spPr>
          <a:xfrm>
            <a:off x="3291840" y="5614416"/>
            <a:ext cx="182880" cy="182880"/>
          </a:xfrm>
          <a:prstGeom prst="ellipse">
            <a:avLst/>
          </a:prstGeom>
          <a:solidFill>
            <a:schemeClr val="accent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dk1"/>
          </a:fontRef>
        </p:style>
        <p:txBody>
          <a:bodyPr rtlCol="0" anchor="ctr"/>
          <a:lstStyle/>
          <a:p>
            <a:pPr algn="ctr"/>
            <a:endParaRPr lang="en-CH" dirty="0">
              <a:latin typeface="Montserrat" panose="00000500000000000000" pitchFamily="2" charset="0"/>
            </a:endParaRPr>
          </a:p>
        </p:txBody>
      </p:sp>
      <p:sp>
        <p:nvSpPr>
          <p:cNvPr id="87" name="legend text trap / boss">
            <a:extLst>
              <a:ext uri="{FF2B5EF4-FFF2-40B4-BE49-F238E27FC236}">
                <a16:creationId xmlns:a16="http://schemas.microsoft.com/office/drawing/2014/main" id="{57A59E54-E4C4-93E7-6856-1C4453D90A4E}"/>
              </a:ext>
            </a:extLst>
          </p:cNvPr>
          <p:cNvSpPr txBox="1"/>
          <p:nvPr/>
        </p:nvSpPr>
        <p:spPr>
          <a:xfrm>
            <a:off x="3547872" y="5596128"/>
            <a:ext cx="1463040" cy="276999"/>
          </a:xfrm>
          <a:prstGeom prst="rect">
            <a:avLst/>
          </a:prstGeom>
          <a:noFill/>
        </p:spPr>
        <p:txBody>
          <a:bodyPr vert="horz" wrap="square" lIns="0" tIns="0" rIns="0" bIns="0" rtlCol="0" anchor="ctr">
            <a:noAutofit/>
          </a:bodyPr>
          <a:lstStyle/>
          <a:p>
            <a:r>
              <a:rPr lang="de-CH" sz="1000" dirty="0">
                <a:solidFill>
                  <a:schemeClr val="dk2"/>
                </a:solidFill>
                <a:latin typeface="Montserrat" panose="00000500000000000000" pitchFamily="2" charset="0"/>
              </a:rPr>
              <a:t>trap / boss</a:t>
            </a:r>
            <a:endParaRPr lang="en-CH" sz="1000" dirty="0">
              <a:solidFill>
                <a:schemeClr val="dk2"/>
              </a:solidFill>
              <a:latin typeface="Montserrat" panose="00000500000000000000" pitchFamily="2" charset="0"/>
            </a:endParaRPr>
          </a:p>
        </p:txBody>
      </p:sp>
      <p:sp>
        <p:nvSpPr>
          <p:cNvPr id="88" name="legend way up / out">
            <a:extLst>
              <a:ext uri="{FF2B5EF4-FFF2-40B4-BE49-F238E27FC236}">
                <a16:creationId xmlns:a16="http://schemas.microsoft.com/office/drawing/2014/main" id="{EE761CC2-CDC4-7815-E183-48C130EC1C2A}"/>
              </a:ext>
            </a:extLst>
          </p:cNvPr>
          <p:cNvSpPr/>
          <p:nvPr/>
        </p:nvSpPr>
        <p:spPr>
          <a:xfrm>
            <a:off x="4526280" y="5614416"/>
            <a:ext cx="182880" cy="182880"/>
          </a:xfrm>
          <a:prstGeom prst="ellipse">
            <a:avLst/>
          </a:prstGeom>
          <a:solidFill>
            <a:schemeClr val="accent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dk1"/>
          </a:fontRef>
        </p:style>
        <p:txBody>
          <a:bodyPr rtlCol="0" anchor="ctr"/>
          <a:lstStyle/>
          <a:p>
            <a:pPr algn="ctr"/>
            <a:endParaRPr lang="en-CH" dirty="0">
              <a:latin typeface="Montserrat" panose="00000500000000000000" pitchFamily="2" charset="0"/>
            </a:endParaRPr>
          </a:p>
        </p:txBody>
      </p:sp>
      <p:sp>
        <p:nvSpPr>
          <p:cNvPr id="89" name="legend text way up / out">
            <a:extLst>
              <a:ext uri="{FF2B5EF4-FFF2-40B4-BE49-F238E27FC236}">
                <a16:creationId xmlns:a16="http://schemas.microsoft.com/office/drawing/2014/main" id="{D2558232-A70B-8C7A-64E0-1AE4322DE350}"/>
              </a:ext>
            </a:extLst>
          </p:cNvPr>
          <p:cNvSpPr txBox="1"/>
          <p:nvPr/>
        </p:nvSpPr>
        <p:spPr>
          <a:xfrm>
            <a:off x="4782312" y="5596128"/>
            <a:ext cx="1463040" cy="276999"/>
          </a:xfrm>
          <a:prstGeom prst="rect">
            <a:avLst/>
          </a:prstGeom>
          <a:noFill/>
        </p:spPr>
        <p:txBody>
          <a:bodyPr vert="horz" wrap="square" lIns="0" tIns="0" rIns="0" bIns="0" rtlCol="0" anchor="ctr">
            <a:noAutofit/>
          </a:bodyPr>
          <a:lstStyle/>
          <a:p>
            <a:r>
              <a:rPr lang="de-CH" sz="1000" dirty="0">
                <a:solidFill>
                  <a:schemeClr val="dk2"/>
                </a:solidFill>
                <a:latin typeface="Montserrat" panose="00000500000000000000" pitchFamily="2" charset="0"/>
              </a:rPr>
              <a:t>way up / out</a:t>
            </a:r>
            <a:endParaRPr lang="en-CH" sz="1000" dirty="0">
              <a:solidFill>
                <a:schemeClr val="dk2"/>
              </a:solidFill>
              <a:latin typeface="Montserrat" panose="00000500000000000000" pitchFamily="2" charset="0"/>
            </a:endParaRPr>
          </a:p>
        </p:txBody>
      </p:sp>
      <p:sp>
        <p:nvSpPr>
          <p:cNvPr id="90" name="legend coin (5, off the route)">
            <a:extLst>
              <a:ext uri="{FF2B5EF4-FFF2-40B4-BE49-F238E27FC236}">
                <a16:creationId xmlns:a16="http://schemas.microsoft.com/office/drawing/2014/main" id="{81E8F158-1366-137E-5C90-698C1BED5AF8}"/>
              </a:ext>
            </a:extLst>
          </p:cNvPr>
          <p:cNvSpPr/>
          <p:nvPr/>
        </p:nvSpPr>
        <p:spPr>
          <a:xfrm>
            <a:off x="5806440" y="5614416"/>
            <a:ext cx="182880" cy="182880"/>
          </a:xfrm>
          <a:prstGeom prst="ellipse">
            <a:avLst/>
          </a:prstGeom>
          <a:solidFill>
            <a:srgbClr val="FFC83C"/>
          </a:solidFill>
          <a:ln>
            <a:solidFill>
              <a:schemeClr val="lt1"/>
            </a:solidFill>
          </a:ln>
        </p:spPr>
        <p:style>
          <a:lnRef idx="2">
            <a:schemeClr val="accent1">
              <a:shade val="15000"/>
            </a:schemeClr>
          </a:lnRef>
          <a:fillRef idx="1">
            <a:schemeClr val="accent1"/>
          </a:fillRef>
          <a:effectRef idx="0">
            <a:schemeClr val="accent1"/>
          </a:effectRef>
          <a:fontRef idx="minor">
            <a:schemeClr val="dk1"/>
          </a:fontRef>
        </p:style>
        <p:txBody>
          <a:bodyPr rtlCol="0" anchor="ctr"/>
          <a:lstStyle/>
          <a:p>
            <a:pPr algn="ctr"/>
            <a:endParaRPr lang="en-CH" dirty="0">
              <a:latin typeface="Montserrat" panose="00000500000000000000" pitchFamily="2" charset="0"/>
            </a:endParaRPr>
          </a:p>
        </p:txBody>
      </p:sp>
      <p:sp>
        <p:nvSpPr>
          <p:cNvPr id="91" name="legend text coin (5, off the route)">
            <a:extLst>
              <a:ext uri="{FF2B5EF4-FFF2-40B4-BE49-F238E27FC236}">
                <a16:creationId xmlns:a16="http://schemas.microsoft.com/office/drawing/2014/main" id="{34C854E2-0D23-8B06-2589-F73C8791F9A4}"/>
              </a:ext>
            </a:extLst>
          </p:cNvPr>
          <p:cNvSpPr txBox="1"/>
          <p:nvPr/>
        </p:nvSpPr>
        <p:spPr>
          <a:xfrm>
            <a:off x="6062472" y="5596128"/>
            <a:ext cx="1463040" cy="276999"/>
          </a:xfrm>
          <a:prstGeom prst="rect">
            <a:avLst/>
          </a:prstGeom>
          <a:noFill/>
        </p:spPr>
        <p:txBody>
          <a:bodyPr vert="horz" wrap="square" lIns="0" tIns="0" rIns="0" bIns="0" rtlCol="0" anchor="ctr">
            <a:noAutofit/>
          </a:bodyPr>
          <a:lstStyle/>
          <a:p>
            <a:r>
              <a:rPr lang="en-GB" sz="1000" dirty="0">
                <a:solidFill>
                  <a:schemeClr val="dk2"/>
                </a:solidFill>
                <a:latin typeface="Montserrat" panose="00000500000000000000" pitchFamily="2" charset="0"/>
              </a:rPr>
              <a:t>coin (5, off the route)</a:t>
            </a:r>
            <a:endParaRPr lang="en-CH" sz="1000" dirty="0">
              <a:solidFill>
                <a:schemeClr val="dk2"/>
              </a:solidFill>
              <a:latin typeface="Montserrat" panose="00000500000000000000" pitchFamily="2" charset="0"/>
            </a:endParaRPr>
          </a:p>
        </p:txBody>
      </p:sp>
      <p:cxnSp>
        <p:nvCxnSpPr>
          <p:cNvPr id="92" name="legend open way">
            <a:extLst>
              <a:ext uri="{FF2B5EF4-FFF2-40B4-BE49-F238E27FC236}">
                <a16:creationId xmlns:a16="http://schemas.microsoft.com/office/drawing/2014/main" id="{51262966-A651-2D64-F50B-1C6293B60386}"/>
              </a:ext>
            </a:extLst>
          </p:cNvPr>
          <p:cNvCxnSpPr/>
          <p:nvPr/>
        </p:nvCxnSpPr>
        <p:spPr>
          <a:xfrm>
            <a:off x="7818120" y="5705856"/>
            <a:ext cx="365760" cy="0"/>
          </a:xfrm>
          <a:prstGeom prst="line">
            <a:avLst/>
          </a:prstGeom>
          <a:ln w="28575">
            <a:solidFill>
              <a:schemeClr val="accent1"/>
            </a:solidFill>
            <a:tailEnd type="triangle" w="med" len="sm"/>
          </a:ln>
        </p:spPr>
        <p:style>
          <a:lnRef idx="1">
            <a:schemeClr val="accent1"/>
          </a:lnRef>
          <a:fillRef idx="0">
            <a:schemeClr val="accent1"/>
          </a:fillRef>
          <a:effectRef idx="0">
            <a:schemeClr val="accent1"/>
          </a:effectRef>
          <a:fontRef idx="minor">
            <a:schemeClr val="bg1"/>
          </a:fontRef>
        </p:style>
      </p:cxnSp>
      <p:sp>
        <p:nvSpPr>
          <p:cNvPr id="93" name="legend text open way">
            <a:extLst>
              <a:ext uri="{FF2B5EF4-FFF2-40B4-BE49-F238E27FC236}">
                <a16:creationId xmlns:a16="http://schemas.microsoft.com/office/drawing/2014/main" id="{D369D603-C379-A0DC-D9EF-3F458F41C975}"/>
              </a:ext>
            </a:extLst>
          </p:cNvPr>
          <p:cNvSpPr txBox="1"/>
          <p:nvPr/>
        </p:nvSpPr>
        <p:spPr>
          <a:xfrm>
            <a:off x="8275320" y="5596128"/>
            <a:ext cx="2011680" cy="276999"/>
          </a:xfrm>
          <a:prstGeom prst="rect">
            <a:avLst/>
          </a:prstGeom>
          <a:noFill/>
        </p:spPr>
        <p:txBody>
          <a:bodyPr vert="horz" wrap="square" lIns="0" tIns="0" rIns="0" bIns="0" rtlCol="0" anchor="ctr">
            <a:noAutofit/>
          </a:bodyPr>
          <a:lstStyle/>
          <a:p>
            <a:r>
              <a:rPr lang="de-CH" sz="1000" dirty="0">
                <a:solidFill>
                  <a:schemeClr val="dk2"/>
                </a:solidFill>
                <a:latin typeface="Montserrat" panose="00000500000000000000" pitchFamily="2" charset="0"/>
              </a:rPr>
              <a:t>open way</a:t>
            </a:r>
            <a:endParaRPr lang="en-CH" sz="1000" dirty="0">
              <a:solidFill>
                <a:schemeClr val="dk2"/>
              </a:solidFill>
              <a:latin typeface="Montserrat" panose="00000500000000000000" pitchFamily="2" charset="0"/>
            </a:endParaRPr>
          </a:p>
        </p:txBody>
      </p:sp>
      <p:cxnSp>
        <p:nvCxnSpPr>
          <p:cNvPr id="94" name="legend locked until ...">
            <a:extLst>
              <a:ext uri="{FF2B5EF4-FFF2-40B4-BE49-F238E27FC236}">
                <a16:creationId xmlns:a16="http://schemas.microsoft.com/office/drawing/2014/main" id="{3B094606-60CA-BCF5-170F-DE348ADEA106}"/>
              </a:ext>
            </a:extLst>
          </p:cNvPr>
          <p:cNvCxnSpPr/>
          <p:nvPr/>
        </p:nvCxnSpPr>
        <p:spPr>
          <a:xfrm>
            <a:off x="9235440" y="5705856"/>
            <a:ext cx="365760" cy="0"/>
          </a:xfrm>
          <a:prstGeom prst="line">
            <a:avLst/>
          </a:prstGeom>
          <a:ln w="28575">
            <a:solidFill>
              <a:schemeClr val="accent2"/>
            </a:solidFill>
            <a:prstDash val="dash"/>
            <a:tailEnd type="triangle" w="med" len="sm"/>
          </a:ln>
        </p:spPr>
        <p:style>
          <a:lnRef idx="1">
            <a:schemeClr val="accent1"/>
          </a:lnRef>
          <a:fillRef idx="0">
            <a:schemeClr val="accent1"/>
          </a:fillRef>
          <a:effectRef idx="0">
            <a:schemeClr val="accent1"/>
          </a:effectRef>
          <a:fontRef idx="minor">
            <a:schemeClr val="bg1"/>
          </a:fontRef>
        </p:style>
      </p:cxnSp>
      <p:sp>
        <p:nvSpPr>
          <p:cNvPr id="95" name="legend text locked until ...">
            <a:extLst>
              <a:ext uri="{FF2B5EF4-FFF2-40B4-BE49-F238E27FC236}">
                <a16:creationId xmlns:a16="http://schemas.microsoft.com/office/drawing/2014/main" id="{DB34E6B6-883D-C2DA-2197-3CB8C23D2E32}"/>
              </a:ext>
            </a:extLst>
          </p:cNvPr>
          <p:cNvSpPr txBox="1"/>
          <p:nvPr/>
        </p:nvSpPr>
        <p:spPr>
          <a:xfrm>
            <a:off x="9692640" y="5596128"/>
            <a:ext cx="2011680" cy="276999"/>
          </a:xfrm>
          <a:prstGeom prst="rect">
            <a:avLst/>
          </a:prstGeom>
          <a:noFill/>
        </p:spPr>
        <p:txBody>
          <a:bodyPr vert="horz" wrap="square" lIns="0" tIns="0" rIns="0" bIns="0" rtlCol="0" anchor="ctr">
            <a:noAutofit/>
          </a:bodyPr>
          <a:lstStyle/>
          <a:p>
            <a:r>
              <a:rPr lang="de-CH" sz="1000" dirty="0">
                <a:solidFill>
                  <a:schemeClr val="dk2"/>
                </a:solidFill>
                <a:latin typeface="Montserrat" panose="00000500000000000000" pitchFamily="2" charset="0"/>
              </a:rPr>
              <a:t>locked until ...</a:t>
            </a:r>
            <a:endParaRPr lang="en-CH" sz="1000" dirty="0">
              <a:solidFill>
                <a:schemeClr val="dk2"/>
              </a:solidFill>
              <a:latin typeface="Montserrat" panose="00000500000000000000" pitchFamily="2" charset="0"/>
            </a:endParaRPr>
          </a:p>
        </p:txBody>
      </p:sp>
      <p:sp>
        <p:nvSpPr>
          <p:cNvPr id="96" name="takeaway">
            <a:extLst>
              <a:ext uri="{FF2B5EF4-FFF2-40B4-BE49-F238E27FC236}">
                <a16:creationId xmlns:a16="http://schemas.microsoft.com/office/drawing/2014/main" id="{64BAF458-8066-E5CC-920B-D924971AE899}"/>
              </a:ext>
            </a:extLst>
          </p:cNvPr>
          <p:cNvSpPr txBox="1"/>
          <p:nvPr/>
        </p:nvSpPr>
        <p:spPr>
          <a:xfrm>
            <a:off x="457200" y="5989320"/>
            <a:ext cx="11274552" cy="276999"/>
          </a:xfrm>
          <a:prstGeom prst="rect">
            <a:avLst/>
          </a:prstGeom>
          <a:noFill/>
        </p:spPr>
        <p:txBody>
          <a:bodyPr vert="horz" wrap="square" lIns="0" tIns="0" rIns="0" bIns="0" rtlCol="0" anchor="ctr">
            <a:noAutofit/>
          </a:bodyPr>
          <a:lstStyle/>
          <a:p>
            <a:r>
              <a:rPr lang="en-GB" sz="1300" dirty="0">
                <a:solidFill>
                  <a:schemeClr val="accent5"/>
                </a:solidFill>
                <a:latin typeface="Montserrat" panose="00000500000000000000" pitchFamily="2" charset="0"/>
              </a:rPr>
              <a:t>Every floor is a hub or a loop with one locked way up, so the layout itself sets the order: trap, key, robot, boss.</a:t>
            </a:r>
            <a:endParaRPr lang="en-CH" sz="1300" dirty="0">
              <a:solidFill>
                <a:schemeClr val="accent5"/>
              </a:solidFill>
              <a:latin typeface="Montserrat" panose="00000500000000000000" pitchFamily="2" charset="0"/>
            </a:endParaRPr>
          </a:p>
        </p:txBody>
      </p:sp>
    </p:spTree>
    <p:extLst>
      <p:ext uri="{BB962C8B-B14F-4D97-AF65-F5344CB8AC3E}">
        <p14:creationId xmlns:p14="http://schemas.microsoft.com/office/powerpoint/2010/main" val="1989655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40080"/>
          </a:xfrm>
          <a:prstGeom prst="rect">
            <a:avLst/>
          </a:prstGeom>
          <a:noFill/>
          <a:ln/>
        </p:spPr>
        <p:txBody>
          <a:bodyPr wrap="square" lIns="0" tIns="0" rIns="0" bIns="0" rtlCol="0" anchor="ctr"/>
          <a:lstStyle/>
          <a:p>
            <a:pPr marL="0" indent="0" algn="l">
              <a:buNone/>
            </a:pPr>
            <a:r>
              <a:rPr lang="en-US" sz="3200" dirty="0">
                <a:solidFill>
                  <a:schemeClr val="tx1"/>
                </a:solidFill>
              </a:rPr>
              <a:t>Level 1 · The lockdown</a:t>
            </a:r>
            <a:endParaRPr lang="en-US" sz="3200" dirty="0"/>
          </a:p>
        </p:txBody>
      </p:sp>
      <p:pic>
        <p:nvPicPr>
          <p:cNvPr id="3" name="map level 1" descr="C:\Users\at488\AppData\Local\Temp\claude\C--Users-at488-OneDrive---Hochschule-Luzern-Desktop-Level-World-Design-\cc816706-66e7-4f21-b274-83f61f88f670\scratchpad\deck\maps\map_L1_ground_floor_slide.png"/>
          <p:cNvPicPr>
            <a:picLocks noChangeAspect="1"/>
          </p:cNvPicPr>
          <p:nvPr/>
        </p:nvPicPr>
        <p:blipFill>
          <a:blip r:embed="rId3"/>
          <a:stretch>
            <a:fillRect/>
          </a:stretch>
        </p:blipFill>
        <p:spPr>
          <a:xfrm>
            <a:off x="457200" y="1097280"/>
            <a:ext cx="4791456" cy="5248656"/>
          </a:xfrm>
          <a:prstGeom prst="rect">
            <a:avLst/>
          </a:prstGeom>
        </p:spPr>
      </p:pic>
      <p:sp>
        <p:nvSpPr>
          <p:cNvPr id="4" name="beat number 1"/>
          <p:cNvSpPr txBox="1"/>
          <p:nvPr/>
        </p:nvSpPr>
        <p:spPr>
          <a:xfrm>
            <a:off x="5577840" y="1161288"/>
            <a:ext cx="347472" cy="347472"/>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1</a:t>
            </a:r>
            <a:endParaRPr lang="en-US" sz="1400" dirty="0">
              <a:latin typeface="Montserrat" panose="00000500000000000000" pitchFamily="2" charset="0"/>
            </a:endParaRPr>
          </a:p>
        </p:txBody>
      </p:sp>
      <p:sp>
        <p:nvSpPr>
          <p:cNvPr id="5" name="beat 1"/>
          <p:cNvSpPr txBox="1"/>
          <p:nvPr/>
        </p:nvSpPr>
        <p:spPr>
          <a:xfrm>
            <a:off x="6080760" y="1143000"/>
            <a:ext cx="5669280" cy="402336"/>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Pistol outside the door, the tower is quiet</a:t>
            </a:r>
            <a:endParaRPr lang="en-US" sz="1500" dirty="0">
              <a:latin typeface="Montserrat" panose="00000500000000000000" pitchFamily="2" charset="0"/>
            </a:endParaRPr>
          </a:p>
        </p:txBody>
      </p:sp>
      <p:sp>
        <p:nvSpPr>
          <p:cNvPr id="6" name="beat number 2"/>
          <p:cNvSpPr txBox="1"/>
          <p:nvPr/>
        </p:nvSpPr>
        <p:spPr>
          <a:xfrm>
            <a:off x="5577840" y="1600200"/>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latin typeface="Montserrat" panose="00000500000000000000" pitchFamily="2" charset="0"/>
              </a:rPr>
              <a:t>2</a:t>
            </a:r>
            <a:endParaRPr lang="en-US" sz="1400" dirty="0">
              <a:latin typeface="Montserrat" panose="00000500000000000000" pitchFamily="2" charset="0"/>
            </a:endParaRPr>
          </a:p>
        </p:txBody>
      </p:sp>
      <p:sp>
        <p:nvSpPr>
          <p:cNvPr id="7" name="beat 2"/>
          <p:cNvSpPr txBox="1"/>
          <p:nvPr/>
        </p:nvSpPr>
        <p:spPr>
          <a:xfrm>
            <a:off x="6080760" y="1581912"/>
            <a:ext cx="5669280" cy="402336"/>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The trap springs: shutter down, siren, red light</a:t>
            </a:r>
            <a:endParaRPr lang="en-US" sz="1500" dirty="0">
              <a:latin typeface="Montserrat" panose="00000500000000000000" pitchFamily="2" charset="0"/>
            </a:endParaRPr>
          </a:p>
        </p:txBody>
      </p:sp>
      <p:sp>
        <p:nvSpPr>
          <p:cNvPr id="8" name="beat number 3"/>
          <p:cNvSpPr txBox="1"/>
          <p:nvPr/>
        </p:nvSpPr>
        <p:spPr>
          <a:xfrm>
            <a:off x="5577840" y="2039112"/>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latin typeface="Montserrat" panose="00000500000000000000" pitchFamily="2" charset="0"/>
              </a:rPr>
              <a:t>3</a:t>
            </a:r>
            <a:endParaRPr lang="en-US" sz="1400" dirty="0">
              <a:latin typeface="Montserrat" panose="00000500000000000000" pitchFamily="2" charset="0"/>
            </a:endParaRPr>
          </a:p>
        </p:txBody>
      </p:sp>
      <p:sp>
        <p:nvSpPr>
          <p:cNvPr id="9" name="beat 3"/>
          <p:cNvSpPr txBox="1"/>
          <p:nvPr/>
        </p:nvSpPr>
        <p:spPr>
          <a:xfrm>
            <a:off x="6080760" y="2020824"/>
            <a:ext cx="5669280" cy="402336"/>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Every soldier hunts you. The camera in Room A can set it off first</a:t>
            </a:r>
            <a:endParaRPr lang="en-US" sz="1500" dirty="0">
              <a:latin typeface="Montserrat" panose="00000500000000000000" pitchFamily="2" charset="0"/>
            </a:endParaRPr>
          </a:p>
        </p:txBody>
      </p:sp>
      <p:sp>
        <p:nvSpPr>
          <p:cNvPr id="10" name="beat number 4"/>
          <p:cNvSpPr txBox="1"/>
          <p:nvPr/>
        </p:nvSpPr>
        <p:spPr>
          <a:xfrm>
            <a:off x="5577840" y="2478024"/>
            <a:ext cx="347472" cy="347472"/>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4</a:t>
            </a:r>
            <a:endParaRPr lang="en-US" sz="1400" dirty="0">
              <a:latin typeface="Montserrat" panose="00000500000000000000" pitchFamily="2" charset="0"/>
            </a:endParaRPr>
          </a:p>
        </p:txBody>
      </p:sp>
      <p:sp>
        <p:nvSpPr>
          <p:cNvPr id="11" name="beat 4"/>
          <p:cNvSpPr txBox="1"/>
          <p:nvPr/>
        </p:nvSpPr>
        <p:spPr>
          <a:xfrm>
            <a:off x="6080760" y="2459736"/>
            <a:ext cx="5669280" cy="402336"/>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Rooms A → B → C: the left door stays locked, one way on</a:t>
            </a:r>
            <a:endParaRPr lang="en-US" sz="1500" dirty="0">
              <a:latin typeface="Montserrat" panose="00000500000000000000" pitchFamily="2" charset="0"/>
            </a:endParaRPr>
          </a:p>
        </p:txBody>
      </p:sp>
      <p:sp>
        <p:nvSpPr>
          <p:cNvPr id="12" name="beat number 5"/>
          <p:cNvSpPr txBox="1"/>
          <p:nvPr/>
        </p:nvSpPr>
        <p:spPr>
          <a:xfrm>
            <a:off x="5577840" y="2916936"/>
            <a:ext cx="347472" cy="347472"/>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5</a:t>
            </a:r>
            <a:endParaRPr lang="en-US" sz="1400" dirty="0">
              <a:latin typeface="Montserrat" panose="00000500000000000000" pitchFamily="2" charset="0"/>
            </a:endParaRPr>
          </a:p>
        </p:txBody>
      </p:sp>
      <p:sp>
        <p:nvSpPr>
          <p:cNvPr id="13" name="beat 5"/>
          <p:cNvSpPr txBox="1"/>
          <p:nvPr/>
        </p:nvSpPr>
        <p:spPr>
          <a:xfrm>
            <a:off x="6080760" y="2898648"/>
            <a:ext cx="5669280" cy="402336"/>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West Wing into the turret hall</a:t>
            </a:r>
            <a:endParaRPr lang="en-US" sz="1500" dirty="0">
              <a:latin typeface="Montserrat" panose="00000500000000000000" pitchFamily="2" charset="0"/>
            </a:endParaRPr>
          </a:p>
        </p:txBody>
      </p:sp>
      <p:sp>
        <p:nvSpPr>
          <p:cNvPr id="14" name="beat number 6"/>
          <p:cNvSpPr txBox="1"/>
          <p:nvPr/>
        </p:nvSpPr>
        <p:spPr>
          <a:xfrm>
            <a:off x="5577840" y="3355848"/>
            <a:ext cx="347472" cy="347472"/>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6</a:t>
            </a:r>
            <a:endParaRPr lang="en-US" sz="1400" dirty="0">
              <a:latin typeface="Montserrat" panose="00000500000000000000" pitchFamily="2" charset="0"/>
            </a:endParaRPr>
          </a:p>
        </p:txBody>
      </p:sp>
      <p:sp>
        <p:nvSpPr>
          <p:cNvPr id="15" name="beat 6"/>
          <p:cNvSpPr txBox="1"/>
          <p:nvPr/>
        </p:nvSpPr>
        <p:spPr>
          <a:xfrm>
            <a:off x="6080760" y="3337560"/>
            <a:ext cx="5669280" cy="402336"/>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Turret down, floor clear: the alarm stops</a:t>
            </a:r>
            <a:endParaRPr lang="en-US" sz="1500" dirty="0">
              <a:latin typeface="Montserrat" panose="00000500000000000000" pitchFamily="2" charset="0"/>
            </a:endParaRPr>
          </a:p>
        </p:txBody>
      </p:sp>
      <p:sp>
        <p:nvSpPr>
          <p:cNvPr id="16" name="beat number 7"/>
          <p:cNvSpPr txBox="1"/>
          <p:nvPr/>
        </p:nvSpPr>
        <p:spPr>
          <a:xfrm>
            <a:off x="5577840" y="3794760"/>
            <a:ext cx="347472" cy="347472"/>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7</a:t>
            </a:r>
            <a:endParaRPr lang="en-US" sz="1400" dirty="0">
              <a:latin typeface="Montserrat" panose="00000500000000000000" pitchFamily="2" charset="0"/>
            </a:endParaRPr>
          </a:p>
        </p:txBody>
      </p:sp>
      <p:sp>
        <p:nvSpPr>
          <p:cNvPr id="17" name="beat 7"/>
          <p:cNvSpPr txBox="1"/>
          <p:nvPr/>
        </p:nvSpPr>
        <p:spPr>
          <a:xfrm>
            <a:off x="6080760" y="3776472"/>
            <a:ext cx="5669280" cy="402336"/>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The shutter rolls up, the stairs open</a:t>
            </a:r>
            <a:endParaRPr lang="en-US" sz="1500" dirty="0">
              <a:latin typeface="Montserrat" panose="00000500000000000000" pitchFamily="2" charset="0"/>
            </a:endParaRPr>
          </a:p>
        </p:txBody>
      </p:sp>
      <p:pic>
        <p:nvPicPr>
          <p:cNvPr id="18" name="alarm screenshot" descr="C:\Users\at488\AppData\Local\Temp\claude\C--Users-at488-OneDrive---Hochschule-Luzern-Desktop-Level-World-Design-\cc816706-66e7-4f21-b274-83f61f88f670\scratchpad\deck\screenshots\hud_alarm.png"/>
          <p:cNvPicPr>
            <a:picLocks noChangeAspect="1"/>
          </p:cNvPicPr>
          <p:nvPr/>
        </p:nvPicPr>
        <p:blipFill>
          <a:blip r:embed="rId4"/>
          <a:stretch>
            <a:fillRect/>
          </a:stretch>
        </p:blipFill>
        <p:spPr>
          <a:xfrm>
            <a:off x="5577840" y="4343400"/>
            <a:ext cx="3291840" cy="1856232"/>
          </a:xfrm>
          <a:prstGeom prst="rect">
            <a:avLst/>
          </a:prstGeom>
        </p:spPr>
      </p:pic>
      <p:sp>
        <p:nvSpPr>
          <p:cNvPr id="19" name="Text 15"/>
          <p:cNvSpPr txBox="1"/>
          <p:nvPr/>
        </p:nvSpPr>
        <p:spPr>
          <a:xfrm>
            <a:off x="5577840" y="6217920"/>
            <a:ext cx="3291840" cy="274320"/>
          </a:xfrm>
          <a:prstGeom prst="rect">
            <a:avLst/>
          </a:prstGeom>
          <a:noFill/>
          <a:ln/>
        </p:spPr>
        <p:txBody>
          <a:bodyPr wrap="square" lIns="0" tIns="0" rIns="0" bIns="0" rtlCol="0" anchor="ctr"/>
          <a:lstStyle/>
          <a:p>
            <a:pPr marL="0" indent="0">
              <a:buNone/>
            </a:pPr>
            <a:r>
              <a:rPr lang="en-US" sz="1100" i="1" dirty="0">
                <a:solidFill>
                  <a:schemeClr val="accent5"/>
                </a:solidFill>
                <a:latin typeface="Montserrat" panose="00000500000000000000" pitchFamily="2" charset="0"/>
              </a:rPr>
              <a:t>In game: “Spotted! Lockdown”</a:t>
            </a:r>
            <a:endParaRPr lang="en-US" sz="1100" dirty="0">
              <a:latin typeface="Montserrat" panose="00000500000000000000" pitchFamily="2" charset="0"/>
            </a:endParaRPr>
          </a:p>
        </p:txBody>
      </p:sp>
      <p:sp>
        <p:nvSpPr>
          <p:cNvPr id="20" name="Text 16"/>
          <p:cNvSpPr txBox="1"/>
          <p:nvPr/>
        </p:nvSpPr>
        <p:spPr>
          <a:xfrm>
            <a:off x="9235440" y="4343400"/>
            <a:ext cx="2468880" cy="274320"/>
          </a:xfrm>
          <a:prstGeom prst="rect">
            <a:avLst/>
          </a:prstGeom>
          <a:noFill/>
          <a:ln/>
        </p:spPr>
        <p:txBody>
          <a:bodyPr wrap="square" lIns="0" tIns="0" rIns="0" bIns="0" rtlCol="0" anchor="ctr"/>
          <a:lstStyle/>
          <a:p>
            <a:pPr marL="0" indent="0">
              <a:buNone/>
            </a:pPr>
            <a:r>
              <a:rPr lang="en-US" sz="1200" b="1" dirty="0">
                <a:solidFill>
                  <a:schemeClr val="accent5"/>
                </a:solidFill>
                <a:latin typeface="Montserrat" panose="00000500000000000000" pitchFamily="2" charset="0"/>
              </a:rPr>
              <a:t>EMOTION</a:t>
            </a:r>
            <a:endParaRPr lang="en-US" sz="1200" dirty="0">
              <a:latin typeface="Montserrat" panose="00000500000000000000" pitchFamily="2" charset="0"/>
            </a:endParaRPr>
          </a:p>
        </p:txBody>
      </p:sp>
      <p:sp>
        <p:nvSpPr>
          <p:cNvPr id="21" name="pill Curiosity"/>
          <p:cNvSpPr txBox="1"/>
          <p:nvPr/>
        </p:nvSpPr>
        <p:spPr>
          <a:xfrm>
            <a:off x="9235440" y="4663440"/>
            <a:ext cx="1463040" cy="310896"/>
          </a:xfrm>
          <a:prstGeom prst="roundRect">
            <a:avLst>
              <a:gd name="adj" fmla="val 50000"/>
            </a:avLst>
          </a:prstGeom>
          <a:solidFill>
            <a:schemeClr val="accent4"/>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CURIOSITY</a:t>
            </a:r>
            <a:endParaRPr lang="en-US" sz="1200" dirty="0">
              <a:latin typeface="Montserrat" panose="00000500000000000000" pitchFamily="2" charset="0"/>
            </a:endParaRPr>
          </a:p>
        </p:txBody>
      </p:sp>
      <p:sp>
        <p:nvSpPr>
          <p:cNvPr id="22" name="pill Shock"/>
          <p:cNvSpPr txBox="1"/>
          <p:nvPr/>
        </p:nvSpPr>
        <p:spPr>
          <a:xfrm>
            <a:off x="9235440" y="5010912"/>
            <a:ext cx="1463040"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latin typeface="Montserrat" panose="00000500000000000000" pitchFamily="2" charset="0"/>
              </a:rPr>
              <a:t>SHOCK</a:t>
            </a:r>
            <a:endParaRPr lang="en-US" sz="1200" dirty="0">
              <a:latin typeface="Montserrat" panose="00000500000000000000" pitchFamily="2" charset="0"/>
            </a:endParaRPr>
          </a:p>
        </p:txBody>
      </p:sp>
      <p:sp>
        <p:nvSpPr>
          <p:cNvPr id="23" name="pill Hunted"/>
          <p:cNvSpPr txBox="1"/>
          <p:nvPr/>
        </p:nvSpPr>
        <p:spPr>
          <a:xfrm>
            <a:off x="9235440" y="5358384"/>
            <a:ext cx="1463040"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latin typeface="Montserrat" panose="00000500000000000000" pitchFamily="2" charset="0"/>
              </a:rPr>
              <a:t>HUNTED</a:t>
            </a:r>
            <a:endParaRPr lang="en-US" sz="1200" dirty="0">
              <a:latin typeface="Montserrat" panose="00000500000000000000" pitchFamily="2" charset="0"/>
            </a:endParaRPr>
          </a:p>
        </p:txBody>
      </p:sp>
      <p:sp>
        <p:nvSpPr>
          <p:cNvPr id="24" name="pill Control"/>
          <p:cNvSpPr txBox="1"/>
          <p:nvPr/>
        </p:nvSpPr>
        <p:spPr>
          <a:xfrm>
            <a:off x="9235440" y="5705856"/>
            <a:ext cx="1463040" cy="310896"/>
          </a:xfrm>
          <a:prstGeom prst="roundRect">
            <a:avLst>
              <a:gd name="adj" fmla="val 50000"/>
            </a:avLst>
          </a:prstGeom>
          <a:solidFill>
            <a:schemeClr val="accent1"/>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CONTROL</a:t>
            </a:r>
            <a:endParaRPr lang="en-US" sz="1200" dirty="0">
              <a:latin typeface="Montserrat" panose="00000500000000000000" pitchFamily="2" charset="0"/>
            </a:endParaRPr>
          </a:p>
        </p:txBody>
      </p:sp>
      <p:sp>
        <p:nvSpPr>
          <p:cNvPr id="25" name="pill Relief"/>
          <p:cNvSpPr txBox="1"/>
          <p:nvPr/>
        </p:nvSpPr>
        <p:spPr>
          <a:xfrm>
            <a:off x="9235440" y="6053328"/>
            <a:ext cx="1463040"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RELIEF</a:t>
            </a:r>
            <a:endParaRPr lang="en-US" sz="1200" dirty="0">
              <a:latin typeface="Montserrat" panose="00000500000000000000" pitchFamily="2" charset="0"/>
            </a:endParaRPr>
          </a:p>
        </p:txBody>
      </p:sp>
      <p:sp>
        <p:nvSpPr>
          <p:cNvPr id="26"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F9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40080"/>
          </a:xfrm>
          <a:prstGeom prst="rect">
            <a:avLst/>
          </a:prstGeom>
          <a:noFill/>
          <a:ln/>
        </p:spPr>
        <p:txBody>
          <a:bodyPr wrap="square" lIns="0" tIns="0" rIns="0" bIns="0" rtlCol="0" anchor="ctr"/>
          <a:lstStyle/>
          <a:p>
            <a:pPr marL="0" indent="0" algn="l">
              <a:buNone/>
            </a:pPr>
            <a:r>
              <a:rPr lang="en-US" sz="3200" dirty="0">
                <a:solidFill>
                  <a:schemeClr val="tx1"/>
                </a:solidFill>
              </a:rPr>
              <a:t>Level 2 · The armory: rifle and key</a:t>
            </a:r>
            <a:endParaRPr lang="en-US" sz="3200" dirty="0"/>
          </a:p>
        </p:txBody>
      </p:sp>
      <p:pic>
        <p:nvPicPr>
          <p:cNvPr id="3" name="map level 2" descr="C:\Users\at488\AppData\Local\Temp\claude\C--Users-at488-OneDrive---Hochschule-Luzern-Desktop-Level-World-Design-\cc816706-66e7-4f21-b274-83f61f88f670\scratchpad\deck\maps\map_L2_armory_slide.png"/>
          <p:cNvPicPr>
            <a:picLocks noChangeAspect="1"/>
          </p:cNvPicPr>
          <p:nvPr/>
        </p:nvPicPr>
        <p:blipFill>
          <a:blip r:embed="rId3"/>
          <a:stretch>
            <a:fillRect/>
          </a:stretch>
        </p:blipFill>
        <p:spPr>
          <a:xfrm>
            <a:off x="457200" y="1097280"/>
            <a:ext cx="5285232" cy="5248656"/>
          </a:xfrm>
          <a:prstGeom prst="rect">
            <a:avLst/>
          </a:prstGeom>
        </p:spPr>
      </p:pic>
      <p:sp>
        <p:nvSpPr>
          <p:cNvPr id="4" name="beat number 1"/>
          <p:cNvSpPr txBox="1"/>
          <p:nvPr/>
        </p:nvSpPr>
        <p:spPr>
          <a:xfrm>
            <a:off x="6080760" y="1161288"/>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latin typeface="Montserrat" panose="00000500000000000000" pitchFamily="2" charset="0"/>
              </a:rPr>
              <a:t>1</a:t>
            </a:r>
            <a:endParaRPr lang="en-US" sz="1400" dirty="0">
              <a:latin typeface="Montserrat" panose="00000500000000000000" pitchFamily="2" charset="0"/>
            </a:endParaRPr>
          </a:p>
        </p:txBody>
      </p:sp>
      <p:sp>
        <p:nvSpPr>
          <p:cNvPr id="5" name="beat 1"/>
          <p:cNvSpPr txBox="1"/>
          <p:nvPr/>
        </p:nvSpPr>
        <p:spPr>
          <a:xfrm>
            <a:off x="6583680" y="1143000"/>
            <a:ext cx="5166360" cy="466344"/>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Up the stairs into the hall: soldiers, two turrets, drones</a:t>
            </a:r>
            <a:endParaRPr lang="en-US" sz="1500" dirty="0">
              <a:latin typeface="Montserrat" panose="00000500000000000000" pitchFamily="2" charset="0"/>
            </a:endParaRPr>
          </a:p>
        </p:txBody>
      </p:sp>
      <p:sp>
        <p:nvSpPr>
          <p:cNvPr id="6" name="beat number 2"/>
          <p:cNvSpPr txBox="1"/>
          <p:nvPr/>
        </p:nvSpPr>
        <p:spPr>
          <a:xfrm>
            <a:off x="6080760" y="1664208"/>
            <a:ext cx="347472" cy="347472"/>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2</a:t>
            </a:r>
            <a:endParaRPr lang="en-US" sz="1400" dirty="0">
              <a:latin typeface="Montserrat" panose="00000500000000000000" pitchFamily="2" charset="0"/>
            </a:endParaRPr>
          </a:p>
        </p:txBody>
      </p:sp>
      <p:sp>
        <p:nvSpPr>
          <p:cNvPr id="7" name="beat 2"/>
          <p:cNvSpPr txBox="1"/>
          <p:nvPr/>
        </p:nvSpPr>
        <p:spPr>
          <a:xfrm>
            <a:off x="6583680" y="1645920"/>
            <a:ext cx="5166360" cy="466344"/>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The Armory: the rifle</a:t>
            </a:r>
            <a:endParaRPr lang="en-US" sz="1500" dirty="0">
              <a:latin typeface="Montserrat" panose="00000500000000000000" pitchFamily="2" charset="0"/>
            </a:endParaRPr>
          </a:p>
        </p:txBody>
      </p:sp>
      <p:sp>
        <p:nvSpPr>
          <p:cNvPr id="8" name="beat number 3"/>
          <p:cNvSpPr txBox="1"/>
          <p:nvPr/>
        </p:nvSpPr>
        <p:spPr>
          <a:xfrm>
            <a:off x="6080760" y="2167128"/>
            <a:ext cx="347472" cy="347472"/>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3</a:t>
            </a:r>
            <a:endParaRPr lang="en-US" sz="1400" dirty="0">
              <a:latin typeface="Montserrat" panose="00000500000000000000" pitchFamily="2" charset="0"/>
            </a:endParaRPr>
          </a:p>
        </p:txBody>
      </p:sp>
      <p:sp>
        <p:nvSpPr>
          <p:cNvPr id="9" name="beat 3"/>
          <p:cNvSpPr txBox="1"/>
          <p:nvPr/>
        </p:nvSpPr>
        <p:spPr>
          <a:xfrm>
            <a:off x="6583680" y="2148840"/>
            <a:ext cx="5166360" cy="466344"/>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The Office: the key floats and glows on the desk</a:t>
            </a:r>
            <a:endParaRPr lang="en-US" sz="1500" dirty="0">
              <a:latin typeface="Montserrat" panose="00000500000000000000" pitchFamily="2" charset="0"/>
            </a:endParaRPr>
          </a:p>
        </p:txBody>
      </p:sp>
      <p:sp>
        <p:nvSpPr>
          <p:cNvPr id="10" name="beat number 4"/>
          <p:cNvSpPr txBox="1"/>
          <p:nvPr/>
        </p:nvSpPr>
        <p:spPr>
          <a:xfrm>
            <a:off x="6080760" y="2670048"/>
            <a:ext cx="347472" cy="347472"/>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4</a:t>
            </a:r>
            <a:endParaRPr lang="en-US" sz="1400" dirty="0">
              <a:latin typeface="Montserrat" panose="00000500000000000000" pitchFamily="2" charset="0"/>
            </a:endParaRPr>
          </a:p>
        </p:txBody>
      </p:sp>
      <p:sp>
        <p:nvSpPr>
          <p:cNvPr id="11" name="beat 4"/>
          <p:cNvSpPr txBox="1"/>
          <p:nvPr/>
        </p:nvSpPr>
        <p:spPr>
          <a:xfrm>
            <a:off x="6583680" y="2651760"/>
            <a:ext cx="5166360" cy="466344"/>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Key slot [E]: the key turns, the lamp goes red → green</a:t>
            </a:r>
            <a:endParaRPr lang="en-US" sz="1500" dirty="0">
              <a:latin typeface="Montserrat" panose="00000500000000000000" pitchFamily="2" charset="0"/>
            </a:endParaRPr>
          </a:p>
        </p:txBody>
      </p:sp>
      <p:sp>
        <p:nvSpPr>
          <p:cNvPr id="12" name="beat number 5"/>
          <p:cNvSpPr txBox="1"/>
          <p:nvPr/>
        </p:nvSpPr>
        <p:spPr>
          <a:xfrm>
            <a:off x="6080760" y="3172968"/>
            <a:ext cx="347472" cy="347472"/>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5</a:t>
            </a:r>
            <a:endParaRPr lang="en-US" sz="1400" dirty="0">
              <a:latin typeface="Montserrat" panose="00000500000000000000" pitchFamily="2" charset="0"/>
            </a:endParaRPr>
          </a:p>
        </p:txBody>
      </p:sp>
      <p:sp>
        <p:nvSpPr>
          <p:cNvPr id="13" name="beat 5"/>
          <p:cNvSpPr txBox="1"/>
          <p:nvPr/>
        </p:nvSpPr>
        <p:spPr>
          <a:xfrm>
            <a:off x="6583680" y="3154680"/>
            <a:ext cx="5166360" cy="466344"/>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Key in and the floor clear: the stairwell gate rolls up</a:t>
            </a:r>
            <a:endParaRPr lang="en-US" sz="1500" dirty="0">
              <a:latin typeface="Montserrat" panose="00000500000000000000" pitchFamily="2" charset="0"/>
            </a:endParaRPr>
          </a:p>
        </p:txBody>
      </p:sp>
      <p:pic>
        <p:nvPicPr>
          <p:cNvPr id="14" name="level 2 screenshot" descr="C:\Users\at488\AppData\Local\Temp\claude\C--Users-at488-OneDrive---Hochschule-Luzern-Desktop-Level-World-Design-\cc816706-66e7-4f21-b274-83f61f88f670\scratchpad\deck\screenshots\tower_3_level2.png"/>
          <p:cNvPicPr>
            <a:picLocks noChangeAspect="1"/>
          </p:cNvPicPr>
          <p:nvPr/>
        </p:nvPicPr>
        <p:blipFill>
          <a:blip r:embed="rId4"/>
          <a:stretch>
            <a:fillRect/>
          </a:stretch>
        </p:blipFill>
        <p:spPr>
          <a:xfrm>
            <a:off x="6080760" y="3840480"/>
            <a:ext cx="3611880" cy="2029968"/>
          </a:xfrm>
          <a:prstGeom prst="rect">
            <a:avLst/>
          </a:prstGeom>
        </p:spPr>
      </p:pic>
      <p:sp>
        <p:nvSpPr>
          <p:cNvPr id="15" name="Text 11"/>
          <p:cNvSpPr txBox="1"/>
          <p:nvPr/>
        </p:nvSpPr>
        <p:spPr>
          <a:xfrm>
            <a:off x="6080760" y="5943600"/>
            <a:ext cx="3611880" cy="274320"/>
          </a:xfrm>
          <a:prstGeom prst="rect">
            <a:avLst/>
          </a:prstGeom>
          <a:noFill/>
          <a:ln/>
        </p:spPr>
        <p:txBody>
          <a:bodyPr wrap="square" lIns="0" tIns="0" rIns="0" bIns="0" rtlCol="0" anchor="ctr"/>
          <a:lstStyle/>
          <a:p>
            <a:pPr marL="0" indent="0">
              <a:buNone/>
            </a:pPr>
            <a:r>
              <a:rPr lang="en-US" sz="1100" i="1" dirty="0">
                <a:solidFill>
                  <a:schemeClr val="accent5"/>
                </a:solidFill>
                <a:latin typeface="Montserrat" panose="00000500000000000000" pitchFamily="2" charset="0"/>
              </a:rPr>
              <a:t>The stairwell gate and its key slot, seen from the hall</a:t>
            </a:r>
            <a:endParaRPr lang="en-US" sz="1100" dirty="0">
              <a:latin typeface="Montserrat" panose="00000500000000000000" pitchFamily="2" charset="0"/>
            </a:endParaRPr>
          </a:p>
        </p:txBody>
      </p:sp>
      <p:sp>
        <p:nvSpPr>
          <p:cNvPr id="16" name="Text 12"/>
          <p:cNvSpPr txBox="1"/>
          <p:nvPr/>
        </p:nvSpPr>
        <p:spPr>
          <a:xfrm>
            <a:off x="10012680" y="3840480"/>
            <a:ext cx="1920240" cy="274320"/>
          </a:xfrm>
          <a:prstGeom prst="rect">
            <a:avLst/>
          </a:prstGeom>
          <a:noFill/>
          <a:ln/>
        </p:spPr>
        <p:txBody>
          <a:bodyPr wrap="square" lIns="0" tIns="0" rIns="0" bIns="0" rtlCol="0" anchor="ctr"/>
          <a:lstStyle/>
          <a:p>
            <a:pPr marL="0" indent="0">
              <a:buNone/>
            </a:pPr>
            <a:r>
              <a:rPr lang="en-US" sz="1200" b="1" dirty="0">
                <a:solidFill>
                  <a:schemeClr val="accent5"/>
                </a:solidFill>
                <a:latin typeface="Montserrat" panose="00000500000000000000" pitchFamily="2" charset="0"/>
              </a:rPr>
              <a:t>EMOTION</a:t>
            </a:r>
            <a:endParaRPr lang="en-US" sz="1200" dirty="0">
              <a:latin typeface="Montserrat" panose="00000500000000000000" pitchFamily="2" charset="0"/>
            </a:endParaRPr>
          </a:p>
        </p:txBody>
      </p:sp>
      <p:sp>
        <p:nvSpPr>
          <p:cNvPr id="17" name="pill Pressure"/>
          <p:cNvSpPr txBox="1"/>
          <p:nvPr/>
        </p:nvSpPr>
        <p:spPr>
          <a:xfrm>
            <a:off x="10012680" y="4160520"/>
            <a:ext cx="1463040"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latin typeface="Montserrat" panose="00000500000000000000" pitchFamily="2" charset="0"/>
              </a:rPr>
              <a:t>PRESSURE</a:t>
            </a:r>
            <a:endParaRPr lang="en-US" sz="1200" dirty="0">
              <a:latin typeface="Montserrat" panose="00000500000000000000" pitchFamily="2" charset="0"/>
            </a:endParaRPr>
          </a:p>
        </p:txBody>
      </p:sp>
      <p:sp>
        <p:nvSpPr>
          <p:cNvPr id="18" name="pill Reward"/>
          <p:cNvSpPr txBox="1"/>
          <p:nvPr/>
        </p:nvSpPr>
        <p:spPr>
          <a:xfrm>
            <a:off x="10012680" y="4572000"/>
            <a:ext cx="1463040" cy="310896"/>
          </a:xfrm>
          <a:prstGeom prst="roundRect">
            <a:avLst>
              <a:gd name="adj" fmla="val 50000"/>
            </a:avLst>
          </a:prstGeom>
          <a:solidFill>
            <a:schemeClr val="accent1"/>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REWARD</a:t>
            </a:r>
            <a:endParaRPr lang="en-US" sz="1200" dirty="0">
              <a:latin typeface="Montserrat" panose="00000500000000000000" pitchFamily="2" charset="0"/>
            </a:endParaRPr>
          </a:p>
        </p:txBody>
      </p:sp>
      <p:sp>
        <p:nvSpPr>
          <p:cNvPr id="19" name="pill Purpose"/>
          <p:cNvSpPr txBox="1"/>
          <p:nvPr/>
        </p:nvSpPr>
        <p:spPr>
          <a:xfrm>
            <a:off x="10012680" y="4983480"/>
            <a:ext cx="1463040" cy="310896"/>
          </a:xfrm>
          <a:prstGeom prst="roundRect">
            <a:avLst>
              <a:gd name="adj" fmla="val 50000"/>
            </a:avLst>
          </a:prstGeom>
          <a:solidFill>
            <a:schemeClr val="accent1"/>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PURPOSE</a:t>
            </a:r>
            <a:endParaRPr lang="en-US" sz="1200" dirty="0">
              <a:latin typeface="Montserrat" panose="00000500000000000000" pitchFamily="2" charset="0"/>
            </a:endParaRPr>
          </a:p>
        </p:txBody>
      </p:sp>
      <p:sp>
        <p:nvSpPr>
          <p:cNvPr id="20" name="pill Relief"/>
          <p:cNvSpPr txBox="1"/>
          <p:nvPr/>
        </p:nvSpPr>
        <p:spPr>
          <a:xfrm>
            <a:off x="10012680" y="5394960"/>
            <a:ext cx="1463040"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RELIEF</a:t>
            </a:r>
            <a:endParaRPr lang="en-US" sz="1200" dirty="0">
              <a:latin typeface="Montserrat" panose="00000500000000000000" pitchFamily="2" charset="0"/>
            </a:endParaRPr>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F9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40080"/>
          </a:xfrm>
          <a:prstGeom prst="rect">
            <a:avLst/>
          </a:prstGeom>
          <a:noFill/>
          <a:ln/>
        </p:spPr>
        <p:txBody>
          <a:bodyPr wrap="square" lIns="0" tIns="0" rIns="0" bIns="0" rtlCol="0" anchor="ctr"/>
          <a:lstStyle/>
          <a:p>
            <a:pPr marL="0" indent="0" algn="l">
              <a:buNone/>
            </a:pPr>
            <a:r>
              <a:rPr lang="en-US" sz="3200" dirty="0">
                <a:solidFill>
                  <a:schemeClr val="tx1"/>
                </a:solidFill>
              </a:rPr>
              <a:t>Level 3 and the helipad · Awe, dread, climax</a:t>
            </a:r>
            <a:endParaRPr lang="en-US" sz="3200" dirty="0"/>
          </a:p>
        </p:txBody>
      </p:sp>
      <p:pic>
        <p:nvPicPr>
          <p:cNvPr id="3" name="map level 3 and finale" descr="C:\Users\at488\AppData\Local\Temp\claude\C--Users-at488-OneDrive---Hochschule-Luzern-Desktop-Level-World-Design-\cc816706-66e7-4f21-b274-83f61f88f670\scratchpad\deck\maps\map_L3_destroyed_floor_and_helipad_slide.png"/>
          <p:cNvPicPr>
            <a:picLocks noChangeAspect="1"/>
          </p:cNvPicPr>
          <p:nvPr/>
        </p:nvPicPr>
        <p:blipFill>
          <a:blip r:embed="rId3"/>
          <a:stretch>
            <a:fillRect/>
          </a:stretch>
        </p:blipFill>
        <p:spPr>
          <a:xfrm>
            <a:off x="457200" y="1188720"/>
            <a:ext cx="6995160" cy="4901184"/>
          </a:xfrm>
          <a:prstGeom prst="rect">
            <a:avLst/>
          </a:prstGeom>
        </p:spPr>
      </p:pic>
      <p:sp>
        <p:nvSpPr>
          <p:cNvPr id="4" name="beat number 1"/>
          <p:cNvSpPr txBox="1"/>
          <p:nvPr/>
        </p:nvSpPr>
        <p:spPr>
          <a:xfrm>
            <a:off x="7772400" y="1161288"/>
            <a:ext cx="347472" cy="347472"/>
          </a:xfrm>
          <a:prstGeom prst="ellipse">
            <a:avLst/>
          </a:prstGeom>
          <a:solidFill>
            <a:schemeClr val="accent4"/>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1</a:t>
            </a:r>
            <a:endParaRPr lang="en-US" sz="1400" dirty="0">
              <a:latin typeface="Montserrat" panose="00000500000000000000" pitchFamily="2" charset="0"/>
            </a:endParaRPr>
          </a:p>
        </p:txBody>
      </p:sp>
      <p:sp>
        <p:nvSpPr>
          <p:cNvPr id="5" name="beat 1"/>
          <p:cNvSpPr txBox="1"/>
          <p:nvPr/>
        </p:nvSpPr>
        <p:spPr>
          <a:xfrm>
            <a:off x="8275320" y="1143000"/>
            <a:ext cx="3474720" cy="566928"/>
          </a:xfrm>
          <a:prstGeom prst="rect">
            <a:avLst/>
          </a:prstGeom>
          <a:noFill/>
          <a:ln/>
        </p:spPr>
        <p:txBody>
          <a:bodyPr wrap="square" lIns="0" tIns="0" rIns="0" bIns="0" rtlCol="0" anchor="t"/>
          <a:lstStyle/>
          <a:p>
            <a:pPr marL="0" indent="0">
              <a:buNone/>
            </a:pPr>
            <a:r>
              <a:rPr lang="en-US" sz="1400" dirty="0">
                <a:solidFill>
                  <a:schemeClr val="tx2"/>
                </a:solidFill>
                <a:latin typeface="Montserrat" panose="00000500000000000000" pitchFamily="2" charset="0"/>
              </a:rPr>
              <a:t>Arrival: daylight through the blown-out floor</a:t>
            </a:r>
            <a:endParaRPr lang="en-US" sz="1400" dirty="0">
              <a:latin typeface="Montserrat" panose="00000500000000000000" pitchFamily="2" charset="0"/>
            </a:endParaRPr>
          </a:p>
        </p:txBody>
      </p:sp>
      <p:sp>
        <p:nvSpPr>
          <p:cNvPr id="6" name="beat number 2"/>
          <p:cNvSpPr txBox="1"/>
          <p:nvPr/>
        </p:nvSpPr>
        <p:spPr>
          <a:xfrm>
            <a:off x="7772400" y="1764792"/>
            <a:ext cx="347472" cy="347472"/>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2</a:t>
            </a:r>
            <a:endParaRPr lang="en-US" sz="1400" dirty="0">
              <a:latin typeface="Montserrat" panose="00000500000000000000" pitchFamily="2" charset="0"/>
            </a:endParaRPr>
          </a:p>
        </p:txBody>
      </p:sp>
      <p:sp>
        <p:nvSpPr>
          <p:cNvPr id="7" name="beat 2"/>
          <p:cNvSpPr txBox="1"/>
          <p:nvPr/>
        </p:nvSpPr>
        <p:spPr>
          <a:xfrm>
            <a:off x="8275320" y="1746504"/>
            <a:ext cx="3474720" cy="566928"/>
          </a:xfrm>
          <a:prstGeom prst="rect">
            <a:avLst/>
          </a:prstGeom>
          <a:noFill/>
          <a:ln/>
        </p:spPr>
        <p:txBody>
          <a:bodyPr wrap="square" lIns="0" tIns="0" rIns="0" bIns="0" rtlCol="0" anchor="t"/>
          <a:lstStyle/>
          <a:p>
            <a:pPr marL="0" indent="0">
              <a:buNone/>
            </a:pPr>
            <a:r>
              <a:rPr lang="en-US" sz="1400" dirty="0">
                <a:solidFill>
                  <a:schemeClr val="tx2"/>
                </a:solidFill>
                <a:latin typeface="Montserrat" panose="00000500000000000000" pitchFamily="2" charset="0"/>
              </a:rPr>
              <a:t>Clear the barracks and comms</a:t>
            </a:r>
            <a:endParaRPr lang="en-US" sz="1400" dirty="0">
              <a:latin typeface="Montserrat" panose="00000500000000000000" pitchFamily="2" charset="0"/>
            </a:endParaRPr>
          </a:p>
        </p:txBody>
      </p:sp>
      <p:sp>
        <p:nvSpPr>
          <p:cNvPr id="8" name="beat number 3"/>
          <p:cNvSpPr txBox="1"/>
          <p:nvPr/>
        </p:nvSpPr>
        <p:spPr>
          <a:xfrm>
            <a:off x="7772400" y="2368296"/>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latin typeface="Montserrat" panose="00000500000000000000" pitchFamily="2" charset="0"/>
              </a:rPr>
              <a:t>3</a:t>
            </a:r>
            <a:endParaRPr lang="en-US" sz="1400" dirty="0">
              <a:latin typeface="Montserrat" panose="00000500000000000000" pitchFamily="2" charset="0"/>
            </a:endParaRPr>
          </a:p>
        </p:txBody>
      </p:sp>
      <p:sp>
        <p:nvSpPr>
          <p:cNvPr id="9" name="beat 3"/>
          <p:cNvSpPr txBox="1"/>
          <p:nvPr/>
        </p:nvSpPr>
        <p:spPr>
          <a:xfrm>
            <a:off x="8275320" y="2350008"/>
            <a:ext cx="3474720" cy="566928"/>
          </a:xfrm>
          <a:prstGeom prst="rect">
            <a:avLst/>
          </a:prstGeom>
          <a:noFill/>
          <a:ln/>
        </p:spPr>
        <p:txBody>
          <a:bodyPr wrap="square" lIns="0" tIns="0" rIns="0" bIns="0" rtlCol="0" anchor="t"/>
          <a:lstStyle/>
          <a:p>
            <a:pPr marL="0" indent="0">
              <a:buNone/>
            </a:pPr>
            <a:r>
              <a:rPr lang="en-US" sz="1400" dirty="0">
                <a:solidFill>
                  <a:schemeClr val="tx2"/>
                </a:solidFill>
                <a:latin typeface="Montserrat" panose="00000500000000000000" pitchFamily="2" charset="0"/>
              </a:rPr>
              <a:t>The robot room opens; only the rifle hurts the robot</a:t>
            </a:r>
            <a:endParaRPr lang="en-US" sz="1400" dirty="0">
              <a:latin typeface="Montserrat" panose="00000500000000000000" pitchFamily="2" charset="0"/>
            </a:endParaRPr>
          </a:p>
        </p:txBody>
      </p:sp>
      <p:sp>
        <p:nvSpPr>
          <p:cNvPr id="10" name="beat number 4"/>
          <p:cNvSpPr txBox="1"/>
          <p:nvPr/>
        </p:nvSpPr>
        <p:spPr>
          <a:xfrm>
            <a:off x="7772400" y="2971800"/>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latin typeface="Montserrat" panose="00000500000000000000" pitchFamily="2" charset="0"/>
              </a:rPr>
              <a:t>4</a:t>
            </a:r>
            <a:endParaRPr lang="en-US" sz="1400" dirty="0">
              <a:latin typeface="Montserrat" panose="00000500000000000000" pitchFamily="2" charset="0"/>
            </a:endParaRPr>
          </a:p>
        </p:txBody>
      </p:sp>
      <p:sp>
        <p:nvSpPr>
          <p:cNvPr id="11" name="beat 4"/>
          <p:cNvSpPr txBox="1"/>
          <p:nvPr/>
        </p:nvSpPr>
        <p:spPr>
          <a:xfrm>
            <a:off x="8275320" y="2953512"/>
            <a:ext cx="3474720" cy="566928"/>
          </a:xfrm>
          <a:prstGeom prst="rect">
            <a:avLst/>
          </a:prstGeom>
          <a:noFill/>
          <a:ln/>
        </p:spPr>
        <p:txBody>
          <a:bodyPr wrap="square" lIns="0" tIns="0" rIns="0" bIns="0" rtlCol="0" anchor="t"/>
          <a:lstStyle/>
          <a:p>
            <a:pPr marL="0" indent="0">
              <a:buNone/>
            </a:pPr>
            <a:r>
              <a:rPr lang="en-US" sz="1400" dirty="0">
                <a:solidFill>
                  <a:schemeClr val="tx2"/>
                </a:solidFill>
                <a:latin typeface="Montserrat" panose="00000500000000000000" pitchFamily="2" charset="0"/>
              </a:rPr>
              <a:t>Through the breach: two patrols on the broken slab</a:t>
            </a:r>
            <a:endParaRPr lang="en-US" sz="1400" dirty="0">
              <a:latin typeface="Montserrat" panose="00000500000000000000" pitchFamily="2" charset="0"/>
            </a:endParaRPr>
          </a:p>
        </p:txBody>
      </p:sp>
      <p:sp>
        <p:nvSpPr>
          <p:cNvPr id="12" name="beat number 5"/>
          <p:cNvSpPr txBox="1"/>
          <p:nvPr/>
        </p:nvSpPr>
        <p:spPr>
          <a:xfrm>
            <a:off x="7772400" y="3575304"/>
            <a:ext cx="347472" cy="347472"/>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5</a:t>
            </a:r>
            <a:endParaRPr lang="en-US" sz="1400" dirty="0">
              <a:latin typeface="Montserrat" panose="00000500000000000000" pitchFamily="2" charset="0"/>
            </a:endParaRPr>
          </a:p>
        </p:txBody>
      </p:sp>
      <p:sp>
        <p:nvSpPr>
          <p:cNvPr id="13" name="beat 5"/>
          <p:cNvSpPr txBox="1"/>
          <p:nvPr/>
        </p:nvSpPr>
        <p:spPr>
          <a:xfrm>
            <a:off x="8275320" y="3557016"/>
            <a:ext cx="3474720" cy="566928"/>
          </a:xfrm>
          <a:prstGeom prst="rect">
            <a:avLst/>
          </a:prstGeom>
          <a:noFill/>
          <a:ln/>
        </p:spPr>
        <p:txBody>
          <a:bodyPr wrap="square" lIns="0" tIns="0" rIns="0" bIns="0" rtlCol="0" anchor="t"/>
          <a:lstStyle/>
          <a:p>
            <a:pPr marL="0" indent="0">
              <a:buNone/>
            </a:pPr>
            <a:r>
              <a:rPr lang="en-US" sz="1400" dirty="0">
                <a:solidFill>
                  <a:schemeClr val="tx2"/>
                </a:solidFill>
                <a:latin typeface="Montserrat" panose="00000500000000000000" pitchFamily="2" charset="0"/>
              </a:rPr>
              <a:t>Both patrols dead: the SE room opens</a:t>
            </a:r>
            <a:endParaRPr lang="en-US" sz="1400" dirty="0">
              <a:latin typeface="Montserrat" panose="00000500000000000000" pitchFamily="2" charset="0"/>
            </a:endParaRPr>
          </a:p>
        </p:txBody>
      </p:sp>
      <p:sp>
        <p:nvSpPr>
          <p:cNvPr id="14" name="beat number 6"/>
          <p:cNvSpPr txBox="1"/>
          <p:nvPr/>
        </p:nvSpPr>
        <p:spPr>
          <a:xfrm>
            <a:off x="7772400" y="4178808"/>
            <a:ext cx="347472" cy="347472"/>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6</a:t>
            </a:r>
            <a:endParaRPr lang="en-US" sz="1400" dirty="0">
              <a:latin typeface="Montserrat" panose="00000500000000000000" pitchFamily="2" charset="0"/>
            </a:endParaRPr>
          </a:p>
        </p:txBody>
      </p:sp>
      <p:sp>
        <p:nvSpPr>
          <p:cNvPr id="15" name="beat 6"/>
          <p:cNvSpPr txBox="1"/>
          <p:nvPr/>
        </p:nvSpPr>
        <p:spPr>
          <a:xfrm>
            <a:off x="8275320" y="4160520"/>
            <a:ext cx="3474720" cy="566928"/>
          </a:xfrm>
          <a:prstGeom prst="rect">
            <a:avLst/>
          </a:prstGeom>
          <a:noFill/>
          <a:ln/>
        </p:spPr>
        <p:txBody>
          <a:bodyPr wrap="square" lIns="0" tIns="0" rIns="0" bIns="0" rtlCol="0" anchor="t"/>
          <a:lstStyle/>
          <a:p>
            <a:pPr marL="0" indent="0">
              <a:buNone/>
            </a:pPr>
            <a:r>
              <a:rPr lang="en-US" sz="1400" dirty="0">
                <a:solidFill>
                  <a:schemeClr val="tx2"/>
                </a:solidFill>
                <a:latin typeface="Montserrat" panose="00000500000000000000" pitchFamily="2" charset="0"/>
              </a:rPr>
              <a:t>Exit to the outside stairs</a:t>
            </a:r>
            <a:endParaRPr lang="en-US" sz="1400" dirty="0">
              <a:latin typeface="Montserrat" panose="00000500000000000000" pitchFamily="2" charset="0"/>
            </a:endParaRPr>
          </a:p>
        </p:txBody>
      </p:sp>
      <p:sp>
        <p:nvSpPr>
          <p:cNvPr id="16" name="beat number 7"/>
          <p:cNvSpPr txBox="1"/>
          <p:nvPr/>
        </p:nvSpPr>
        <p:spPr>
          <a:xfrm>
            <a:off x="7772400" y="4782312"/>
            <a:ext cx="347472" cy="347472"/>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latin typeface="Montserrat" panose="00000500000000000000" pitchFamily="2" charset="0"/>
              </a:rPr>
              <a:t>7</a:t>
            </a:r>
            <a:endParaRPr lang="en-US" sz="1400" dirty="0">
              <a:latin typeface="Montserrat" panose="00000500000000000000" pitchFamily="2" charset="0"/>
            </a:endParaRPr>
          </a:p>
        </p:txBody>
      </p:sp>
      <p:sp>
        <p:nvSpPr>
          <p:cNvPr id="17" name="beat 7"/>
          <p:cNvSpPr txBox="1"/>
          <p:nvPr/>
        </p:nvSpPr>
        <p:spPr>
          <a:xfrm>
            <a:off x="8275320" y="4764024"/>
            <a:ext cx="3474720" cy="566928"/>
          </a:xfrm>
          <a:prstGeom prst="rect">
            <a:avLst/>
          </a:prstGeom>
          <a:noFill/>
          <a:ln/>
        </p:spPr>
        <p:txBody>
          <a:bodyPr wrap="square" lIns="0" tIns="0" rIns="0" bIns="0" rtlCol="0" anchor="t"/>
          <a:lstStyle/>
          <a:p>
            <a:pPr marL="0" indent="0">
              <a:buNone/>
            </a:pPr>
            <a:r>
              <a:rPr lang="en-US" sz="1400" dirty="0">
                <a:solidFill>
                  <a:schemeClr val="tx2"/>
                </a:solidFill>
                <a:latin typeface="Montserrat" panose="00000500000000000000" pitchFamily="2" charset="0"/>
              </a:rPr>
              <a:t>Helipad: the boss, then the helicopter</a:t>
            </a:r>
            <a:endParaRPr lang="en-US" sz="1400" dirty="0">
              <a:latin typeface="Montserrat" panose="00000500000000000000" pitchFamily="2" charset="0"/>
            </a:endParaRPr>
          </a:p>
        </p:txBody>
      </p:sp>
      <p:sp>
        <p:nvSpPr>
          <p:cNvPr id="18" name="pill Awe"/>
          <p:cNvSpPr txBox="1"/>
          <p:nvPr/>
        </p:nvSpPr>
        <p:spPr>
          <a:xfrm>
            <a:off x="7772400" y="5669280"/>
            <a:ext cx="516636" cy="310896"/>
          </a:xfrm>
          <a:prstGeom prst="roundRect">
            <a:avLst>
              <a:gd name="adj" fmla="val 50000"/>
            </a:avLst>
          </a:prstGeom>
          <a:solidFill>
            <a:schemeClr val="accent4"/>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AWE</a:t>
            </a:r>
            <a:endParaRPr lang="en-US" sz="1200" dirty="0">
              <a:latin typeface="Montserrat" panose="00000500000000000000" pitchFamily="2" charset="0"/>
            </a:endParaRPr>
          </a:p>
        </p:txBody>
      </p:sp>
      <p:sp>
        <p:nvSpPr>
          <p:cNvPr id="19" name="Text 16"/>
          <p:cNvSpPr txBox="1"/>
          <p:nvPr/>
        </p:nvSpPr>
        <p:spPr>
          <a:xfrm>
            <a:off x="8343900" y="5669280"/>
            <a:ext cx="201168" cy="310896"/>
          </a:xfrm>
          <a:prstGeom prst="rect">
            <a:avLst/>
          </a:prstGeom>
          <a:noFill/>
          <a:ln/>
        </p:spPr>
        <p:txBody>
          <a:bodyPr wrap="square" lIns="0" tIns="0" rIns="0" bIns="0" rtlCol="0" anchor="ctr"/>
          <a:lstStyle/>
          <a:p>
            <a:pPr marL="0" indent="0" algn="ctr">
              <a:buNone/>
            </a:pPr>
            <a:r>
              <a:rPr lang="en-US" sz="1400" dirty="0">
                <a:solidFill>
                  <a:schemeClr val="accent5"/>
                </a:solidFill>
                <a:latin typeface="Montserrat" panose="00000500000000000000" pitchFamily="2" charset="0"/>
              </a:rPr>
              <a:t>→</a:t>
            </a:r>
            <a:endParaRPr lang="en-US" sz="1400" dirty="0">
              <a:latin typeface="Montserrat" panose="00000500000000000000" pitchFamily="2" charset="0"/>
            </a:endParaRPr>
          </a:p>
        </p:txBody>
      </p:sp>
      <p:sp>
        <p:nvSpPr>
          <p:cNvPr id="20" name="pill Dread"/>
          <p:cNvSpPr txBox="1"/>
          <p:nvPr/>
        </p:nvSpPr>
        <p:spPr>
          <a:xfrm>
            <a:off x="8599932" y="5669280"/>
            <a:ext cx="726948"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latin typeface="Montserrat" panose="00000500000000000000" pitchFamily="2" charset="0"/>
              </a:rPr>
              <a:t>DREAD</a:t>
            </a:r>
            <a:endParaRPr lang="en-US" sz="1200" dirty="0">
              <a:latin typeface="Montserrat" panose="00000500000000000000" pitchFamily="2" charset="0"/>
            </a:endParaRPr>
          </a:p>
        </p:txBody>
      </p:sp>
      <p:sp>
        <p:nvSpPr>
          <p:cNvPr id="21" name="Text 18"/>
          <p:cNvSpPr txBox="1"/>
          <p:nvPr/>
        </p:nvSpPr>
        <p:spPr>
          <a:xfrm>
            <a:off x="9381744" y="5669280"/>
            <a:ext cx="201168" cy="310896"/>
          </a:xfrm>
          <a:prstGeom prst="rect">
            <a:avLst/>
          </a:prstGeom>
          <a:noFill/>
          <a:ln/>
        </p:spPr>
        <p:txBody>
          <a:bodyPr wrap="square" lIns="0" tIns="0" rIns="0" bIns="0" rtlCol="0" anchor="ctr"/>
          <a:lstStyle/>
          <a:p>
            <a:pPr marL="0" indent="0" algn="ctr">
              <a:buNone/>
            </a:pPr>
            <a:r>
              <a:rPr lang="en-US" sz="1400" dirty="0">
                <a:solidFill>
                  <a:schemeClr val="accent5"/>
                </a:solidFill>
                <a:latin typeface="Montserrat" panose="00000500000000000000" pitchFamily="2" charset="0"/>
              </a:rPr>
              <a:t>→</a:t>
            </a:r>
            <a:endParaRPr lang="en-US" sz="1400" dirty="0">
              <a:latin typeface="Montserrat" panose="00000500000000000000" pitchFamily="2" charset="0"/>
            </a:endParaRPr>
          </a:p>
        </p:txBody>
      </p:sp>
      <p:sp>
        <p:nvSpPr>
          <p:cNvPr id="22" name="pill Climax"/>
          <p:cNvSpPr txBox="1"/>
          <p:nvPr/>
        </p:nvSpPr>
        <p:spPr>
          <a:xfrm>
            <a:off x="9637776" y="5669280"/>
            <a:ext cx="832104"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latin typeface="Montserrat" panose="00000500000000000000" pitchFamily="2" charset="0"/>
              </a:rPr>
              <a:t>CLIMAX</a:t>
            </a:r>
            <a:endParaRPr lang="en-US" sz="1200" dirty="0">
              <a:latin typeface="Montserrat" panose="00000500000000000000" pitchFamily="2" charset="0"/>
            </a:endParaRPr>
          </a:p>
        </p:txBody>
      </p:sp>
      <p:sp>
        <p:nvSpPr>
          <p:cNvPr id="23" name="Text 20"/>
          <p:cNvSpPr txBox="1"/>
          <p:nvPr/>
        </p:nvSpPr>
        <p:spPr>
          <a:xfrm>
            <a:off x="10524744" y="5669280"/>
            <a:ext cx="201168" cy="310896"/>
          </a:xfrm>
          <a:prstGeom prst="rect">
            <a:avLst/>
          </a:prstGeom>
          <a:noFill/>
          <a:ln/>
        </p:spPr>
        <p:txBody>
          <a:bodyPr wrap="square" lIns="0" tIns="0" rIns="0" bIns="0" rtlCol="0" anchor="ctr"/>
          <a:lstStyle/>
          <a:p>
            <a:pPr marL="0" indent="0" algn="ctr">
              <a:buNone/>
            </a:pPr>
            <a:r>
              <a:rPr lang="en-US" sz="1400" dirty="0">
                <a:solidFill>
                  <a:schemeClr val="accent5"/>
                </a:solidFill>
                <a:latin typeface="Montserrat" panose="00000500000000000000" pitchFamily="2" charset="0"/>
              </a:rPr>
              <a:t>→</a:t>
            </a:r>
            <a:endParaRPr lang="en-US" sz="1400" dirty="0">
              <a:latin typeface="Montserrat" panose="00000500000000000000" pitchFamily="2" charset="0"/>
            </a:endParaRPr>
          </a:p>
        </p:txBody>
      </p:sp>
      <p:sp>
        <p:nvSpPr>
          <p:cNvPr id="24" name="pill Release"/>
          <p:cNvSpPr txBox="1"/>
          <p:nvPr/>
        </p:nvSpPr>
        <p:spPr>
          <a:xfrm>
            <a:off x="10780776" y="5669280"/>
            <a:ext cx="937260"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1200" b="1" dirty="0">
                <a:solidFill>
                  <a:schemeClr val="tx1"/>
                </a:solidFill>
                <a:latin typeface="Montserrat" panose="00000500000000000000" pitchFamily="2" charset="0"/>
              </a:rPr>
              <a:t>RELEASE</a:t>
            </a:r>
            <a:endParaRPr lang="en-US" sz="1200" dirty="0">
              <a:latin typeface="Montserrat" panose="00000500000000000000" pitchFamily="2" charset="0"/>
            </a:endParaRPr>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F9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40080"/>
          </a:xfrm>
          <a:prstGeom prst="rect">
            <a:avLst/>
          </a:prstGeom>
          <a:noFill/>
          <a:ln/>
        </p:spPr>
        <p:txBody>
          <a:bodyPr wrap="square" lIns="0" tIns="0" rIns="0" bIns="0" rtlCol="0" anchor="ctr"/>
          <a:lstStyle/>
          <a:p>
            <a:pPr marL="0" indent="0" algn="l">
              <a:buNone/>
            </a:pPr>
            <a:r>
              <a:rPr lang="en-US" sz="3200" dirty="0">
                <a:solidFill>
                  <a:schemeClr val="tx1"/>
                </a:solidFill>
              </a:rPr>
              <a:t>The emotion curve</a:t>
            </a:r>
            <a:endParaRPr lang="en-US" sz="3200" dirty="0"/>
          </a:p>
        </p:txBody>
      </p:sp>
      <p:graphicFrame>
        <p:nvGraphicFramePr>
          <p:cNvPr id="3" name="emotion curve chart"/>
          <p:cNvGraphicFramePr/>
          <p:nvPr/>
        </p:nvGraphicFramePr>
        <p:xfrm>
          <a:off x="457200" y="1051560"/>
          <a:ext cx="11274552"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bracket Level 1"/>
          <p:cNvSpPr/>
          <p:nvPr/>
        </p:nvSpPr>
        <p:spPr>
          <a:xfrm>
            <a:off x="1075792" y="5623560"/>
            <a:ext cx="3703120" cy="54864"/>
          </a:xfrm>
          <a:prstGeom prst="rect">
            <a:avLst/>
          </a:prstGeom>
          <a:solidFill>
            <a:schemeClr val="accent1"/>
          </a:solidFill>
          <a:ln w="12700">
            <a:solidFill>
              <a:schemeClr val="accent1"/>
            </a:solidFill>
            <a:prstDash val="solid"/>
          </a:ln>
        </p:spPr>
        <p:txBody>
          <a:bodyPr/>
          <a:lstStyle/>
          <a:p>
            <a:endParaRPr lang="en-CH" dirty="0">
              <a:latin typeface="Montserrat" panose="00000500000000000000" pitchFamily="2" charset="0"/>
            </a:endParaRPr>
          </a:p>
        </p:txBody>
      </p:sp>
      <p:sp>
        <p:nvSpPr>
          <p:cNvPr id="5" name="Text 2"/>
          <p:cNvSpPr txBox="1"/>
          <p:nvPr/>
        </p:nvSpPr>
        <p:spPr>
          <a:xfrm>
            <a:off x="1075792" y="5733288"/>
            <a:ext cx="3703120" cy="292608"/>
          </a:xfrm>
          <a:prstGeom prst="rect">
            <a:avLst/>
          </a:prstGeom>
          <a:noFill/>
          <a:ln/>
        </p:spPr>
        <p:txBody>
          <a:bodyPr wrap="square" lIns="0" tIns="0" rIns="0" bIns="0" rtlCol="0" anchor="ctr"/>
          <a:lstStyle/>
          <a:p>
            <a:pPr marL="0" indent="0" algn="ctr">
              <a:buNone/>
            </a:pPr>
            <a:r>
              <a:rPr lang="en-US" sz="1300" b="1" dirty="0">
                <a:solidFill>
                  <a:schemeClr val="tx2"/>
                </a:solidFill>
                <a:latin typeface="Montserrat" panose="00000500000000000000" pitchFamily="2" charset="0"/>
              </a:rPr>
              <a:t>Level 1</a:t>
            </a:r>
            <a:endParaRPr lang="en-US" sz="1300" dirty="0">
              <a:latin typeface="Montserrat" panose="00000500000000000000" pitchFamily="2" charset="0"/>
            </a:endParaRPr>
          </a:p>
        </p:txBody>
      </p:sp>
      <p:sp>
        <p:nvSpPr>
          <p:cNvPr id="6" name="bracket Level 2"/>
          <p:cNvSpPr/>
          <p:nvPr/>
        </p:nvSpPr>
        <p:spPr>
          <a:xfrm>
            <a:off x="4888640" y="5623560"/>
            <a:ext cx="2749908" cy="54864"/>
          </a:xfrm>
          <a:prstGeom prst="rect">
            <a:avLst/>
          </a:prstGeom>
          <a:solidFill>
            <a:schemeClr val="accent1"/>
          </a:solidFill>
          <a:ln w="12700">
            <a:solidFill>
              <a:schemeClr val="accent1"/>
            </a:solidFill>
            <a:prstDash val="solid"/>
          </a:ln>
        </p:spPr>
        <p:txBody>
          <a:bodyPr/>
          <a:lstStyle/>
          <a:p>
            <a:endParaRPr lang="en-CH" dirty="0">
              <a:latin typeface="Montserrat" panose="00000500000000000000" pitchFamily="2" charset="0"/>
            </a:endParaRPr>
          </a:p>
        </p:txBody>
      </p:sp>
      <p:sp>
        <p:nvSpPr>
          <p:cNvPr id="7" name="Text 4"/>
          <p:cNvSpPr txBox="1"/>
          <p:nvPr/>
        </p:nvSpPr>
        <p:spPr>
          <a:xfrm>
            <a:off x="4888640" y="5733288"/>
            <a:ext cx="2749908" cy="292608"/>
          </a:xfrm>
          <a:prstGeom prst="rect">
            <a:avLst/>
          </a:prstGeom>
          <a:noFill/>
          <a:ln/>
        </p:spPr>
        <p:txBody>
          <a:bodyPr wrap="square" lIns="0" tIns="0" rIns="0" bIns="0" rtlCol="0" anchor="ctr"/>
          <a:lstStyle/>
          <a:p>
            <a:pPr marL="0" indent="0" algn="ctr">
              <a:buNone/>
            </a:pPr>
            <a:r>
              <a:rPr lang="en-US" sz="1300" b="1" dirty="0">
                <a:solidFill>
                  <a:schemeClr val="tx2"/>
                </a:solidFill>
                <a:latin typeface="Montserrat" panose="00000500000000000000" pitchFamily="2" charset="0"/>
              </a:rPr>
              <a:t>Level 2</a:t>
            </a:r>
            <a:endParaRPr lang="en-US" sz="1300" dirty="0">
              <a:latin typeface="Montserrat" panose="00000500000000000000" pitchFamily="2" charset="0"/>
            </a:endParaRPr>
          </a:p>
        </p:txBody>
      </p:sp>
      <p:sp>
        <p:nvSpPr>
          <p:cNvPr id="8" name="bracket Level 3"/>
          <p:cNvSpPr/>
          <p:nvPr/>
        </p:nvSpPr>
        <p:spPr>
          <a:xfrm>
            <a:off x="7748276" y="5623560"/>
            <a:ext cx="1796696" cy="54864"/>
          </a:xfrm>
          <a:prstGeom prst="rect">
            <a:avLst/>
          </a:prstGeom>
          <a:solidFill>
            <a:schemeClr val="accent1"/>
          </a:solidFill>
          <a:ln w="12700">
            <a:solidFill>
              <a:schemeClr val="accent1"/>
            </a:solidFill>
            <a:prstDash val="solid"/>
          </a:ln>
        </p:spPr>
        <p:txBody>
          <a:bodyPr/>
          <a:lstStyle/>
          <a:p>
            <a:endParaRPr lang="en-CH" dirty="0">
              <a:latin typeface="Montserrat" panose="00000500000000000000" pitchFamily="2" charset="0"/>
            </a:endParaRPr>
          </a:p>
        </p:txBody>
      </p:sp>
      <p:sp>
        <p:nvSpPr>
          <p:cNvPr id="9" name="Text 6"/>
          <p:cNvSpPr txBox="1"/>
          <p:nvPr/>
        </p:nvSpPr>
        <p:spPr>
          <a:xfrm>
            <a:off x="7748276" y="5733288"/>
            <a:ext cx="1796696" cy="292608"/>
          </a:xfrm>
          <a:prstGeom prst="rect">
            <a:avLst/>
          </a:prstGeom>
          <a:noFill/>
          <a:ln/>
        </p:spPr>
        <p:txBody>
          <a:bodyPr wrap="square" lIns="0" tIns="0" rIns="0" bIns="0" rtlCol="0" anchor="ctr"/>
          <a:lstStyle/>
          <a:p>
            <a:pPr marL="0" indent="0" algn="ctr">
              <a:buNone/>
            </a:pPr>
            <a:r>
              <a:rPr lang="en-US" sz="1300" b="1" dirty="0">
                <a:solidFill>
                  <a:schemeClr val="tx2"/>
                </a:solidFill>
                <a:latin typeface="Montserrat" panose="00000500000000000000" pitchFamily="2" charset="0"/>
              </a:rPr>
              <a:t>Level 3</a:t>
            </a:r>
            <a:endParaRPr lang="en-US" sz="1300" dirty="0">
              <a:latin typeface="Montserrat" panose="00000500000000000000" pitchFamily="2" charset="0"/>
            </a:endParaRPr>
          </a:p>
        </p:txBody>
      </p:sp>
      <p:sp>
        <p:nvSpPr>
          <p:cNvPr id="10" name="bracket Finale"/>
          <p:cNvSpPr/>
          <p:nvPr/>
        </p:nvSpPr>
        <p:spPr>
          <a:xfrm>
            <a:off x="9654701" y="5623560"/>
            <a:ext cx="1796696" cy="54864"/>
          </a:xfrm>
          <a:prstGeom prst="rect">
            <a:avLst/>
          </a:prstGeom>
          <a:solidFill>
            <a:schemeClr val="accent2"/>
          </a:solidFill>
          <a:ln w="12700">
            <a:solidFill>
              <a:schemeClr val="accent2"/>
            </a:solidFill>
            <a:prstDash val="solid"/>
          </a:ln>
        </p:spPr>
        <p:txBody>
          <a:bodyPr/>
          <a:lstStyle/>
          <a:p>
            <a:endParaRPr lang="en-CH" dirty="0">
              <a:latin typeface="Montserrat" panose="00000500000000000000" pitchFamily="2" charset="0"/>
            </a:endParaRPr>
          </a:p>
        </p:txBody>
      </p:sp>
      <p:sp>
        <p:nvSpPr>
          <p:cNvPr id="11" name="Text 8"/>
          <p:cNvSpPr txBox="1"/>
          <p:nvPr/>
        </p:nvSpPr>
        <p:spPr>
          <a:xfrm>
            <a:off x="9654701" y="5733288"/>
            <a:ext cx="1796696" cy="292608"/>
          </a:xfrm>
          <a:prstGeom prst="rect">
            <a:avLst/>
          </a:prstGeom>
          <a:noFill/>
          <a:ln/>
        </p:spPr>
        <p:txBody>
          <a:bodyPr wrap="square" lIns="0" tIns="0" rIns="0" bIns="0" rtlCol="0" anchor="ctr"/>
          <a:lstStyle/>
          <a:p>
            <a:pPr marL="0" indent="0" algn="ctr">
              <a:buNone/>
            </a:pPr>
            <a:r>
              <a:rPr lang="en-US" sz="1300" b="1" dirty="0">
                <a:solidFill>
                  <a:schemeClr val="tx2"/>
                </a:solidFill>
                <a:latin typeface="Montserrat" panose="00000500000000000000" pitchFamily="2" charset="0"/>
              </a:rPr>
              <a:t>Finale</a:t>
            </a:r>
            <a:endParaRPr lang="en-US" sz="1300" dirty="0">
              <a:latin typeface="Montserrat" panose="00000500000000000000" pitchFamily="2" charset="0"/>
            </a:endParaRPr>
          </a:p>
        </p:txBody>
      </p:sp>
      <p:sp>
        <p:nvSpPr>
          <p:cNvPr id="12" name="Text 9"/>
          <p:cNvSpPr txBox="1"/>
          <p:nvPr/>
        </p:nvSpPr>
        <p:spPr>
          <a:xfrm>
            <a:off x="457200" y="6053328"/>
            <a:ext cx="11247120" cy="292608"/>
          </a:xfrm>
          <a:prstGeom prst="rect">
            <a:avLst/>
          </a:prstGeom>
          <a:noFill/>
          <a:ln/>
        </p:spPr>
        <p:txBody>
          <a:bodyPr wrap="square" lIns="0" tIns="0" rIns="0" bIns="0" rtlCol="0" anchor="ctr"/>
          <a:lstStyle/>
          <a:p>
            <a:pPr marL="0" indent="0">
              <a:buNone/>
            </a:pPr>
            <a:r>
              <a:rPr lang="en-US" sz="1300" dirty="0">
                <a:solidFill>
                  <a:schemeClr val="accent5"/>
                </a:solidFill>
                <a:latin typeface="Montserrat" panose="00000500000000000000" pitchFamily="2" charset="0"/>
              </a:rPr>
              <a:t>Each level rises and falls: a sudden spike at the trap, a long build on level 3, the boss as the highest peak, then the release.</a:t>
            </a:r>
            <a:endParaRPr lang="en-US" sz="1300" dirty="0">
              <a:latin typeface="Montserrat" panose="00000500000000000000" pitchFamily="2" charset="0"/>
            </a:endParaRPr>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F9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40080"/>
          </a:xfrm>
          <a:prstGeom prst="rect">
            <a:avLst/>
          </a:prstGeom>
          <a:noFill/>
          <a:ln/>
        </p:spPr>
        <p:txBody>
          <a:bodyPr wrap="square" lIns="0" tIns="0" rIns="0" bIns="0" rtlCol="0" anchor="ctr"/>
          <a:lstStyle/>
          <a:p>
            <a:pPr marL="0" indent="0" algn="l">
              <a:buNone/>
            </a:pPr>
            <a:r>
              <a:rPr lang="en-US" sz="3200" dirty="0">
                <a:solidFill>
                  <a:schemeClr val="tx1"/>
                </a:solidFill>
              </a:rPr>
              <a:t>Telling the player what to do with the space</a:t>
            </a:r>
            <a:endParaRPr lang="en-US" sz="3200" dirty="0"/>
          </a:p>
        </p:txBody>
      </p:sp>
      <p:pic>
        <p:nvPicPr>
          <p:cNvPr id="3" name="entrance corridor" descr="C:\Users\at488\AppData\Local\Temp\claude\C--Users-at488-OneDrive---Hochschule-Luzern-Desktop-Level-World-Design-\cc816706-66e7-4f21-b274-83f61f88f670\scratchpad\deck\screenshots\tower_3_level1.png"/>
          <p:cNvPicPr>
            <a:picLocks noChangeAspect="1"/>
          </p:cNvPicPr>
          <p:nvPr/>
        </p:nvPicPr>
        <p:blipFill>
          <a:blip r:embed="rId3"/>
          <a:stretch>
            <a:fillRect/>
          </a:stretch>
        </p:blipFill>
        <p:spPr>
          <a:xfrm>
            <a:off x="457200" y="1097280"/>
            <a:ext cx="4846320" cy="2724912"/>
          </a:xfrm>
          <a:prstGeom prst="rect">
            <a:avLst/>
          </a:prstGeom>
        </p:spPr>
      </p:pic>
      <p:sp>
        <p:nvSpPr>
          <p:cNvPr id="4" name="Text 1"/>
          <p:cNvSpPr txBox="1"/>
          <p:nvPr/>
        </p:nvSpPr>
        <p:spPr>
          <a:xfrm>
            <a:off x="457200" y="3886200"/>
            <a:ext cx="4846320" cy="274320"/>
          </a:xfrm>
          <a:prstGeom prst="rect">
            <a:avLst/>
          </a:prstGeom>
          <a:noFill/>
          <a:ln/>
        </p:spPr>
        <p:txBody>
          <a:bodyPr wrap="square" lIns="0" tIns="0" rIns="0" bIns="0" rtlCol="0" anchor="ctr"/>
          <a:lstStyle/>
          <a:p>
            <a:pPr marL="0" indent="0">
              <a:buNone/>
            </a:pPr>
            <a:r>
              <a:rPr lang="en-US" sz="1100" i="1" dirty="0">
                <a:solidFill>
                  <a:schemeClr val="accent5"/>
                </a:solidFill>
                <a:latin typeface="Montserrat" panose="00000500000000000000" pitchFamily="2" charset="0"/>
              </a:rPr>
              <a:t>The first view inside: the corridor frames the shutter in front of the stairs.</a:t>
            </a:r>
            <a:endParaRPr lang="en-US" sz="1100" dirty="0">
              <a:latin typeface="Montserrat" panose="00000500000000000000" pitchFamily="2" charset="0"/>
            </a:endParaRPr>
          </a:p>
        </p:txBody>
      </p:sp>
      <p:sp>
        <p:nvSpPr>
          <p:cNvPr id="5" name="Text 2"/>
          <p:cNvSpPr txBox="1"/>
          <p:nvPr/>
        </p:nvSpPr>
        <p:spPr>
          <a:xfrm>
            <a:off x="457200" y="4389120"/>
            <a:ext cx="4846320" cy="1280160"/>
          </a:xfrm>
          <a:prstGeom prst="rect">
            <a:avLst/>
          </a:prstGeom>
          <a:noFill/>
          <a:ln/>
        </p:spPr>
        <p:txBody>
          <a:bodyPr wrap="square" lIns="0" tIns="0" rIns="0" bIns="0" rtlCol="0" anchor="t"/>
          <a:lstStyle/>
          <a:p>
            <a:pPr marL="0" indent="0">
              <a:buNone/>
            </a:pPr>
            <a:r>
              <a:rPr lang="en-US" sz="1500" b="1" dirty="0">
                <a:solidFill>
                  <a:schemeClr val="accent1"/>
                </a:solidFill>
                <a:latin typeface="Montserrat" panose="00000500000000000000" pitchFamily="2" charset="0"/>
              </a:rPr>
              <a:t>After Peter Field, “Spatial Communication in Level Design”: </a:t>
            </a:r>
            <a:r>
              <a:rPr lang="en-US" sz="1500" dirty="0">
                <a:solidFill>
                  <a:schemeClr val="tx2"/>
                </a:solidFill>
                <a:latin typeface="Montserrat" panose="00000500000000000000" pitchFamily="2" charset="0"/>
              </a:rPr>
              <a:t>the level should explain itself through layout, light and colour before any HUD text does.</a:t>
            </a:r>
            <a:endParaRPr lang="en-US" sz="1500" dirty="0">
              <a:latin typeface="Montserrat" panose="00000500000000000000" pitchFamily="2" charset="0"/>
            </a:endParaRPr>
          </a:p>
        </p:txBody>
      </p:sp>
      <p:sp>
        <p:nvSpPr>
          <p:cNvPr id="6" name="card Frame the goal"/>
          <p:cNvSpPr/>
          <p:nvPr/>
        </p:nvSpPr>
        <p:spPr>
          <a:xfrm>
            <a:off x="5715000" y="1097280"/>
            <a:ext cx="2907792" cy="1591056"/>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7" name="dot Frame the goal"/>
          <p:cNvSpPr/>
          <p:nvPr/>
        </p:nvSpPr>
        <p:spPr>
          <a:xfrm>
            <a:off x="5897880" y="1280160"/>
            <a:ext cx="274320" cy="274320"/>
          </a:xfrm>
          <a:prstGeom prst="ellipse">
            <a:avLst/>
          </a:prstGeom>
          <a:solidFill>
            <a:schemeClr val="accent1"/>
          </a:solidFill>
          <a:ln w="12700">
            <a:solidFill>
              <a:schemeClr val="accent1"/>
            </a:solidFill>
            <a:prstDash val="solid"/>
          </a:ln>
        </p:spPr>
        <p:txBody>
          <a:bodyPr/>
          <a:lstStyle/>
          <a:p>
            <a:endParaRPr lang="en-CH" dirty="0">
              <a:latin typeface="Montserrat" panose="00000500000000000000" pitchFamily="2" charset="0"/>
            </a:endParaRPr>
          </a:p>
        </p:txBody>
      </p:sp>
      <p:sp>
        <p:nvSpPr>
          <p:cNvPr id="8" name="Text 5"/>
          <p:cNvSpPr txBox="1"/>
          <p:nvPr/>
        </p:nvSpPr>
        <p:spPr>
          <a:xfrm>
            <a:off x="6281928" y="1234440"/>
            <a:ext cx="2240280" cy="365760"/>
          </a:xfrm>
          <a:prstGeom prst="rect">
            <a:avLst/>
          </a:prstGeom>
          <a:noFill/>
          <a:ln/>
        </p:spPr>
        <p:txBody>
          <a:bodyPr wrap="square" lIns="0" tIns="0" rIns="0" bIns="0" rtlCol="0" anchor="ctr"/>
          <a:lstStyle/>
          <a:p>
            <a:pPr marL="0" indent="0">
              <a:buNone/>
            </a:pPr>
            <a:r>
              <a:rPr lang="en-US" sz="1600" dirty="0">
                <a:solidFill>
                  <a:schemeClr val="tx1"/>
                </a:solidFill>
                <a:latin typeface="Montserrat" panose="00000500000000000000" pitchFamily="2" charset="0"/>
              </a:rPr>
              <a:t>Frame the goal</a:t>
            </a:r>
            <a:endParaRPr lang="en-US" sz="1600" dirty="0">
              <a:latin typeface="Montserrat" panose="00000500000000000000" pitchFamily="2" charset="0"/>
            </a:endParaRPr>
          </a:p>
        </p:txBody>
      </p:sp>
      <p:sp>
        <p:nvSpPr>
          <p:cNvPr id="9" name="Text 6"/>
          <p:cNvSpPr txBox="1"/>
          <p:nvPr/>
        </p:nvSpPr>
        <p:spPr>
          <a:xfrm>
            <a:off x="5897880" y="1664208"/>
            <a:ext cx="2606040" cy="960120"/>
          </a:xfrm>
          <a:prstGeom prst="rect">
            <a:avLst/>
          </a:prstGeom>
          <a:noFill/>
          <a:ln/>
        </p:spPr>
        <p:txBody>
          <a:bodyPr wrap="square" lIns="0" tIns="0" rIns="0" bIns="0" rtlCol="0" anchor="t"/>
          <a:lstStyle/>
          <a:p>
            <a:pPr marL="0" indent="0">
              <a:buNone/>
            </a:pPr>
            <a:r>
              <a:rPr lang="en-US" sz="1300" dirty="0">
                <a:solidFill>
                  <a:schemeClr val="tx2"/>
                </a:solidFill>
                <a:latin typeface="Montserrat" panose="00000500000000000000" pitchFamily="2" charset="0"/>
              </a:rPr>
              <a:t>The entrance corridor points straight at the shutter and the stairs behind it, and that is what the trap closes.</a:t>
            </a:r>
            <a:endParaRPr lang="en-US" sz="1300" dirty="0">
              <a:latin typeface="Montserrat" panose="00000500000000000000" pitchFamily="2" charset="0"/>
            </a:endParaRPr>
          </a:p>
        </p:txBody>
      </p:sp>
      <p:sp>
        <p:nvSpPr>
          <p:cNvPr id="10" name="card Colour is a rule"/>
          <p:cNvSpPr/>
          <p:nvPr/>
        </p:nvSpPr>
        <p:spPr>
          <a:xfrm>
            <a:off x="8750808" y="1097280"/>
            <a:ext cx="2907792" cy="1591056"/>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11" name="dot Colour is a rule"/>
          <p:cNvSpPr/>
          <p:nvPr/>
        </p:nvSpPr>
        <p:spPr>
          <a:xfrm>
            <a:off x="8933688" y="1280160"/>
            <a:ext cx="274320" cy="274320"/>
          </a:xfrm>
          <a:prstGeom prst="ellipse">
            <a:avLst/>
          </a:prstGeom>
          <a:solidFill>
            <a:schemeClr val="accent2"/>
          </a:solidFill>
          <a:ln w="12700">
            <a:solidFill>
              <a:schemeClr val="accent2"/>
            </a:solidFill>
            <a:prstDash val="solid"/>
          </a:ln>
        </p:spPr>
        <p:txBody>
          <a:bodyPr/>
          <a:lstStyle/>
          <a:p>
            <a:endParaRPr lang="en-CH" dirty="0">
              <a:latin typeface="Montserrat" panose="00000500000000000000" pitchFamily="2" charset="0"/>
            </a:endParaRPr>
          </a:p>
        </p:txBody>
      </p:sp>
      <p:sp>
        <p:nvSpPr>
          <p:cNvPr id="12" name="Text 9"/>
          <p:cNvSpPr txBox="1"/>
          <p:nvPr/>
        </p:nvSpPr>
        <p:spPr>
          <a:xfrm>
            <a:off x="9317736" y="1234440"/>
            <a:ext cx="2240280" cy="365760"/>
          </a:xfrm>
          <a:prstGeom prst="rect">
            <a:avLst/>
          </a:prstGeom>
          <a:noFill/>
          <a:ln/>
        </p:spPr>
        <p:txBody>
          <a:bodyPr wrap="square" lIns="0" tIns="0" rIns="0" bIns="0" rtlCol="0" anchor="ctr"/>
          <a:lstStyle/>
          <a:p>
            <a:pPr marL="0" indent="0">
              <a:buNone/>
            </a:pPr>
            <a:r>
              <a:rPr lang="en-US" sz="1600" dirty="0">
                <a:solidFill>
                  <a:schemeClr val="tx1"/>
                </a:solidFill>
                <a:latin typeface="Montserrat" panose="00000500000000000000" pitchFamily="2" charset="0"/>
              </a:rPr>
              <a:t>Colour is a rule</a:t>
            </a:r>
            <a:endParaRPr lang="en-US" sz="1600" dirty="0">
              <a:latin typeface="Montserrat" panose="00000500000000000000" pitchFamily="2" charset="0"/>
            </a:endParaRPr>
          </a:p>
        </p:txBody>
      </p:sp>
      <p:sp>
        <p:nvSpPr>
          <p:cNvPr id="13" name="Text 10"/>
          <p:cNvSpPr txBox="1"/>
          <p:nvPr/>
        </p:nvSpPr>
        <p:spPr>
          <a:xfrm>
            <a:off x="8933688" y="1664208"/>
            <a:ext cx="2606040" cy="960120"/>
          </a:xfrm>
          <a:prstGeom prst="rect">
            <a:avLst/>
          </a:prstGeom>
          <a:noFill/>
          <a:ln/>
        </p:spPr>
        <p:txBody>
          <a:bodyPr wrap="square" lIns="0" tIns="0" rIns="0" bIns="0" rtlCol="0" anchor="t"/>
          <a:lstStyle/>
          <a:p>
            <a:pPr marL="0" indent="0">
              <a:buNone/>
            </a:pPr>
            <a:r>
              <a:rPr lang="en-US" sz="1300" dirty="0">
                <a:solidFill>
                  <a:schemeClr val="tx2"/>
                </a:solidFill>
                <a:latin typeface="Montserrat" panose="00000500000000000000" pitchFamily="2" charset="0"/>
              </a:rPr>
              <a:t>Red means locked or danger, green means open, yellow stripes mark gates and the key slot.</a:t>
            </a:r>
            <a:endParaRPr lang="en-US" sz="1300" dirty="0">
              <a:latin typeface="Montserrat" panose="00000500000000000000" pitchFamily="2" charset="0"/>
            </a:endParaRPr>
          </a:p>
        </p:txBody>
      </p:sp>
      <p:sp>
        <p:nvSpPr>
          <p:cNvPr id="14" name="card Show the threat first"/>
          <p:cNvSpPr/>
          <p:nvPr/>
        </p:nvSpPr>
        <p:spPr>
          <a:xfrm>
            <a:off x="5715000" y="2816352"/>
            <a:ext cx="2907792" cy="1591056"/>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15" name="dot Show the threat first"/>
          <p:cNvSpPr/>
          <p:nvPr/>
        </p:nvSpPr>
        <p:spPr>
          <a:xfrm>
            <a:off x="5897880" y="2999232"/>
            <a:ext cx="274320" cy="274320"/>
          </a:xfrm>
          <a:prstGeom prst="ellipse">
            <a:avLst/>
          </a:prstGeom>
          <a:solidFill>
            <a:schemeClr val="accent2"/>
          </a:solidFill>
          <a:ln w="12700">
            <a:solidFill>
              <a:schemeClr val="accent2"/>
            </a:solidFill>
            <a:prstDash val="solid"/>
          </a:ln>
        </p:spPr>
        <p:txBody>
          <a:bodyPr/>
          <a:lstStyle/>
          <a:p>
            <a:endParaRPr lang="en-CH" dirty="0">
              <a:latin typeface="Montserrat" panose="00000500000000000000" pitchFamily="2" charset="0"/>
            </a:endParaRPr>
          </a:p>
        </p:txBody>
      </p:sp>
      <p:sp>
        <p:nvSpPr>
          <p:cNvPr id="16" name="Text 13"/>
          <p:cNvSpPr txBox="1"/>
          <p:nvPr/>
        </p:nvSpPr>
        <p:spPr>
          <a:xfrm>
            <a:off x="6281928" y="2953512"/>
            <a:ext cx="2240280" cy="365760"/>
          </a:xfrm>
          <a:prstGeom prst="rect">
            <a:avLst/>
          </a:prstGeom>
          <a:noFill/>
          <a:ln/>
        </p:spPr>
        <p:txBody>
          <a:bodyPr wrap="square" lIns="0" tIns="0" rIns="0" bIns="0" rtlCol="0" anchor="ctr"/>
          <a:lstStyle/>
          <a:p>
            <a:pPr marL="0" indent="0">
              <a:buNone/>
            </a:pPr>
            <a:r>
              <a:rPr lang="en-US" sz="1600" dirty="0">
                <a:solidFill>
                  <a:schemeClr val="tx1"/>
                </a:solidFill>
                <a:latin typeface="Montserrat" panose="00000500000000000000" pitchFamily="2" charset="0"/>
              </a:rPr>
              <a:t>Show the threat first</a:t>
            </a:r>
            <a:endParaRPr lang="en-US" sz="1600" dirty="0">
              <a:latin typeface="Montserrat" panose="00000500000000000000" pitchFamily="2" charset="0"/>
            </a:endParaRPr>
          </a:p>
        </p:txBody>
      </p:sp>
      <p:sp>
        <p:nvSpPr>
          <p:cNvPr id="17" name="Text 14"/>
          <p:cNvSpPr txBox="1"/>
          <p:nvPr/>
        </p:nvSpPr>
        <p:spPr>
          <a:xfrm>
            <a:off x="5897880" y="3383280"/>
            <a:ext cx="2606040" cy="960120"/>
          </a:xfrm>
          <a:prstGeom prst="rect">
            <a:avLst/>
          </a:prstGeom>
          <a:noFill/>
          <a:ln/>
        </p:spPr>
        <p:txBody>
          <a:bodyPr wrap="square" lIns="0" tIns="0" rIns="0" bIns="0" rtlCol="0" anchor="t"/>
          <a:lstStyle/>
          <a:p>
            <a:pPr marL="0" indent="0">
              <a:buNone/>
            </a:pPr>
            <a:r>
              <a:rPr lang="en-US" sz="1300" dirty="0">
                <a:solidFill>
                  <a:schemeClr val="tx2"/>
                </a:solidFill>
                <a:latin typeface="Montserrat" panose="00000500000000000000" pitchFamily="2" charset="0"/>
              </a:rPr>
              <a:t>The camera's sweeping light cone is visible before it sees you: shoot it or slip past.</a:t>
            </a:r>
            <a:endParaRPr lang="en-US" sz="1300" dirty="0">
              <a:latin typeface="Montserrat" panose="00000500000000000000" pitchFamily="2" charset="0"/>
            </a:endParaRPr>
          </a:p>
        </p:txBody>
      </p:sp>
      <p:sp>
        <p:nvSpPr>
          <p:cNvPr id="18" name="card One interaction"/>
          <p:cNvSpPr/>
          <p:nvPr/>
        </p:nvSpPr>
        <p:spPr>
          <a:xfrm>
            <a:off x="8750808" y="2816352"/>
            <a:ext cx="2907792" cy="1591056"/>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19" name="dot One interaction"/>
          <p:cNvSpPr/>
          <p:nvPr/>
        </p:nvSpPr>
        <p:spPr>
          <a:xfrm>
            <a:off x="8933688" y="2999232"/>
            <a:ext cx="274320" cy="274320"/>
          </a:xfrm>
          <a:prstGeom prst="ellipse">
            <a:avLst/>
          </a:prstGeom>
          <a:solidFill>
            <a:schemeClr val="accent1"/>
          </a:solidFill>
          <a:ln w="12700">
            <a:solidFill>
              <a:schemeClr val="accent1"/>
            </a:solidFill>
            <a:prstDash val="solid"/>
          </a:ln>
        </p:spPr>
        <p:txBody>
          <a:bodyPr/>
          <a:lstStyle/>
          <a:p>
            <a:endParaRPr lang="en-CH" dirty="0">
              <a:latin typeface="Montserrat" panose="00000500000000000000" pitchFamily="2" charset="0"/>
            </a:endParaRPr>
          </a:p>
        </p:txBody>
      </p:sp>
      <p:sp>
        <p:nvSpPr>
          <p:cNvPr id="20" name="Text 17"/>
          <p:cNvSpPr txBox="1"/>
          <p:nvPr/>
        </p:nvSpPr>
        <p:spPr>
          <a:xfrm>
            <a:off x="9317736" y="2953512"/>
            <a:ext cx="2240280" cy="365760"/>
          </a:xfrm>
          <a:prstGeom prst="rect">
            <a:avLst/>
          </a:prstGeom>
          <a:noFill/>
          <a:ln/>
        </p:spPr>
        <p:txBody>
          <a:bodyPr wrap="square" lIns="0" tIns="0" rIns="0" bIns="0" rtlCol="0" anchor="ctr"/>
          <a:lstStyle/>
          <a:p>
            <a:pPr marL="0" indent="0">
              <a:buNone/>
            </a:pPr>
            <a:r>
              <a:rPr lang="en-US" sz="1600" dirty="0">
                <a:solidFill>
                  <a:schemeClr val="tx1"/>
                </a:solidFill>
                <a:latin typeface="Montserrat" panose="00000500000000000000" pitchFamily="2" charset="0"/>
              </a:rPr>
              <a:t>One interaction</a:t>
            </a:r>
            <a:endParaRPr lang="en-US" sz="1600" dirty="0">
              <a:latin typeface="Montserrat" panose="00000500000000000000" pitchFamily="2" charset="0"/>
            </a:endParaRPr>
          </a:p>
        </p:txBody>
      </p:sp>
      <p:sp>
        <p:nvSpPr>
          <p:cNvPr id="21" name="Text 18"/>
          <p:cNvSpPr txBox="1"/>
          <p:nvPr/>
        </p:nvSpPr>
        <p:spPr>
          <a:xfrm>
            <a:off x="8933688" y="3383280"/>
            <a:ext cx="2606040" cy="960120"/>
          </a:xfrm>
          <a:prstGeom prst="rect">
            <a:avLst/>
          </a:prstGeom>
          <a:noFill/>
          <a:ln/>
        </p:spPr>
        <p:txBody>
          <a:bodyPr wrap="square" lIns="0" tIns="0" rIns="0" bIns="0" rtlCol="0" anchor="t"/>
          <a:lstStyle/>
          <a:p>
            <a:pPr marL="0" indent="0">
              <a:buNone/>
            </a:pPr>
            <a:r>
              <a:rPr lang="en-US" sz="1300" dirty="0">
                <a:solidFill>
                  <a:schemeClr val="tx2"/>
                </a:solidFill>
                <a:latin typeface="Montserrat" panose="00000500000000000000" pitchFamily="2" charset="0"/>
              </a:rPr>
              <a:t>Only the key slot uses [E], so the one thing to press stands out.</a:t>
            </a:r>
            <a:endParaRPr lang="en-US" sz="1300" dirty="0">
              <a:latin typeface="Montserrat" panose="00000500000000000000" pitchFamily="2" charset="0"/>
            </a:endParaRPr>
          </a:p>
        </p:txBody>
      </p:sp>
      <p:sp>
        <p:nvSpPr>
          <p:cNvPr id="22" name="card Open means the way"/>
          <p:cNvSpPr/>
          <p:nvPr/>
        </p:nvSpPr>
        <p:spPr>
          <a:xfrm>
            <a:off x="5715000" y="4535424"/>
            <a:ext cx="2907792" cy="1591056"/>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23" name="dot Open means the way"/>
          <p:cNvSpPr/>
          <p:nvPr/>
        </p:nvSpPr>
        <p:spPr>
          <a:xfrm>
            <a:off x="5897880" y="4718304"/>
            <a:ext cx="274320" cy="274320"/>
          </a:xfrm>
          <a:prstGeom prst="ellipse">
            <a:avLst/>
          </a:prstGeom>
          <a:solidFill>
            <a:schemeClr val="accent3"/>
          </a:solidFill>
          <a:ln w="12700">
            <a:solidFill>
              <a:schemeClr val="accent3"/>
            </a:solidFill>
            <a:prstDash val="solid"/>
          </a:ln>
        </p:spPr>
        <p:txBody>
          <a:bodyPr/>
          <a:lstStyle/>
          <a:p>
            <a:endParaRPr lang="en-CH" dirty="0">
              <a:latin typeface="Montserrat" panose="00000500000000000000" pitchFamily="2" charset="0"/>
            </a:endParaRPr>
          </a:p>
        </p:txBody>
      </p:sp>
      <p:sp>
        <p:nvSpPr>
          <p:cNvPr id="24" name="Text 21"/>
          <p:cNvSpPr txBox="1"/>
          <p:nvPr/>
        </p:nvSpPr>
        <p:spPr>
          <a:xfrm>
            <a:off x="6281928" y="4672584"/>
            <a:ext cx="2240280" cy="365760"/>
          </a:xfrm>
          <a:prstGeom prst="rect">
            <a:avLst/>
          </a:prstGeom>
          <a:noFill/>
          <a:ln/>
        </p:spPr>
        <p:txBody>
          <a:bodyPr wrap="square" lIns="0" tIns="0" rIns="0" bIns="0" rtlCol="0" anchor="ctr"/>
          <a:lstStyle/>
          <a:p>
            <a:pPr marL="0" indent="0">
              <a:buNone/>
            </a:pPr>
            <a:r>
              <a:rPr lang="en-US" sz="1600" dirty="0">
                <a:solidFill>
                  <a:schemeClr val="tx1"/>
                </a:solidFill>
                <a:latin typeface="Montserrat" panose="00000500000000000000" pitchFamily="2" charset="0"/>
              </a:rPr>
              <a:t>Open means the way</a:t>
            </a:r>
            <a:endParaRPr lang="en-US" sz="1600" dirty="0">
              <a:latin typeface="Montserrat" panose="00000500000000000000" pitchFamily="2" charset="0"/>
            </a:endParaRPr>
          </a:p>
        </p:txBody>
      </p:sp>
      <p:sp>
        <p:nvSpPr>
          <p:cNvPr id="25" name="Text 22"/>
          <p:cNvSpPr txBox="1"/>
          <p:nvPr/>
        </p:nvSpPr>
        <p:spPr>
          <a:xfrm>
            <a:off x="5897880" y="5102352"/>
            <a:ext cx="2606040" cy="960120"/>
          </a:xfrm>
          <a:prstGeom prst="rect">
            <a:avLst/>
          </a:prstGeom>
          <a:noFill/>
          <a:ln/>
        </p:spPr>
        <p:txBody>
          <a:bodyPr wrap="square" lIns="0" tIns="0" rIns="0" bIns="0" rtlCol="0" anchor="t"/>
          <a:lstStyle/>
          <a:p>
            <a:pPr marL="0" indent="0">
              <a:buNone/>
            </a:pPr>
            <a:r>
              <a:rPr lang="en-US" sz="1300" dirty="0">
                <a:solidFill>
                  <a:schemeClr val="tx2"/>
                </a:solidFill>
                <a:latin typeface="Montserrat" panose="00000500000000000000" pitchFamily="2" charset="0"/>
              </a:rPr>
              <a:t>Doors on the route stand open, locked doors stay shut: the path reads at a glance.</a:t>
            </a:r>
            <a:endParaRPr lang="en-US" sz="1300" dirty="0">
              <a:latin typeface="Montserrat" panose="00000500000000000000" pitchFamily="2" charset="0"/>
            </a:endParaRPr>
          </a:p>
        </p:txBody>
      </p:sp>
      <p:sp>
        <p:nvSpPr>
          <p:cNvPr id="26" name="card Light pulls you on"/>
          <p:cNvSpPr/>
          <p:nvPr/>
        </p:nvSpPr>
        <p:spPr>
          <a:xfrm>
            <a:off x="8750808" y="4535424"/>
            <a:ext cx="2907792" cy="1591056"/>
          </a:xfrm>
          <a:prstGeom prst="rect">
            <a:avLst/>
          </a:prstGeom>
          <a:solidFill>
            <a:schemeClr val="bg2"/>
          </a:solidFill>
          <a:ln w="12700">
            <a:solidFill>
              <a:schemeClr val="bg2"/>
            </a:solidFill>
            <a:prstDash val="solid"/>
          </a:ln>
        </p:spPr>
        <p:txBody>
          <a:bodyPr/>
          <a:lstStyle/>
          <a:p>
            <a:endParaRPr lang="en-CH" dirty="0">
              <a:latin typeface="Montserrat" panose="00000500000000000000" pitchFamily="2" charset="0"/>
            </a:endParaRPr>
          </a:p>
        </p:txBody>
      </p:sp>
      <p:sp>
        <p:nvSpPr>
          <p:cNvPr id="27" name="dot Light pulls you on"/>
          <p:cNvSpPr/>
          <p:nvPr/>
        </p:nvSpPr>
        <p:spPr>
          <a:xfrm>
            <a:off x="8933688" y="4718304"/>
            <a:ext cx="274320" cy="274320"/>
          </a:xfrm>
          <a:prstGeom prst="ellipse">
            <a:avLst/>
          </a:prstGeom>
          <a:solidFill>
            <a:schemeClr val="accent4"/>
          </a:solidFill>
          <a:ln w="12700">
            <a:solidFill>
              <a:schemeClr val="accent4"/>
            </a:solidFill>
            <a:prstDash val="solid"/>
          </a:ln>
        </p:spPr>
        <p:txBody>
          <a:bodyPr/>
          <a:lstStyle/>
          <a:p>
            <a:endParaRPr lang="en-CH" dirty="0">
              <a:latin typeface="Montserrat" panose="00000500000000000000" pitchFamily="2" charset="0"/>
            </a:endParaRPr>
          </a:p>
        </p:txBody>
      </p:sp>
      <p:sp>
        <p:nvSpPr>
          <p:cNvPr id="28" name="Text 25"/>
          <p:cNvSpPr txBox="1"/>
          <p:nvPr/>
        </p:nvSpPr>
        <p:spPr>
          <a:xfrm>
            <a:off x="9317736" y="4672584"/>
            <a:ext cx="2240280" cy="365760"/>
          </a:xfrm>
          <a:prstGeom prst="rect">
            <a:avLst/>
          </a:prstGeom>
          <a:noFill/>
          <a:ln/>
        </p:spPr>
        <p:txBody>
          <a:bodyPr wrap="square" lIns="0" tIns="0" rIns="0" bIns="0" rtlCol="0" anchor="ctr"/>
          <a:lstStyle/>
          <a:p>
            <a:pPr marL="0" indent="0">
              <a:buNone/>
            </a:pPr>
            <a:r>
              <a:rPr lang="en-US" sz="1600" dirty="0">
                <a:solidFill>
                  <a:schemeClr val="tx1"/>
                </a:solidFill>
                <a:latin typeface="Montserrat" panose="00000500000000000000" pitchFamily="2" charset="0"/>
              </a:rPr>
              <a:t>Light pulls you on</a:t>
            </a:r>
            <a:endParaRPr lang="en-US" sz="1600" dirty="0">
              <a:latin typeface="Montserrat" panose="00000500000000000000" pitchFamily="2" charset="0"/>
            </a:endParaRPr>
          </a:p>
        </p:txBody>
      </p:sp>
      <p:sp>
        <p:nvSpPr>
          <p:cNvPr id="29" name="Text 26"/>
          <p:cNvSpPr txBox="1"/>
          <p:nvPr/>
        </p:nvSpPr>
        <p:spPr>
          <a:xfrm>
            <a:off x="8933688" y="5102352"/>
            <a:ext cx="2606040" cy="960120"/>
          </a:xfrm>
          <a:prstGeom prst="rect">
            <a:avLst/>
          </a:prstGeom>
          <a:noFill/>
          <a:ln/>
        </p:spPr>
        <p:txBody>
          <a:bodyPr wrap="square" lIns="0" tIns="0" rIns="0" bIns="0" rtlCol="0" anchor="t"/>
          <a:lstStyle/>
          <a:p>
            <a:pPr marL="0" indent="0">
              <a:buNone/>
            </a:pPr>
            <a:r>
              <a:rPr lang="en-US" sz="1300" dirty="0">
                <a:solidFill>
                  <a:schemeClr val="tx2"/>
                </a:solidFill>
                <a:latin typeface="Montserrat" panose="00000500000000000000" pitchFamily="2" charset="0"/>
              </a:rPr>
              <a:t>Daylight through the breach and the “HELIPAD →” sign lead to the finale.</a:t>
            </a:r>
            <a:endParaRPr lang="en-US" sz="1300" dirty="0">
              <a:latin typeface="Montserrat" panose="00000500000000000000" pitchFamily="2" charset="0"/>
            </a:endParaRPr>
          </a:p>
        </p:txBody>
      </p:sp>
      <p:sp>
        <p:nvSpPr>
          <p:cNvPr id="30"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F98"/>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1247120" cy="640080"/>
          </a:xfrm>
          <a:prstGeom prst="rect">
            <a:avLst/>
          </a:prstGeom>
          <a:noFill/>
          <a:ln/>
        </p:spPr>
        <p:txBody>
          <a:bodyPr wrap="square" lIns="0" tIns="0" rIns="0" bIns="0" rtlCol="0" anchor="ctr"/>
          <a:lstStyle/>
          <a:p>
            <a:pPr marL="0" indent="0" algn="l">
              <a:buNone/>
            </a:pPr>
            <a:r>
              <a:rPr lang="en-US" sz="3200" dirty="0">
                <a:solidFill>
                  <a:schemeClr val="tx1"/>
                </a:solidFill>
              </a:rPr>
              <a:t>Where it stands</a:t>
            </a:r>
            <a:endParaRPr lang="en-US" sz="3200" dirty="0"/>
          </a:p>
        </p:txBody>
      </p:sp>
      <p:sp>
        <p:nvSpPr>
          <p:cNvPr id="3" name="Text 1"/>
          <p:cNvSpPr txBox="1"/>
          <p:nvPr/>
        </p:nvSpPr>
        <p:spPr>
          <a:xfrm>
            <a:off x="457200" y="1097280"/>
            <a:ext cx="5120640" cy="320040"/>
          </a:xfrm>
          <a:prstGeom prst="rect">
            <a:avLst/>
          </a:prstGeom>
          <a:noFill/>
          <a:ln/>
        </p:spPr>
        <p:txBody>
          <a:bodyPr wrap="square" lIns="0" tIns="0" rIns="0" bIns="0" rtlCol="0" anchor="ctr"/>
          <a:lstStyle/>
          <a:p>
            <a:pPr marL="0" indent="0">
              <a:buNone/>
            </a:pPr>
            <a:r>
              <a:rPr lang="en-US" sz="1300" b="1" dirty="0">
                <a:solidFill>
                  <a:schemeClr val="accent3"/>
                </a:solidFill>
                <a:latin typeface="Montserrat" panose="00000500000000000000" pitchFamily="2" charset="0"/>
              </a:rPr>
              <a:t>PLAYABLE TODAY</a:t>
            </a:r>
            <a:endParaRPr lang="en-US" sz="1300" dirty="0">
              <a:latin typeface="Montserrat" panose="00000500000000000000" pitchFamily="2" charset="0"/>
            </a:endParaRPr>
          </a:p>
        </p:txBody>
      </p:sp>
      <p:sp>
        <p:nvSpPr>
          <p:cNvPr id="4" name="Text 2"/>
          <p:cNvSpPr txBox="1"/>
          <p:nvPr/>
        </p:nvSpPr>
        <p:spPr>
          <a:xfrm>
            <a:off x="457200" y="1508760"/>
            <a:ext cx="329184" cy="329184"/>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a:t>
            </a:r>
            <a:endParaRPr lang="en-US" sz="1400" dirty="0">
              <a:latin typeface="Montserrat" panose="00000500000000000000" pitchFamily="2" charset="0"/>
            </a:endParaRPr>
          </a:p>
        </p:txBody>
      </p:sp>
      <p:sp>
        <p:nvSpPr>
          <p:cNvPr id="5" name="Text 3"/>
          <p:cNvSpPr txBox="1"/>
          <p:nvPr/>
        </p:nvSpPr>
        <p:spPr>
          <a:xfrm>
            <a:off x="914400" y="1490472"/>
            <a:ext cx="466344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All three floors and the helipad, start to end screen</a:t>
            </a:r>
            <a:endParaRPr lang="en-US" sz="1500" dirty="0">
              <a:latin typeface="Montserrat" panose="00000500000000000000" pitchFamily="2" charset="0"/>
            </a:endParaRPr>
          </a:p>
        </p:txBody>
      </p:sp>
      <p:sp>
        <p:nvSpPr>
          <p:cNvPr id="6" name="Text 4"/>
          <p:cNvSpPr txBox="1"/>
          <p:nvPr/>
        </p:nvSpPr>
        <p:spPr>
          <a:xfrm>
            <a:off x="457200" y="2075688"/>
            <a:ext cx="329184" cy="329184"/>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a:t>
            </a:r>
            <a:endParaRPr lang="en-US" sz="1400" dirty="0">
              <a:latin typeface="Montserrat" panose="00000500000000000000" pitchFamily="2" charset="0"/>
            </a:endParaRPr>
          </a:p>
        </p:txBody>
      </p:sp>
      <p:sp>
        <p:nvSpPr>
          <p:cNvPr id="7" name="Text 5"/>
          <p:cNvSpPr txBox="1"/>
          <p:nvPr/>
        </p:nvSpPr>
        <p:spPr>
          <a:xfrm>
            <a:off x="914400" y="2057400"/>
            <a:ext cx="466344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Alarm trap, security camera, key and key slot</a:t>
            </a:r>
            <a:endParaRPr lang="en-US" sz="1500" dirty="0">
              <a:latin typeface="Montserrat" panose="00000500000000000000" pitchFamily="2" charset="0"/>
            </a:endParaRPr>
          </a:p>
        </p:txBody>
      </p:sp>
      <p:sp>
        <p:nvSpPr>
          <p:cNvPr id="8" name="Text 6"/>
          <p:cNvSpPr txBox="1"/>
          <p:nvPr/>
        </p:nvSpPr>
        <p:spPr>
          <a:xfrm>
            <a:off x="457200" y="2642616"/>
            <a:ext cx="329184" cy="329184"/>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a:t>
            </a:r>
            <a:endParaRPr lang="en-US" sz="1400" dirty="0">
              <a:latin typeface="Montserrat" panose="00000500000000000000" pitchFamily="2" charset="0"/>
            </a:endParaRPr>
          </a:p>
        </p:txBody>
      </p:sp>
      <p:sp>
        <p:nvSpPr>
          <p:cNvPr id="9" name="Text 7"/>
          <p:cNvSpPr txBox="1"/>
          <p:nvPr/>
        </p:nvSpPr>
        <p:spPr>
          <a:xfrm>
            <a:off x="914400" y="2624328"/>
            <a:ext cx="466344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Rifle-only heavy robot, boss, helicopter extraction</a:t>
            </a:r>
            <a:endParaRPr lang="en-US" sz="1500" dirty="0">
              <a:latin typeface="Montserrat" panose="00000500000000000000" pitchFamily="2" charset="0"/>
            </a:endParaRPr>
          </a:p>
        </p:txBody>
      </p:sp>
      <p:sp>
        <p:nvSpPr>
          <p:cNvPr id="10" name="Text 8"/>
          <p:cNvSpPr txBox="1"/>
          <p:nvPr/>
        </p:nvSpPr>
        <p:spPr>
          <a:xfrm>
            <a:off x="457200" y="3209544"/>
            <a:ext cx="329184" cy="329184"/>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a:t>
            </a:r>
            <a:endParaRPr lang="en-US" sz="1400" dirty="0">
              <a:latin typeface="Montserrat" panose="00000500000000000000" pitchFamily="2" charset="0"/>
            </a:endParaRPr>
          </a:p>
        </p:txBody>
      </p:sp>
      <p:sp>
        <p:nvSpPr>
          <p:cNvPr id="11" name="Text 9"/>
          <p:cNvSpPr txBox="1"/>
          <p:nvPr/>
        </p:nvSpPr>
        <p:spPr>
          <a:xfrm>
            <a:off x="914400" y="3191256"/>
            <a:ext cx="466344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Five hidden coins, checkpoint per level, achievements</a:t>
            </a:r>
            <a:endParaRPr lang="en-US" sz="1500" dirty="0">
              <a:latin typeface="Montserrat" panose="00000500000000000000" pitchFamily="2" charset="0"/>
            </a:endParaRPr>
          </a:p>
        </p:txBody>
      </p:sp>
      <p:sp>
        <p:nvSpPr>
          <p:cNvPr id="12" name="Text 10"/>
          <p:cNvSpPr txBox="1"/>
          <p:nvPr/>
        </p:nvSpPr>
        <p:spPr>
          <a:xfrm>
            <a:off x="457200" y="3776472"/>
            <a:ext cx="329184" cy="329184"/>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a:t>
            </a:r>
            <a:endParaRPr lang="en-US" sz="1400" dirty="0">
              <a:latin typeface="Montserrat" panose="00000500000000000000" pitchFamily="2" charset="0"/>
            </a:endParaRPr>
          </a:p>
        </p:txBody>
      </p:sp>
      <p:sp>
        <p:nvSpPr>
          <p:cNvPr id="13" name="Text 11"/>
          <p:cNvSpPr txBox="1"/>
          <p:nvPr/>
        </p:nvSpPr>
        <p:spPr>
          <a:xfrm>
            <a:off x="914400" y="3758184"/>
            <a:ext cx="466344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Procedural part: seeded soldier placement per play</a:t>
            </a:r>
            <a:endParaRPr lang="en-US" sz="1500" dirty="0">
              <a:latin typeface="Montserrat" panose="00000500000000000000" pitchFamily="2" charset="0"/>
            </a:endParaRPr>
          </a:p>
        </p:txBody>
      </p:sp>
      <p:sp>
        <p:nvSpPr>
          <p:cNvPr id="14" name="Text 12"/>
          <p:cNvSpPr txBox="1"/>
          <p:nvPr/>
        </p:nvSpPr>
        <p:spPr>
          <a:xfrm>
            <a:off x="457200" y="4343400"/>
            <a:ext cx="329184" cy="329184"/>
          </a:xfrm>
          <a:prstGeom prst="ellipse">
            <a:avLst/>
          </a:prstGeom>
          <a:solidFill>
            <a:schemeClr val="accent3"/>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a:t>
            </a:r>
            <a:endParaRPr lang="en-US" sz="1400" dirty="0">
              <a:latin typeface="Montserrat" panose="00000500000000000000" pitchFamily="2" charset="0"/>
            </a:endParaRPr>
          </a:p>
        </p:txBody>
      </p:sp>
      <p:sp>
        <p:nvSpPr>
          <p:cNvPr id="15" name="Text 13"/>
          <p:cNvSpPr txBox="1"/>
          <p:nvPr/>
        </p:nvSpPr>
        <p:spPr>
          <a:xfrm>
            <a:off x="914400" y="4325112"/>
            <a:ext cx="466344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Automated playtest bot plays the whole level and runs 30+ checks on every change</a:t>
            </a:r>
            <a:endParaRPr lang="en-US" sz="1500" dirty="0">
              <a:latin typeface="Montserrat" panose="00000500000000000000" pitchFamily="2" charset="0"/>
            </a:endParaRPr>
          </a:p>
        </p:txBody>
      </p:sp>
      <p:sp>
        <p:nvSpPr>
          <p:cNvPr id="16" name="Text 14"/>
          <p:cNvSpPr txBox="1"/>
          <p:nvPr/>
        </p:nvSpPr>
        <p:spPr>
          <a:xfrm>
            <a:off x="6035040" y="1097280"/>
            <a:ext cx="5669280" cy="320040"/>
          </a:xfrm>
          <a:prstGeom prst="rect">
            <a:avLst/>
          </a:prstGeom>
          <a:noFill/>
          <a:ln/>
        </p:spPr>
        <p:txBody>
          <a:bodyPr wrap="square" lIns="0" tIns="0" rIns="0" bIns="0" rtlCol="0" anchor="ctr"/>
          <a:lstStyle/>
          <a:p>
            <a:pPr marL="0" indent="0">
              <a:buNone/>
            </a:pPr>
            <a:r>
              <a:rPr lang="en-US" sz="1300" b="1" dirty="0">
                <a:solidFill>
                  <a:schemeClr val="accent1"/>
                </a:solidFill>
                <a:latin typeface="Montserrat" panose="00000500000000000000" pitchFamily="2" charset="0"/>
              </a:rPr>
              <a:t>NEXT</a:t>
            </a:r>
            <a:endParaRPr lang="en-US" sz="1300" dirty="0">
              <a:latin typeface="Montserrat" panose="00000500000000000000" pitchFamily="2" charset="0"/>
            </a:endParaRPr>
          </a:p>
        </p:txBody>
      </p:sp>
      <p:sp>
        <p:nvSpPr>
          <p:cNvPr id="17" name="Text 15"/>
          <p:cNvSpPr txBox="1"/>
          <p:nvPr/>
        </p:nvSpPr>
        <p:spPr>
          <a:xfrm>
            <a:off x="6035040" y="1508760"/>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1</a:t>
            </a:r>
            <a:endParaRPr lang="en-US" sz="1400" dirty="0">
              <a:latin typeface="Montserrat" panose="00000500000000000000" pitchFamily="2" charset="0"/>
            </a:endParaRPr>
          </a:p>
        </p:txBody>
      </p:sp>
      <p:sp>
        <p:nvSpPr>
          <p:cNvPr id="18" name="Text 16"/>
          <p:cNvSpPr txBox="1"/>
          <p:nvPr/>
        </p:nvSpPr>
        <p:spPr>
          <a:xfrm>
            <a:off x="6492240" y="1490472"/>
            <a:ext cx="521208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My own Blender models for the robot, the boss and the helicopter (placeholders now)</a:t>
            </a:r>
            <a:endParaRPr lang="en-US" sz="1500" dirty="0">
              <a:latin typeface="Montserrat" panose="00000500000000000000" pitchFamily="2" charset="0"/>
            </a:endParaRPr>
          </a:p>
        </p:txBody>
      </p:sp>
      <p:sp>
        <p:nvSpPr>
          <p:cNvPr id="19" name="Text 17"/>
          <p:cNvSpPr txBox="1"/>
          <p:nvPr/>
        </p:nvSpPr>
        <p:spPr>
          <a:xfrm>
            <a:off x="6035040" y="2075688"/>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2</a:t>
            </a:r>
            <a:endParaRPr lang="en-US" sz="1400" dirty="0">
              <a:latin typeface="Montserrat" panose="00000500000000000000" pitchFamily="2" charset="0"/>
            </a:endParaRPr>
          </a:p>
        </p:txBody>
      </p:sp>
      <p:sp>
        <p:nvSpPr>
          <p:cNvPr id="20" name="Text 18"/>
          <p:cNvSpPr txBox="1"/>
          <p:nvPr/>
        </p:nvSpPr>
        <p:spPr>
          <a:xfrm>
            <a:off x="6492240" y="2057400"/>
            <a:ext cx="521208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Environmental storytelling: props that show how the base was overrun</a:t>
            </a:r>
            <a:endParaRPr lang="en-US" sz="1500" dirty="0">
              <a:latin typeface="Montserrat" panose="00000500000000000000" pitchFamily="2" charset="0"/>
            </a:endParaRPr>
          </a:p>
        </p:txBody>
      </p:sp>
      <p:sp>
        <p:nvSpPr>
          <p:cNvPr id="21" name="Text 19"/>
          <p:cNvSpPr txBox="1"/>
          <p:nvPr/>
        </p:nvSpPr>
        <p:spPr>
          <a:xfrm>
            <a:off x="6035040" y="2642616"/>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3</a:t>
            </a:r>
            <a:endParaRPr lang="en-US" sz="1400" dirty="0">
              <a:latin typeface="Montserrat" panose="00000500000000000000" pitchFamily="2" charset="0"/>
            </a:endParaRPr>
          </a:p>
        </p:txBody>
      </p:sp>
      <p:sp>
        <p:nvSpPr>
          <p:cNvPr id="22" name="Text 20"/>
          <p:cNvSpPr txBox="1"/>
          <p:nvPr/>
        </p:nvSpPr>
        <p:spPr>
          <a:xfrm>
            <a:off x="6492240" y="2624328"/>
            <a:ext cx="521208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A mood per space: post-processing for the lockdown, the breach, the roof</a:t>
            </a:r>
            <a:endParaRPr lang="en-US" sz="1500" dirty="0">
              <a:latin typeface="Montserrat" panose="00000500000000000000" pitchFamily="2" charset="0"/>
            </a:endParaRPr>
          </a:p>
        </p:txBody>
      </p:sp>
      <p:sp>
        <p:nvSpPr>
          <p:cNvPr id="23" name="Text 21"/>
          <p:cNvSpPr txBox="1"/>
          <p:nvPr/>
        </p:nvSpPr>
        <p:spPr>
          <a:xfrm>
            <a:off x="6035040" y="3209544"/>
            <a:ext cx="329184" cy="329184"/>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latin typeface="Montserrat" panose="00000500000000000000" pitchFamily="2" charset="0"/>
              </a:rPr>
              <a:t>4</a:t>
            </a:r>
            <a:endParaRPr lang="en-US" sz="1400" dirty="0">
              <a:latin typeface="Montserrat" panose="00000500000000000000" pitchFamily="2" charset="0"/>
            </a:endParaRPr>
          </a:p>
        </p:txBody>
      </p:sp>
      <p:sp>
        <p:nvSpPr>
          <p:cNvPr id="24" name="Text 22"/>
          <p:cNvSpPr txBox="1"/>
          <p:nvPr/>
        </p:nvSpPr>
        <p:spPr>
          <a:xfrm>
            <a:off x="6492240" y="3191256"/>
            <a:ext cx="5212080" cy="530352"/>
          </a:xfrm>
          <a:prstGeom prst="rect">
            <a:avLst/>
          </a:prstGeom>
          <a:noFill/>
          <a:ln/>
        </p:spPr>
        <p:txBody>
          <a:bodyPr wrap="square" lIns="0" tIns="0" rIns="0" bIns="0" rtlCol="0" anchor="t"/>
          <a:lstStyle/>
          <a:p>
            <a:pPr marL="0" indent="0">
              <a:buNone/>
            </a:pPr>
            <a:r>
              <a:rPr lang="en-US" sz="1500" dirty="0">
                <a:solidFill>
                  <a:schemeClr val="tx2"/>
                </a:solidFill>
                <a:latin typeface="Montserrat" panose="00000500000000000000" pitchFamily="2" charset="0"/>
              </a:rPr>
              <a:t>Peer playtests, especially the balance of the lockdown with only a pistol</a:t>
            </a:r>
            <a:endParaRPr lang="en-US" sz="1500" dirty="0">
              <a:latin typeface="Montserrat" panose="00000500000000000000" pitchFamily="2" charset="0"/>
            </a:endParaRPr>
          </a:p>
        </p:txBody>
      </p:sp>
      <p:pic>
        <p:nvPicPr>
          <p:cNvPr id="25" name="extraction screenshot" descr="C:\Users\at488\AppData\Local\Temp\claude\C--Users-at488-OneDrive---Hochschule-Luzern-Desktop-Level-World-Design-\cc816706-66e7-4f21-b274-83f61f88f670\scratchpad\deck\screenshots\hud_end_screen.png"/>
          <p:cNvPicPr>
            <a:picLocks noChangeAspect="1"/>
          </p:cNvPicPr>
          <p:nvPr/>
        </p:nvPicPr>
        <p:blipFill>
          <a:blip r:embed="rId3"/>
          <a:stretch>
            <a:fillRect/>
          </a:stretch>
        </p:blipFill>
        <p:spPr>
          <a:xfrm>
            <a:off x="6035040" y="3886200"/>
            <a:ext cx="4023360" cy="2267712"/>
          </a:xfrm>
          <a:prstGeom prst="rect">
            <a:avLst/>
          </a:prstGeom>
        </p:spPr>
      </p:pic>
      <p:sp>
        <p:nvSpPr>
          <p:cNvPr id="26" name="Text 23"/>
          <p:cNvSpPr txBox="1"/>
          <p:nvPr/>
        </p:nvSpPr>
        <p:spPr>
          <a:xfrm>
            <a:off x="6035040" y="6181344"/>
            <a:ext cx="4023360" cy="274320"/>
          </a:xfrm>
          <a:prstGeom prst="rect">
            <a:avLst/>
          </a:prstGeom>
          <a:noFill/>
          <a:ln/>
        </p:spPr>
        <p:txBody>
          <a:bodyPr wrap="square" lIns="0" tIns="0" rIns="0" bIns="0" rtlCol="0" anchor="ctr"/>
          <a:lstStyle/>
          <a:p>
            <a:pPr marL="0" indent="0">
              <a:buNone/>
            </a:pPr>
            <a:r>
              <a:rPr lang="en-US" sz="1100" i="1" dirty="0">
                <a:solidFill>
                  <a:schemeClr val="accent5"/>
                </a:solidFill>
                <a:latin typeface="Montserrat" panose="00000500000000000000" pitchFamily="2" charset="0"/>
              </a:rPr>
              <a:t>The extraction: the helicopter on the pad</a:t>
            </a:r>
            <a:endParaRPr lang="en-US" sz="1100" dirty="0">
              <a:latin typeface="Montserrat" panose="00000500000000000000" pitchFamily="2" charset="0"/>
            </a:endParaRPr>
          </a:p>
        </p:txBody>
      </p:sp>
      <p:sp>
        <p:nvSpPr>
          <p:cNvPr id="27"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F98"/>
                </a:solidFill>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VANTAGE">
  <a:themeElements>
    <a:clrScheme name="VANTAGE">
      <a:dk1>
        <a:srgbClr val="1E2126"/>
      </a:dk1>
      <a:lt1>
        <a:srgbClr val="FFFFFF"/>
      </a:lt1>
      <a:dk2>
        <a:srgbClr val="4A505A"/>
      </a:dk2>
      <a:lt2>
        <a:srgbClr val="F1F2F4"/>
      </a:lt2>
      <a:accent1>
        <a:srgbClr val="C98A00"/>
      </a:accent1>
      <a:accent2>
        <a:srgbClr val="D7263D"/>
      </a:accent2>
      <a:accent3>
        <a:srgbClr val="3BB273"/>
      </a:accent3>
      <a:accent4>
        <a:srgbClr val="5AA0D2"/>
      </a:accent4>
      <a:accent5>
        <a:srgbClr val="6E737B"/>
      </a:accent5>
      <a:accent6>
        <a:srgbClr val="E4E7EB"/>
      </a:accent6>
      <a:hlink>
        <a:srgbClr val="F2A900"/>
      </a:hlink>
      <a:folHlink>
        <a:srgbClr val="D7263D"/>
      </a:folHlink>
    </a:clrScheme>
    <a:fontScheme name="VANTAGE">
      <a:majorFont>
        <a:latin typeface="Bahnschrift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hnschrif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Film Burn</Template>
  <TotalTime>0</TotalTime>
  <Words>1974</Words>
  <Application>Microsoft Office PowerPoint</Application>
  <PresentationFormat>Widescreen</PresentationFormat>
  <Paragraphs>235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Bahnschrift SemiBold</vt:lpstr>
      <vt:lpstr>Montserrat</vt:lpstr>
      <vt:lpstr>VANTAGE</vt:lpstr>
      <vt:lpstr>PowerPoint Presentation</vt:lpstr>
      <vt:lpstr>One tower, four spaces, a different lock on each</vt:lpstr>
      <vt:lpstr>Bubble diagram: how the spaces connect</vt:lpstr>
      <vt:lpstr>Level 1 · The lockdown</vt:lpstr>
      <vt:lpstr>Level 2 · The armory: rifle and key</vt:lpstr>
      <vt:lpstr>Level 3 and the helipad · Awe, dread, climax</vt:lpstr>
      <vt:lpstr>The emotion curve</vt:lpstr>
      <vt:lpstr>Telling the player what to do with the space</vt:lpstr>
      <vt:lpstr>Where it stands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VANTAGE: Level and World Design</dc:title>
  <dc:subject>PptxGenJS Presentation</dc:subject>
  <dc:creator>Adhurim Thaqi</dc:creator>
  <cp:lastModifiedBy>Thaqi Adhurim HSLU I</cp:lastModifiedBy>
  <cp:revision>3</cp:revision>
  <dcterms:created xsi:type="dcterms:W3CDTF">2026-10-16T13:10:58Z</dcterms:created>
  <dcterms:modified xsi:type="dcterms:W3CDTF">2026-10-19T08:41:01Z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b0afbd-3cf7-4707-aee4-8dc9d855de29_Enabled">
    <vt:lpwstr>true</vt:lpwstr>
  </property>
  <property fmtid="{D5CDD505-2E9C-101B-9397-08002B2CF9AE}" pid="3" name="MSIP_Label_e8b0afbd-3cf7-4707-aee4-8dc9d855de29_SetDate">
    <vt:lpwstr>2026-10-19T07:17:12Z</vt:lpwstr>
  </property>
  <property fmtid="{D5CDD505-2E9C-101B-9397-08002B2CF9AE}" pid="4" name="MSIP_Label_e8b0afbd-3cf7-4707-aee4-8dc9d855de29_Method">
    <vt:lpwstr>Standard</vt:lpwstr>
  </property>
  <property fmtid="{D5CDD505-2E9C-101B-9397-08002B2CF9AE}" pid="5" name="MSIP_Label_e8b0afbd-3cf7-4707-aee4-8dc9d855de29_Name">
    <vt:lpwstr>intern</vt:lpwstr>
  </property>
  <property fmtid="{D5CDD505-2E9C-101B-9397-08002B2CF9AE}" pid="6" name="MSIP_Label_e8b0afbd-3cf7-4707-aee4-8dc9d855de29_SiteId">
    <vt:lpwstr>75a34008-d7d1-4924-8e78-31fea86f6e68</vt:lpwstr>
  </property>
  <property fmtid="{D5CDD505-2E9C-101B-9397-08002B2CF9AE}" pid="7" name="MSIP_Label_e8b0afbd-3cf7-4707-aee4-8dc9d855de29_ActionId">
    <vt:lpwstr>52614db5-25d0-46b6-b9de-4d8f85822976</vt:lpwstr>
  </property>
  <property fmtid="{D5CDD505-2E9C-101B-9397-08002B2CF9AE}" pid="8" name="MSIP_Label_e8b0afbd-3cf7-4707-aee4-8dc9d855de29_ContentBits">
    <vt:lpwstr>0</vt:lpwstr>
  </property>
  <property fmtid="{D5CDD505-2E9C-101B-9397-08002B2CF9AE}" pid="9" name="MSIP_Label_e8b0afbd-3cf7-4707-aee4-8dc9d855de29_Tag">
    <vt:lpwstr>10, 3, 0, 1</vt:lpwstr>
  </property>
</Properties>
</file>