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23614260-20da-7faf-9947-e835df390802}">
          <p14:sldIdLst>
            <p14:sldId id="256"/>
          </p14:sldIdLst>
        </p14:section>
        <p14:section name="The level" id="{3447f526-4823-2693-2459-58a8ae267148}">
          <p14:sldIdLst>
            <p14:sldId id="257"/>
          </p14:sldIdLst>
        </p14:section>
        <p14:section name="Levels" id="{ce06c448-cae8-4805-cae7-30429d99bf9b}">
          <p14:sldIdLst>
            <p14:sldId id="258"/>
            <p14:sldId id="259"/>
            <p14:sldId id="260"/>
          </p14:sldIdLst>
        </p14:section>
        <p14:section name="Design" id="{37e03b74-4e82-10bf-3cba-37619bb1f5e1}">
          <p14:sldIdLst>
            <p14:sldId id="261"/>
            <p14:sldId id="262"/>
          </p14:sldIdLst>
        </p14:section>
        <p14:section name="Status" id="{2bc4885a-dbc6-c61f-6ff3-feabe7e71d84}">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5"/>
          <c:y val="0.06"/>
          <c:w val="0.93"/>
          <c:h val="0.78"/>
        </c:manualLayout>
      </c:layout>
      <c:lineChart>
        <c:varyColors val="0"/>
        <c:ser>
          <c:idx val="0"/>
          <c:order val="0"/>
          <c:tx>
            <c:strRef>
              <c:f>Sheet1!$B$1</c:f>
              <c:strCache>
                <c:ptCount val="1"/>
                <c:pt idx="0">
                  <c:v>Intensity</c:v>
                </c:pt>
              </c:strCache>
            </c:strRef>
          </c:tx>
          <c:spPr>
            <a:solidFill>
              <a:srgbClr val="F2A900"/>
            </a:solidFill>
            <a:ln w="50800" cap="flat">
              <a:solidFill>
                <a:srgbClr val="F2A9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11"/>
            <c:spPr>
              <a:solidFill>
                <a:srgbClr val="F2A900"/>
              </a:solidFill>
              <a:ln w="9525" cap="flat">
                <a:solidFill>
                  <a:srgbClr val="F2A900"/>
                </a:solidFill>
                <a:prstDash val="solid"/>
                <a:round/>
              </a:ln>
              <a:effectLst/>
            </c:spPr>
          </c:marker>
          <c:cat>
            <c:multiLvlStrRef>
              <c:f>Sheet1!$A$2:$A$12</c:f>
              <c:multiLvlStrCache>
                <c:ptCount val="11"/>
                <c:lvl>
                  <c:pt idx="0">
                    <c:v>Curiosity</c:v>
                  </c:pt>
                  <c:pt idx="1">
                    <c:v>Shock</c:v>
                  </c:pt>
                  <c:pt idx="2">
                    <c:v>Hunted</c:v>
                  </c:pt>
                  <c:pt idx="3">
                    <c:v>Control</c:v>
                  </c:pt>
                  <c:pt idx="4">
                    <c:v>Pressure</c:v>
                  </c:pt>
                  <c:pt idx="5">
                    <c:v>Purpose</c:v>
                  </c:pt>
                  <c:pt idx="6">
                    <c:v>Relief</c:v>
                  </c:pt>
                  <c:pt idx="7">
                    <c:v>Awe</c:v>
                  </c:pt>
                  <c:pt idx="8">
                    <c:v>Dread</c:v>
                  </c:pt>
                  <c:pt idx="9">
                    <c:v>Climax</c:v>
                  </c:pt>
                  <c:pt idx="10">
                    <c:v>Release</c:v>
                  </c:pt>
                </c:lvl>
              </c:multiLvlStrCache>
            </c:multiLvlStrRef>
          </c:cat>
          <c:val>
            <c:numRef>
              <c:f>Sheet1!$B$2:$B$12</c:f>
              <c:numCache>
                <c:formatCode>General</c:formatCode>
                <c:ptCount val="11"/>
                <c:pt idx="0">
                  <c:v>2</c:v>
                </c:pt>
                <c:pt idx="1">
                  <c:v>9</c:v>
                </c:pt>
                <c:pt idx="2">
                  <c:v>8</c:v>
                </c:pt>
                <c:pt idx="3">
                  <c:v>5</c:v>
                </c:pt>
                <c:pt idx="4">
                  <c:v>7</c:v>
                </c:pt>
                <c:pt idx="5">
                  <c:v>5</c:v>
                </c:pt>
                <c:pt idx="6">
                  <c:v>3</c:v>
                </c:pt>
                <c:pt idx="7">
                  <c:v>5</c:v>
                </c:pt>
                <c:pt idx="8">
                  <c:v>8</c:v>
                </c:pt>
                <c:pt idx="9">
                  <c:v>10</c:v>
                </c:pt>
                <c:pt idx="10">
                  <c:v>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EDEBE6"/>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majorGridlines>
          <c:spPr>
            <a:ln w="6350" cap="flat">
              <a:solidFill>
                <a:srgbClr val="3A404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5"/>
      </c:valAx>
      <c:spPr>
        <a:solidFill>
          <a:srgbClr val="15181D"/>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Hi, I'm Adhurim. My level is VANTAGE: a third-person shooter level in a military training base that has been overrun. You fight your way up a three-floor tower. Every floor has its own kind of lock, and the only way out is a helicopter from the helipad.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The world is my own Blender scene: a one-kilometre valley with the base, and the tower on a plot in the middle. On the right is the level as a cross-section, read from the bottom up. Each floor has its own space, its own lock and its own emotion: a trap on the ground floor, a key on the armory floor, a robot and a patrol door on the destroyed floor, and a boss on the helipad.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Level 1 is a trap. You pick up the pistol outside, walk in, and just inside the door the alarm trigger drops the shutter in front of the stairs: siren, red light, and every soldier on the floor comes for you. If the security camera in Room A sees you first, it sets the alarm off early, so shooting it is a choice before the trap. During the lockdown the left door stays locked, so there is one way on: Rooms A, B and C, the West Wing and the turret hall. When the last enemy and the turret are down, the alarm stops and the shutter rolls up. Shock first, then control, then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Level 2 is a puzzle under fire. You come up into a big hall with turrets and drones, so the pressure stays up. The goal is visible from the start: the stairwell gate with its red lamp. The rifle is in the Armory and the key is on the office desk, floating and glowing so it reads as important. The key slot is the only thing in the whole game you use with E, so it stands out. When the key turns the lamp goes green, and once the floor is clear the gate opens: reward, purpose,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Level 3 is the destroyed floor. You arrive and see daylight through the blown-out side of the building: awe, and also a warning. When the indoor soldiers are down, the robot room opens. The heavy robot only takes damage from the rifle, which tests that you found it on level 2. Through the breach two patrols guard the broken slab, and killing both unlocks the SE room and the exit to the outside stairs. On the helipad two soldiers wait, then stepping on the pad brings the boss. When it dies the helicopter lands: the climax, then the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the curve I design for. Every level has its own rise and fall: the trap is a sudden spike on level 1, level 2 is steady pressure that ends in relief at the key slot, level 3 builds dread up to the robot, and the boss is the highest peak. The helicopter is the release afterwards, because a level that only stops at its peak feels unfinished.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The video you recommended, Peter Field's talk on spatial communication, says the level should explain itself before the HUD does. That is how I guide the player. The first corridor frames the shutter in front of the stairs, the exact thing the trap closes. Colours are rules: red is locked or danger, green is open. You can see the camera's light cone before it sees you. Only one object in the game uses E, so it stands out. Doors on the route are open and locked ones are shut. On level 3, daylight and a helipad sign pull you towards the finale.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Everything you saw is playable today, from the trap to the end screen. The procedural part is the seeded soldier placement, and an automated bot plays the whole level on every change. Next I'm modelling the robot, the boss and the helicopter in Blender, adding props for environmental storytelling and a mood per space, and running peer playtests, especially to balance the lockdown when you only have a pistol.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640080"/>
          </a:xfrm>
          <a:prstGeom prst="rect">
            <a:avLst/>
          </a:prstGeom>
          <a:noFill/>
          <a:ln/>
        </p:spPr>
        <p:txBody>
          <a:bodyPr wrap="square" rtlCol="0"/>
          <a:lstStyle>
            <a:lvl1pPr algn="l" indent="0" marL="0">
              <a:buNone/>
              <a:defRPr lang="en-US" sz="3200" dirty="0">
                <a:solidFill>
                  <a:schemeClr val="bg1"/>
                </a:solidFill>
              </a:defRPr>
            </a:lvl1pPr>
          </a:lstStyle>
          <a:p>
            <a:pPr algn="l" indent="0" marL="0">
              <a:buNone/>
            </a:pPr>
            <a:endParaRPr lang="en-US" sz="3200" dirty="0"/>
          </a:p>
        </p:txBody>
      </p:sp>
      <p:sp>
        <p:nvSpPr>
          <p:cNvPr id="3" name="Text 0"/>
          <p:cNvSpPr/>
          <p:nvPr/>
        </p:nvSpPr>
        <p:spPr>
          <a:xfrm>
            <a:off x="45720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VANTAGE  ·  Adhurim Thaqi  ·  Level &amp; World Design HS26</a:t>
            </a:r>
            <a:endParaRPr lang="en-US" sz="1000" dirty="0"/>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ower approach" descr="C:\Users\at488\AppData\Local\Temp\claude\C--Users-at488-OneDrive---Hochschule-Luzern-Desktop-Level-World-Design-\cc816706-66e7-4f21-b274-83f61f88f670\scratchpad\deck\screenshots\tower_1_approach.png">    </p:cNvPr>
          <p:cNvPicPr>
            <a:picLocks noChangeAspect="1"/>
          </p:cNvPicPr>
          <p:nvPr/>
        </p:nvPicPr>
        <p:blipFill>
          <a:blip r:embed="rId1"/>
          <a:srcRect l="0" r="0" t="0" b="0"/>
          <a:stretch/>
        </p:blipFill>
        <p:spPr>
          <a:xfrm>
            <a:off x="5852160" y="0"/>
            <a:ext cx="6339535" cy="6858000"/>
          </a:xfrm>
          <a:prstGeom prst="rect">
            <a:avLst/>
          </a:prstGeom>
        </p:spPr>
      </p:pic>
      <p:sp>
        <p:nvSpPr>
          <p:cNvPr id="3" name="Text 0"/>
          <p:cNvSpPr txBox="1"/>
          <p:nvPr/>
        </p:nvSpPr>
        <p:spPr>
          <a:xfrm>
            <a:off x="548640" y="1828800"/>
            <a:ext cx="5120640" cy="1097280"/>
          </a:xfrm>
          <a:prstGeom prst="rect">
            <a:avLst/>
          </a:prstGeom>
          <a:noFill/>
          <a:ln/>
        </p:spPr>
        <p:txBody>
          <a:bodyPr wrap="square" lIns="0" tIns="0" rIns="0" bIns="0" rtlCol="0" anchor="ctr"/>
          <a:lstStyle/>
          <a:p>
            <a:pPr indent="0" marL="0">
              <a:buNone/>
            </a:pPr>
            <a:r>
              <a:rPr lang="en-US" sz="6600" spc="400" kern="0" dirty="0">
                <a:solidFill>
                  <a:schemeClr val="bg1"/>
                </a:solidFill>
                <a:latin typeface="Bahnschrift SemiBold" pitchFamily="34" charset="0"/>
                <a:ea typeface="Bahnschrift SemiBold" pitchFamily="34" charset="-122"/>
                <a:cs typeface="Bahnschrift SemiBold" pitchFamily="34" charset="-120"/>
              </a:rPr>
              <a:t>VANTAGE</a:t>
            </a:r>
            <a:endParaRPr lang="en-US" sz="6600" dirty="0"/>
          </a:p>
        </p:txBody>
      </p:sp>
      <p:sp>
        <p:nvSpPr>
          <p:cNvPr id="4" name="Text 1"/>
          <p:cNvSpPr txBox="1"/>
          <p:nvPr/>
        </p:nvSpPr>
        <p:spPr>
          <a:xfrm>
            <a:off x="548640" y="2926080"/>
            <a:ext cx="5120640" cy="457200"/>
          </a:xfrm>
          <a:prstGeom prst="rect">
            <a:avLst/>
          </a:prstGeom>
          <a:noFill/>
          <a:ln/>
        </p:spPr>
        <p:txBody>
          <a:bodyPr wrap="square" lIns="0" tIns="0" rIns="0" bIns="0" rtlCol="0" anchor="ctr"/>
          <a:lstStyle/>
          <a:p>
            <a:pPr indent="0" marL="0">
              <a:buNone/>
            </a:pPr>
            <a:r>
              <a:rPr lang="en-US" sz="2000" dirty="0">
                <a:solidFill>
                  <a:schemeClr val="accent1"/>
                </a:solidFill>
              </a:rPr>
              <a:t>A tower assault in a captured training base</a:t>
            </a:r>
            <a:endParaRPr lang="en-US" sz="2000" dirty="0"/>
          </a:p>
        </p:txBody>
      </p:sp>
      <p:sp>
        <p:nvSpPr>
          <p:cNvPr id="5" name="Text 2"/>
          <p:cNvSpPr txBox="1"/>
          <p:nvPr/>
        </p:nvSpPr>
        <p:spPr>
          <a:xfrm>
            <a:off x="548640" y="3429000"/>
            <a:ext cx="5120640" cy="731520"/>
          </a:xfrm>
          <a:prstGeom prst="rect">
            <a:avLst/>
          </a:prstGeom>
          <a:noFill/>
          <a:ln/>
        </p:spPr>
        <p:txBody>
          <a:bodyPr wrap="square" lIns="0" tIns="0" rIns="0" bIns="0" rtlCol="0" anchor="ctr"/>
          <a:lstStyle/>
          <a:p>
            <a:pPr indent="0" marL="0">
              <a:buNone/>
            </a:pPr>
            <a:r>
              <a:rPr lang="en-US" sz="1600" dirty="0">
                <a:solidFill>
                  <a:schemeClr val="bg2"/>
                </a:solidFill>
              </a:rPr>
              <a:t>Three floors, a lock on each, one way out by air.</a:t>
            </a:r>
            <a:endParaRPr lang="en-US" sz="1600" dirty="0"/>
          </a:p>
        </p:txBody>
      </p:sp>
      <p:sp>
        <p:nvSpPr>
          <p:cNvPr id="6" name="Text 3"/>
          <p:cNvSpPr txBox="1"/>
          <p:nvPr/>
        </p:nvSpPr>
        <p:spPr>
          <a:xfrm>
            <a:off x="548640" y="5303520"/>
            <a:ext cx="5120640" cy="640080"/>
          </a:xfrm>
          <a:prstGeom prst="rect">
            <a:avLst/>
          </a:prstGeom>
          <a:noFill/>
          <a:ln/>
        </p:spPr>
        <p:txBody>
          <a:bodyPr wrap="square" lIns="0" tIns="0" rIns="0" bIns="0" rtlCol="0" anchor="ctr"/>
          <a:lstStyle/>
          <a:p>
            <a:pPr indent="0" marL="0">
              <a:buNone/>
            </a:pPr>
            <a:r>
              <a:rPr lang="en-US" sz="1400" b="1" dirty="0">
                <a:solidFill>
                  <a:schemeClr val="accent5"/>
                </a:solidFill>
              </a:rPr>
              <a:t>Adhurim Thaqi</a:t>
            </a:r>
            <a:endParaRPr lang="en-US" sz="1400" dirty="0"/>
          </a:p>
          <a:p>
            <a:pPr indent="0" marL="0">
              <a:buNone/>
            </a:pPr>
            <a:r>
              <a:rPr lang="en-US" sz="1400" dirty="0">
                <a:solidFill>
                  <a:schemeClr val="accent5"/>
                </a:solidFill>
              </a:rPr>
              <a:t>Level &amp; World Design (I.BA_LWD), HS26  ·  current state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640080"/>
          </a:xfrm>
          <a:prstGeom prst="rect">
            <a:avLst/>
          </a:prstGeom>
          <a:noFill/>
          <a:ln/>
        </p:spPr>
        <p:txBody>
          <a:bodyPr wrap="square" lIns="0" tIns="0" rIns="0" bIns="0" rtlCol="0" anchor="ctr"/>
          <a:lstStyle/>
          <a:p>
            <a:pPr algn="l" indent="0" marL="0">
              <a:buNone/>
            </a:pPr>
            <a:r>
              <a:rPr lang="en-US" sz="3200" dirty="0">
                <a:solidFill>
                  <a:schemeClr val="bg1"/>
                </a:solidFill>
              </a:rPr>
              <a:t>One tower, four spaces, a different lock on each</a:t>
            </a:r>
            <a:endParaRPr lang="en-US" sz="3200" dirty="0"/>
          </a:p>
        </p:txBody>
      </p:sp>
      <p:pic>
        <p:nvPicPr>
          <p:cNvPr id="3" name="aerial view" descr="C:\Users\at488\AppData\Local\Temp\claude\C--Users-at488-OneDrive---Hochschule-Luzern-Desktop-Level-World-Design-\cc816706-66e7-4f21-b274-83f61f88f670\scratchpad\deck\screenshots\tower_2_overview.png">    </p:cNvPr>
          <p:cNvPicPr>
            <a:picLocks noChangeAspect="1"/>
          </p:cNvPicPr>
          <p:nvPr/>
        </p:nvPicPr>
        <p:blipFill>
          <a:blip r:embed="rId1"/>
          <a:stretch>
            <a:fillRect/>
          </a:stretch>
        </p:blipFill>
        <p:spPr>
          <a:xfrm>
            <a:off x="457200" y="1143000"/>
            <a:ext cx="5852160" cy="3291840"/>
          </a:xfrm>
          <a:prstGeom prst="rect">
            <a:avLst/>
          </a:prstGeom>
        </p:spPr>
      </p:pic>
      <p:sp>
        <p:nvSpPr>
          <p:cNvPr id="4" name="Text 1"/>
          <p:cNvSpPr txBox="1"/>
          <p:nvPr/>
        </p:nvSpPr>
        <p:spPr>
          <a:xfrm>
            <a:off x="457200" y="4526280"/>
            <a:ext cx="5852160" cy="274320"/>
          </a:xfrm>
          <a:prstGeom prst="rect">
            <a:avLst/>
          </a:prstGeom>
          <a:noFill/>
          <a:ln/>
        </p:spPr>
        <p:txBody>
          <a:bodyPr wrap="square" lIns="0" tIns="0" rIns="0" bIns="0" rtlCol="0" anchor="ctr"/>
          <a:lstStyle/>
          <a:p>
            <a:pPr indent="0" marL="0">
              <a:buNone/>
            </a:pPr>
            <a:r>
              <a:rPr lang="en-US" sz="1100" i="1" dirty="0">
                <a:solidFill>
                  <a:schemeClr val="accent5"/>
                </a:solidFill>
              </a:rPr>
              <a:t>The tower in the base: the blown-out top floor and the helipad beside it are visible from the approach.</a:t>
            </a:r>
            <a:endParaRPr lang="en-US" sz="1100" dirty="0"/>
          </a:p>
        </p:txBody>
      </p:sp>
      <p:sp>
        <p:nvSpPr>
          <p:cNvPr id="5" name="Text 2"/>
          <p:cNvSpPr txBox="1"/>
          <p:nvPr/>
        </p:nvSpPr>
        <p:spPr>
          <a:xfrm>
            <a:off x="457200" y="4983480"/>
            <a:ext cx="1828800" cy="685800"/>
          </a:xfrm>
          <a:prstGeom prst="rect">
            <a:avLst/>
          </a:prstGeom>
          <a:noFill/>
          <a:ln/>
        </p:spPr>
        <p:txBody>
          <a:bodyPr wrap="square" lIns="0" tIns="0" rIns="0" bIns="0" rtlCol="0" anchor="ctr"/>
          <a:lstStyle/>
          <a:p>
            <a:pPr indent="0" marL="0">
              <a:buNone/>
            </a:pPr>
            <a:r>
              <a:rPr lang="en-US" sz="4000" dirty="0">
                <a:solidFill>
                  <a:schemeClr val="accent1"/>
                </a:solidFill>
                <a:latin typeface="Bahnschrift SemiBold" pitchFamily="34" charset="0"/>
                <a:ea typeface="Bahnschrift SemiBold" pitchFamily="34" charset="-122"/>
                <a:cs typeface="Bahnschrift SemiBold" pitchFamily="34" charset="-120"/>
              </a:rPr>
              <a:t>1 km</a:t>
            </a:r>
            <a:endParaRPr lang="en-US" sz="4000" dirty="0"/>
          </a:p>
        </p:txBody>
      </p:sp>
      <p:sp>
        <p:nvSpPr>
          <p:cNvPr id="6" name="Text 3"/>
          <p:cNvSpPr txBox="1"/>
          <p:nvPr/>
        </p:nvSpPr>
        <p:spPr>
          <a:xfrm>
            <a:off x="457200" y="5650992"/>
            <a:ext cx="1874520" cy="548640"/>
          </a:xfrm>
          <a:prstGeom prst="rect">
            <a:avLst/>
          </a:prstGeom>
          <a:noFill/>
          <a:ln/>
        </p:spPr>
        <p:txBody>
          <a:bodyPr wrap="square" lIns="0" tIns="0" rIns="0" bIns="0" rtlCol="0" anchor="ctr"/>
          <a:lstStyle/>
          <a:p>
            <a:pPr indent="0" marL="0">
              <a:buNone/>
            </a:pPr>
            <a:r>
              <a:rPr lang="en-US" sz="1200" dirty="0">
                <a:solidFill>
                  <a:schemeClr val="bg2"/>
                </a:solidFill>
              </a:rPr>
              <a:t>forested valley,</a:t>
            </a:r>
            <a:endParaRPr lang="en-US" sz="1200" dirty="0"/>
          </a:p>
          <a:p>
            <a:pPr indent="0" marL="0">
              <a:buNone/>
            </a:pPr>
            <a:r>
              <a:rPr lang="en-US" sz="1200" dirty="0">
                <a:solidFill>
                  <a:schemeClr val="bg2"/>
                </a:solidFill>
              </a:rPr>
              <a:t>my own Blender world</a:t>
            </a:r>
            <a:endParaRPr lang="en-US" sz="1200" dirty="0"/>
          </a:p>
        </p:txBody>
      </p:sp>
      <p:sp>
        <p:nvSpPr>
          <p:cNvPr id="7" name="Text 4"/>
          <p:cNvSpPr txBox="1"/>
          <p:nvPr/>
        </p:nvSpPr>
        <p:spPr>
          <a:xfrm>
            <a:off x="2450592" y="4983480"/>
            <a:ext cx="1828800" cy="685800"/>
          </a:xfrm>
          <a:prstGeom prst="rect">
            <a:avLst/>
          </a:prstGeom>
          <a:noFill/>
          <a:ln/>
        </p:spPr>
        <p:txBody>
          <a:bodyPr wrap="square" lIns="0" tIns="0" rIns="0" bIns="0" rtlCol="0" anchor="ctr"/>
          <a:lstStyle/>
          <a:p>
            <a:pPr indent="0" marL="0">
              <a:buNone/>
            </a:pPr>
            <a:r>
              <a:rPr lang="en-US" sz="4000" dirty="0">
                <a:solidFill>
                  <a:schemeClr val="accent1"/>
                </a:solidFill>
                <a:latin typeface="Bahnschrift SemiBold" pitchFamily="34" charset="0"/>
                <a:ea typeface="Bahnschrift SemiBold" pitchFamily="34" charset="-122"/>
                <a:cs typeface="Bahnschrift SemiBold" pitchFamily="34" charset="-120"/>
              </a:rPr>
              <a:t>3 + 1</a:t>
            </a:r>
            <a:endParaRPr lang="en-US" sz="4000" dirty="0"/>
          </a:p>
        </p:txBody>
      </p:sp>
      <p:sp>
        <p:nvSpPr>
          <p:cNvPr id="8" name="Text 5"/>
          <p:cNvSpPr txBox="1"/>
          <p:nvPr/>
        </p:nvSpPr>
        <p:spPr>
          <a:xfrm>
            <a:off x="2450592" y="5650992"/>
            <a:ext cx="1874520" cy="548640"/>
          </a:xfrm>
          <a:prstGeom prst="rect">
            <a:avLst/>
          </a:prstGeom>
          <a:noFill/>
          <a:ln/>
        </p:spPr>
        <p:txBody>
          <a:bodyPr wrap="square" lIns="0" tIns="0" rIns="0" bIns="0" rtlCol="0" anchor="ctr"/>
          <a:lstStyle/>
          <a:p>
            <a:pPr indent="0" marL="0">
              <a:buNone/>
            </a:pPr>
            <a:r>
              <a:rPr lang="en-US" sz="1200" dirty="0">
                <a:solidFill>
                  <a:schemeClr val="bg2"/>
                </a:solidFill>
              </a:rPr>
              <a:t>floors plus the</a:t>
            </a:r>
            <a:endParaRPr lang="en-US" sz="1200" dirty="0"/>
          </a:p>
          <a:p>
            <a:pPr indent="0" marL="0">
              <a:buNone/>
            </a:pPr>
            <a:r>
              <a:rPr lang="en-US" sz="1200" dirty="0">
                <a:solidFill>
                  <a:schemeClr val="bg2"/>
                </a:solidFill>
              </a:rPr>
              <a:t>helipad finale</a:t>
            </a:r>
            <a:endParaRPr lang="en-US" sz="1200" dirty="0"/>
          </a:p>
        </p:txBody>
      </p:sp>
      <p:sp>
        <p:nvSpPr>
          <p:cNvPr id="9" name="Text 6"/>
          <p:cNvSpPr txBox="1"/>
          <p:nvPr/>
        </p:nvSpPr>
        <p:spPr>
          <a:xfrm>
            <a:off x="4443984" y="4983480"/>
            <a:ext cx="1828800" cy="685800"/>
          </a:xfrm>
          <a:prstGeom prst="rect">
            <a:avLst/>
          </a:prstGeom>
          <a:noFill/>
          <a:ln/>
        </p:spPr>
        <p:txBody>
          <a:bodyPr wrap="square" lIns="0" tIns="0" rIns="0" bIns="0" rtlCol="0" anchor="ctr"/>
          <a:lstStyle/>
          <a:p>
            <a:pPr indent="0" marL="0">
              <a:buNone/>
            </a:pPr>
            <a:r>
              <a:rPr lang="en-US" sz="4000" dirty="0">
                <a:solidFill>
                  <a:schemeClr val="accent1"/>
                </a:solidFill>
                <a:latin typeface="Bahnschrift SemiBold" pitchFamily="34" charset="0"/>
                <a:ea typeface="Bahnschrift SemiBold" pitchFamily="34" charset="-122"/>
                <a:cs typeface="Bahnschrift SemiBold" pitchFamily="34" charset="-120"/>
              </a:rPr>
              <a:t>0</a:t>
            </a:r>
            <a:endParaRPr lang="en-US" sz="4000" dirty="0"/>
          </a:p>
        </p:txBody>
      </p:sp>
      <p:sp>
        <p:nvSpPr>
          <p:cNvPr id="10" name="Text 7"/>
          <p:cNvSpPr txBox="1"/>
          <p:nvPr/>
        </p:nvSpPr>
        <p:spPr>
          <a:xfrm>
            <a:off x="4443984" y="5650992"/>
            <a:ext cx="1874520" cy="548640"/>
          </a:xfrm>
          <a:prstGeom prst="rect">
            <a:avLst/>
          </a:prstGeom>
          <a:noFill/>
          <a:ln/>
        </p:spPr>
        <p:txBody>
          <a:bodyPr wrap="square" lIns="0" tIns="0" rIns="0" bIns="0" rtlCol="0" anchor="ctr"/>
          <a:lstStyle/>
          <a:p>
            <a:pPr indent="0" marL="0">
              <a:buNone/>
            </a:pPr>
            <a:r>
              <a:rPr lang="en-US" sz="1200" dirty="0">
                <a:solidFill>
                  <a:schemeClr val="bg2"/>
                </a:solidFill>
              </a:rPr>
              <a:t>weapons at the start:</a:t>
            </a:r>
            <a:endParaRPr lang="en-US" sz="1200" dirty="0"/>
          </a:p>
          <a:p>
            <a:pPr indent="0" marL="0">
              <a:buNone/>
            </a:pPr>
            <a:r>
              <a:rPr lang="en-US" sz="1200" dirty="0">
                <a:solidFill>
                  <a:schemeClr val="bg2"/>
                </a:solidFill>
              </a:rPr>
              <a:t>the pistol is at the door</a:t>
            </a:r>
            <a:endParaRPr lang="en-US" sz="1200" dirty="0"/>
          </a:p>
        </p:txBody>
      </p:sp>
      <p:sp>
        <p:nvSpPr>
          <p:cNvPr id="11" name="floor band FINALE"/>
          <p:cNvSpPr/>
          <p:nvPr/>
        </p:nvSpPr>
        <p:spPr>
          <a:xfrm>
            <a:off x="6675120" y="1143000"/>
            <a:ext cx="5056632" cy="1143000"/>
          </a:xfrm>
          <a:prstGeom prst="rect">
            <a:avLst/>
          </a:prstGeom>
          <a:solidFill>
            <a:schemeClr val="tx2"/>
          </a:solidFill>
          <a:ln w="12700">
            <a:solidFill>
              <a:schemeClr val="tx2"/>
            </a:solidFill>
            <a:prstDash val="solid"/>
          </a:ln>
        </p:spPr>
      </p:sp>
      <p:sp>
        <p:nvSpPr>
          <p:cNvPr id="12" name="Text 9"/>
          <p:cNvSpPr txBox="1"/>
          <p:nvPr/>
        </p:nvSpPr>
        <p:spPr>
          <a:xfrm>
            <a:off x="6858000" y="1271016"/>
            <a:ext cx="1280160" cy="274320"/>
          </a:xfrm>
          <a:prstGeom prst="rect">
            <a:avLst/>
          </a:prstGeom>
          <a:noFill/>
          <a:ln/>
        </p:spPr>
        <p:txBody>
          <a:bodyPr wrap="square" lIns="0" tIns="0" rIns="0" bIns="0" rtlCol="0" anchor="ctr"/>
          <a:lstStyle/>
          <a:p>
            <a:pPr indent="0" marL="0">
              <a:buNone/>
            </a:pPr>
            <a:r>
              <a:rPr lang="en-US" sz="1200" b="1" dirty="0">
                <a:solidFill>
                  <a:schemeClr val="accent1"/>
                </a:solidFill>
              </a:rPr>
              <a:t>FINALE</a:t>
            </a:r>
            <a:endParaRPr lang="en-US" sz="1200" dirty="0"/>
          </a:p>
        </p:txBody>
      </p:sp>
      <p:sp>
        <p:nvSpPr>
          <p:cNvPr id="13" name="Text 10"/>
          <p:cNvSpPr txBox="1"/>
          <p:nvPr/>
        </p:nvSpPr>
        <p:spPr>
          <a:xfrm>
            <a:off x="8138160" y="1234440"/>
            <a:ext cx="3474720" cy="329184"/>
          </a:xfrm>
          <a:prstGeom prst="rect">
            <a:avLst/>
          </a:prstGeom>
          <a:noFill/>
          <a:ln/>
        </p:spPr>
        <p:txBody>
          <a:bodyPr wrap="square" lIns="0" tIns="0" rIns="0" bIns="0" rtlCol="0" anchor="ctr"/>
          <a:lstStyle/>
          <a:p>
            <a:pPr indent="0" marL="0">
              <a:buNone/>
            </a:pPr>
            <a:r>
              <a:rPr lang="en-US" sz="1800" dirty="0">
                <a:solidFill>
                  <a:schemeClr val="bg1"/>
                </a:solidFill>
              </a:rPr>
              <a:t>Helipad</a:t>
            </a:r>
            <a:endParaRPr lang="en-US" sz="1800" dirty="0"/>
          </a:p>
        </p:txBody>
      </p:sp>
      <p:sp>
        <p:nvSpPr>
          <p:cNvPr id="14" name="Text 11"/>
          <p:cNvSpPr txBox="1"/>
          <p:nvPr/>
        </p:nvSpPr>
        <p:spPr>
          <a:xfrm>
            <a:off x="6858000" y="1600200"/>
            <a:ext cx="4754880" cy="274320"/>
          </a:xfrm>
          <a:prstGeom prst="rect">
            <a:avLst/>
          </a:prstGeom>
          <a:noFill/>
          <a:ln/>
        </p:spPr>
        <p:txBody>
          <a:bodyPr wrap="square" lIns="0" tIns="0" rIns="0" bIns="0" rtlCol="0" anchor="ctr"/>
          <a:lstStyle/>
          <a:p>
            <a:pPr indent="0" marL="0">
              <a:buNone/>
            </a:pPr>
            <a:r>
              <a:rPr lang="en-US" sz="1300" dirty="0">
                <a:solidFill>
                  <a:schemeClr val="bg2"/>
                </a:solidFill>
              </a:rPr>
              <a:t>Two soldiers, then the boss; the helicopter lands</a:t>
            </a:r>
            <a:endParaRPr lang="en-US" sz="1300" dirty="0"/>
          </a:p>
        </p:txBody>
      </p:sp>
      <p:sp>
        <p:nvSpPr>
          <p:cNvPr id="15" name="pill Climax"/>
          <p:cNvSpPr txBox="1"/>
          <p:nvPr/>
        </p:nvSpPr>
        <p:spPr>
          <a:xfrm>
            <a:off x="6858000" y="1911096"/>
            <a:ext cx="832104"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dirty="0">
                <a:solidFill>
                  <a:schemeClr val="bg1"/>
                </a:solidFill>
              </a:rPr>
              <a:t>CLIMAX</a:t>
            </a:r>
            <a:endParaRPr lang="en-US" sz="1200" dirty="0"/>
          </a:p>
        </p:txBody>
      </p:sp>
      <p:sp>
        <p:nvSpPr>
          <p:cNvPr id="16" name="pill Release"/>
          <p:cNvSpPr txBox="1"/>
          <p:nvPr/>
        </p:nvSpPr>
        <p:spPr>
          <a:xfrm>
            <a:off x="7799832" y="1911096"/>
            <a:ext cx="937260" cy="310896"/>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tx1"/>
                </a:solidFill>
              </a:rPr>
              <a:t>RELEASE</a:t>
            </a:r>
            <a:endParaRPr lang="en-US" sz="1200" dirty="0"/>
          </a:p>
        </p:txBody>
      </p:sp>
      <p:sp>
        <p:nvSpPr>
          <p:cNvPr id="17" name="floor band LEVEL 3"/>
          <p:cNvSpPr/>
          <p:nvPr/>
        </p:nvSpPr>
        <p:spPr>
          <a:xfrm>
            <a:off x="6675120" y="2423160"/>
            <a:ext cx="5056632" cy="1143000"/>
          </a:xfrm>
          <a:prstGeom prst="rect">
            <a:avLst/>
          </a:prstGeom>
          <a:solidFill>
            <a:schemeClr val="tx2"/>
          </a:solidFill>
          <a:ln w="12700">
            <a:solidFill>
              <a:schemeClr val="tx2"/>
            </a:solidFill>
            <a:prstDash val="solid"/>
          </a:ln>
        </p:spPr>
      </p:sp>
      <p:sp>
        <p:nvSpPr>
          <p:cNvPr id="18" name="Text 15"/>
          <p:cNvSpPr txBox="1"/>
          <p:nvPr/>
        </p:nvSpPr>
        <p:spPr>
          <a:xfrm>
            <a:off x="6858000" y="2551176"/>
            <a:ext cx="1280160" cy="274320"/>
          </a:xfrm>
          <a:prstGeom prst="rect">
            <a:avLst/>
          </a:prstGeom>
          <a:noFill/>
          <a:ln/>
        </p:spPr>
        <p:txBody>
          <a:bodyPr wrap="square" lIns="0" tIns="0" rIns="0" bIns="0" rtlCol="0" anchor="ctr"/>
          <a:lstStyle/>
          <a:p>
            <a:pPr indent="0" marL="0">
              <a:buNone/>
            </a:pPr>
            <a:r>
              <a:rPr lang="en-US" sz="1200" b="1" dirty="0">
                <a:solidFill>
                  <a:schemeClr val="accent1"/>
                </a:solidFill>
              </a:rPr>
              <a:t>LEVEL 3</a:t>
            </a:r>
            <a:endParaRPr lang="en-US" sz="1200" dirty="0"/>
          </a:p>
        </p:txBody>
      </p:sp>
      <p:sp>
        <p:nvSpPr>
          <p:cNvPr id="19" name="Text 16"/>
          <p:cNvSpPr txBox="1"/>
          <p:nvPr/>
        </p:nvSpPr>
        <p:spPr>
          <a:xfrm>
            <a:off x="8138160" y="2514600"/>
            <a:ext cx="3474720" cy="329184"/>
          </a:xfrm>
          <a:prstGeom prst="rect">
            <a:avLst/>
          </a:prstGeom>
          <a:noFill/>
          <a:ln/>
        </p:spPr>
        <p:txBody>
          <a:bodyPr wrap="square" lIns="0" tIns="0" rIns="0" bIns="0" rtlCol="0" anchor="ctr"/>
          <a:lstStyle/>
          <a:p>
            <a:pPr indent="0" marL="0">
              <a:buNone/>
            </a:pPr>
            <a:r>
              <a:rPr lang="en-US" sz="1800" dirty="0">
                <a:solidFill>
                  <a:schemeClr val="bg1"/>
                </a:solidFill>
              </a:rPr>
              <a:t>Destroyed floor</a:t>
            </a:r>
            <a:endParaRPr lang="en-US" sz="1800" dirty="0"/>
          </a:p>
        </p:txBody>
      </p:sp>
      <p:sp>
        <p:nvSpPr>
          <p:cNvPr id="20" name="Text 17"/>
          <p:cNvSpPr txBox="1"/>
          <p:nvPr/>
        </p:nvSpPr>
        <p:spPr>
          <a:xfrm>
            <a:off x="6858000" y="2880360"/>
            <a:ext cx="4754880" cy="274320"/>
          </a:xfrm>
          <a:prstGeom prst="rect">
            <a:avLst/>
          </a:prstGeom>
          <a:noFill/>
          <a:ln/>
        </p:spPr>
        <p:txBody>
          <a:bodyPr wrap="square" lIns="0" tIns="0" rIns="0" bIns="0" rtlCol="0" anchor="ctr"/>
          <a:lstStyle/>
          <a:p>
            <a:pPr indent="0" marL="0">
              <a:buNone/>
            </a:pPr>
            <a:r>
              <a:rPr lang="en-US" sz="1300" dirty="0">
                <a:solidFill>
                  <a:schemeClr val="bg2"/>
                </a:solidFill>
              </a:rPr>
              <a:t>Robot room, then two patrols outside: a kill-door</a:t>
            </a:r>
            <a:endParaRPr lang="en-US" sz="1300" dirty="0"/>
          </a:p>
        </p:txBody>
      </p:sp>
      <p:sp>
        <p:nvSpPr>
          <p:cNvPr id="21" name="pill Awe"/>
          <p:cNvSpPr txBox="1"/>
          <p:nvPr/>
        </p:nvSpPr>
        <p:spPr>
          <a:xfrm>
            <a:off x="6858000" y="3191256"/>
            <a:ext cx="516636" cy="310896"/>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tx1"/>
                </a:solidFill>
              </a:rPr>
              <a:t>AWE</a:t>
            </a:r>
            <a:endParaRPr lang="en-US" sz="1200" dirty="0"/>
          </a:p>
        </p:txBody>
      </p:sp>
      <p:sp>
        <p:nvSpPr>
          <p:cNvPr id="22" name="pill Dread"/>
          <p:cNvSpPr txBox="1"/>
          <p:nvPr/>
        </p:nvSpPr>
        <p:spPr>
          <a:xfrm>
            <a:off x="7484364" y="3191256"/>
            <a:ext cx="726948"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dirty="0">
                <a:solidFill>
                  <a:schemeClr val="bg1"/>
                </a:solidFill>
              </a:rPr>
              <a:t>DREAD</a:t>
            </a:r>
            <a:endParaRPr lang="en-US" sz="1200" dirty="0"/>
          </a:p>
        </p:txBody>
      </p:sp>
      <p:sp>
        <p:nvSpPr>
          <p:cNvPr id="23" name="floor band LEVEL 2"/>
          <p:cNvSpPr/>
          <p:nvPr/>
        </p:nvSpPr>
        <p:spPr>
          <a:xfrm>
            <a:off x="6675120" y="3703320"/>
            <a:ext cx="5056632" cy="1143000"/>
          </a:xfrm>
          <a:prstGeom prst="rect">
            <a:avLst/>
          </a:prstGeom>
          <a:solidFill>
            <a:schemeClr val="tx2"/>
          </a:solidFill>
          <a:ln w="12700">
            <a:solidFill>
              <a:schemeClr val="tx2"/>
            </a:solidFill>
            <a:prstDash val="solid"/>
          </a:ln>
        </p:spPr>
      </p:sp>
      <p:sp>
        <p:nvSpPr>
          <p:cNvPr id="24" name="Text 21"/>
          <p:cNvSpPr txBox="1"/>
          <p:nvPr/>
        </p:nvSpPr>
        <p:spPr>
          <a:xfrm>
            <a:off x="6858000" y="3831336"/>
            <a:ext cx="1280160" cy="274320"/>
          </a:xfrm>
          <a:prstGeom prst="rect">
            <a:avLst/>
          </a:prstGeom>
          <a:noFill/>
          <a:ln/>
        </p:spPr>
        <p:txBody>
          <a:bodyPr wrap="square" lIns="0" tIns="0" rIns="0" bIns="0" rtlCol="0" anchor="ctr"/>
          <a:lstStyle/>
          <a:p>
            <a:pPr indent="0" marL="0">
              <a:buNone/>
            </a:pPr>
            <a:r>
              <a:rPr lang="en-US" sz="1200" b="1" dirty="0">
                <a:solidFill>
                  <a:schemeClr val="accent1"/>
                </a:solidFill>
              </a:rPr>
              <a:t>LEVEL 2</a:t>
            </a:r>
            <a:endParaRPr lang="en-US" sz="1200" dirty="0"/>
          </a:p>
        </p:txBody>
      </p:sp>
      <p:sp>
        <p:nvSpPr>
          <p:cNvPr id="25" name="Text 22"/>
          <p:cNvSpPr txBox="1"/>
          <p:nvPr/>
        </p:nvSpPr>
        <p:spPr>
          <a:xfrm>
            <a:off x="8138160" y="3794760"/>
            <a:ext cx="3474720" cy="329184"/>
          </a:xfrm>
          <a:prstGeom prst="rect">
            <a:avLst/>
          </a:prstGeom>
          <a:noFill/>
          <a:ln/>
        </p:spPr>
        <p:txBody>
          <a:bodyPr wrap="square" lIns="0" tIns="0" rIns="0" bIns="0" rtlCol="0" anchor="ctr"/>
          <a:lstStyle/>
          <a:p>
            <a:pPr indent="0" marL="0">
              <a:buNone/>
            </a:pPr>
            <a:r>
              <a:rPr lang="en-US" sz="1800" dirty="0">
                <a:solidFill>
                  <a:schemeClr val="bg1"/>
                </a:solidFill>
              </a:rPr>
              <a:t>Armory</a:t>
            </a:r>
            <a:endParaRPr lang="en-US" sz="1800" dirty="0"/>
          </a:p>
        </p:txBody>
      </p:sp>
      <p:sp>
        <p:nvSpPr>
          <p:cNvPr id="26" name="Text 23"/>
          <p:cNvSpPr txBox="1"/>
          <p:nvPr/>
        </p:nvSpPr>
        <p:spPr>
          <a:xfrm>
            <a:off x="6858000" y="4160520"/>
            <a:ext cx="4754880" cy="274320"/>
          </a:xfrm>
          <a:prstGeom prst="rect">
            <a:avLst/>
          </a:prstGeom>
          <a:noFill/>
          <a:ln/>
        </p:spPr>
        <p:txBody>
          <a:bodyPr wrap="square" lIns="0" tIns="0" rIns="0" bIns="0" rtlCol="0" anchor="ctr"/>
          <a:lstStyle/>
          <a:p>
            <a:pPr indent="0" marL="0">
              <a:buNone/>
            </a:pPr>
            <a:r>
              <a:rPr lang="en-US" sz="1300" dirty="0">
                <a:solidFill>
                  <a:schemeClr val="bg2"/>
                </a:solidFill>
              </a:rPr>
              <a:t>Find the rifle and the key, use the key slot</a:t>
            </a:r>
            <a:endParaRPr lang="en-US" sz="1300" dirty="0"/>
          </a:p>
        </p:txBody>
      </p:sp>
      <p:sp>
        <p:nvSpPr>
          <p:cNvPr id="27" name="pill Pressure"/>
          <p:cNvSpPr txBox="1"/>
          <p:nvPr/>
        </p:nvSpPr>
        <p:spPr>
          <a:xfrm>
            <a:off x="6858000" y="4471416"/>
            <a:ext cx="1042416"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dirty="0">
                <a:solidFill>
                  <a:schemeClr val="bg1"/>
                </a:solidFill>
              </a:rPr>
              <a:t>PRESSURE</a:t>
            </a:r>
            <a:endParaRPr lang="en-US" sz="1200" dirty="0"/>
          </a:p>
        </p:txBody>
      </p:sp>
      <p:sp>
        <p:nvSpPr>
          <p:cNvPr id="28" name="pill Relief"/>
          <p:cNvSpPr txBox="1"/>
          <p:nvPr/>
        </p:nvSpPr>
        <p:spPr>
          <a:xfrm>
            <a:off x="8010144" y="4471416"/>
            <a:ext cx="832104" cy="310896"/>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tx1"/>
                </a:solidFill>
              </a:rPr>
              <a:t>RELIEF</a:t>
            </a:r>
            <a:endParaRPr lang="en-US" sz="1200" dirty="0"/>
          </a:p>
        </p:txBody>
      </p:sp>
      <p:sp>
        <p:nvSpPr>
          <p:cNvPr id="29" name="floor band LEVEL 1"/>
          <p:cNvSpPr/>
          <p:nvPr/>
        </p:nvSpPr>
        <p:spPr>
          <a:xfrm>
            <a:off x="6675120" y="4983480"/>
            <a:ext cx="5056632" cy="1143000"/>
          </a:xfrm>
          <a:prstGeom prst="rect">
            <a:avLst/>
          </a:prstGeom>
          <a:solidFill>
            <a:schemeClr val="tx2"/>
          </a:solidFill>
          <a:ln w="12700">
            <a:solidFill>
              <a:schemeClr val="tx2"/>
            </a:solidFill>
            <a:prstDash val="solid"/>
          </a:ln>
        </p:spPr>
      </p:sp>
      <p:sp>
        <p:nvSpPr>
          <p:cNvPr id="30" name="Text 27"/>
          <p:cNvSpPr txBox="1"/>
          <p:nvPr/>
        </p:nvSpPr>
        <p:spPr>
          <a:xfrm>
            <a:off x="6858000" y="5111496"/>
            <a:ext cx="1280160" cy="274320"/>
          </a:xfrm>
          <a:prstGeom prst="rect">
            <a:avLst/>
          </a:prstGeom>
          <a:noFill/>
          <a:ln/>
        </p:spPr>
        <p:txBody>
          <a:bodyPr wrap="square" lIns="0" tIns="0" rIns="0" bIns="0" rtlCol="0" anchor="ctr"/>
          <a:lstStyle/>
          <a:p>
            <a:pPr indent="0" marL="0">
              <a:buNone/>
            </a:pPr>
            <a:r>
              <a:rPr lang="en-US" sz="1200" b="1" dirty="0">
                <a:solidFill>
                  <a:schemeClr val="accent1"/>
                </a:solidFill>
              </a:rPr>
              <a:t>LEVEL 1</a:t>
            </a:r>
            <a:endParaRPr lang="en-US" sz="1200" dirty="0"/>
          </a:p>
        </p:txBody>
      </p:sp>
      <p:sp>
        <p:nvSpPr>
          <p:cNvPr id="31" name="Text 28"/>
          <p:cNvSpPr txBox="1"/>
          <p:nvPr/>
        </p:nvSpPr>
        <p:spPr>
          <a:xfrm>
            <a:off x="8138160" y="5074920"/>
            <a:ext cx="3474720" cy="329184"/>
          </a:xfrm>
          <a:prstGeom prst="rect">
            <a:avLst/>
          </a:prstGeom>
          <a:noFill/>
          <a:ln/>
        </p:spPr>
        <p:txBody>
          <a:bodyPr wrap="square" lIns="0" tIns="0" rIns="0" bIns="0" rtlCol="0" anchor="ctr"/>
          <a:lstStyle/>
          <a:p>
            <a:pPr indent="0" marL="0">
              <a:buNone/>
            </a:pPr>
            <a:r>
              <a:rPr lang="en-US" sz="1800" dirty="0">
                <a:solidFill>
                  <a:schemeClr val="bg1"/>
                </a:solidFill>
              </a:rPr>
              <a:t>Ground floor</a:t>
            </a:r>
            <a:endParaRPr lang="en-US" sz="1800" dirty="0"/>
          </a:p>
        </p:txBody>
      </p:sp>
      <p:sp>
        <p:nvSpPr>
          <p:cNvPr id="32" name="Text 29"/>
          <p:cNvSpPr txBox="1"/>
          <p:nvPr/>
        </p:nvSpPr>
        <p:spPr>
          <a:xfrm>
            <a:off x="6858000" y="5440680"/>
            <a:ext cx="4754880" cy="274320"/>
          </a:xfrm>
          <a:prstGeom prst="rect">
            <a:avLst/>
          </a:prstGeom>
          <a:noFill/>
          <a:ln/>
        </p:spPr>
        <p:txBody>
          <a:bodyPr wrap="square" lIns="0" tIns="0" rIns="0" bIns="0" rtlCol="0" anchor="ctr"/>
          <a:lstStyle/>
          <a:p>
            <a:pPr indent="0" marL="0">
              <a:buNone/>
            </a:pPr>
            <a:r>
              <a:rPr lang="en-US" sz="1300" dirty="0">
                <a:solidFill>
                  <a:schemeClr val="bg2"/>
                </a:solidFill>
              </a:rPr>
              <a:t>A trap locks you in: clear the floor to get out</a:t>
            </a:r>
            <a:endParaRPr lang="en-US" sz="1300" dirty="0"/>
          </a:p>
        </p:txBody>
      </p:sp>
      <p:sp>
        <p:nvSpPr>
          <p:cNvPr id="33" name="pill Shock"/>
          <p:cNvSpPr txBox="1"/>
          <p:nvPr/>
        </p:nvSpPr>
        <p:spPr>
          <a:xfrm>
            <a:off x="6858000" y="5751576"/>
            <a:ext cx="726948"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dirty="0">
                <a:solidFill>
                  <a:schemeClr val="bg1"/>
                </a:solidFill>
              </a:rPr>
              <a:t>SHOCK</a:t>
            </a:r>
            <a:endParaRPr lang="en-US" sz="1200" dirty="0"/>
          </a:p>
        </p:txBody>
      </p:sp>
      <p:sp>
        <p:nvSpPr>
          <p:cNvPr id="34" name="pill Control"/>
          <p:cNvSpPr txBox="1"/>
          <p:nvPr/>
        </p:nvSpPr>
        <p:spPr>
          <a:xfrm>
            <a:off x="7694676" y="5751576"/>
            <a:ext cx="937260" cy="310896"/>
          </a:xfrm>
          <a:prstGeom prst="roundRect">
            <a:avLst>
              <a:gd name="adj" fmla="val 50000"/>
            </a:avLst>
          </a:prstGeom>
          <a:solidFill>
            <a:schemeClr val="accent1"/>
          </a:solidFill>
          <a:ln/>
        </p:spPr>
        <p:txBody>
          <a:bodyPr wrap="square" lIns="0" tIns="0" rIns="0" bIns="0" rtlCol="0" anchor="ctr"/>
          <a:lstStyle/>
          <a:p>
            <a:pPr algn="ctr" indent="0" marL="0">
              <a:buNone/>
            </a:pPr>
            <a:r>
              <a:rPr lang="en-US" sz="1200" b="1" dirty="0">
                <a:solidFill>
                  <a:schemeClr val="tx1"/>
                </a:solidFill>
              </a:rPr>
              <a:t>CONTROL</a:t>
            </a:r>
            <a:endParaRPr lang="en-US" sz="1200" dirty="0"/>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640080"/>
          </a:xfrm>
          <a:prstGeom prst="rect">
            <a:avLst/>
          </a:prstGeom>
          <a:noFill/>
          <a:ln/>
        </p:spPr>
        <p:txBody>
          <a:bodyPr wrap="square" lIns="0" tIns="0" rIns="0" bIns="0" rtlCol="0" anchor="ctr"/>
          <a:lstStyle/>
          <a:p>
            <a:pPr algn="l" indent="0" marL="0">
              <a:buNone/>
            </a:pPr>
            <a:r>
              <a:rPr lang="en-US" sz="3200" dirty="0">
                <a:solidFill>
                  <a:schemeClr val="bg1"/>
                </a:solidFill>
              </a:rPr>
              <a:t>Level 1 · The lockdown</a:t>
            </a:r>
            <a:endParaRPr lang="en-US" sz="3200" dirty="0"/>
          </a:p>
        </p:txBody>
      </p:sp>
      <p:pic>
        <p:nvPicPr>
          <p:cNvPr id="3" name="map level 1" descr="C:\Users\at488\AppData\Local\Temp\claude\C--Users-at488-OneDrive---Hochschule-Luzern-Desktop-Level-World-Design-\cc816706-66e7-4f21-b274-83f61f88f670\scratchpad\deck\maps\map_L1_ground_floor_slide.png">    </p:cNvPr>
          <p:cNvPicPr>
            <a:picLocks noChangeAspect="1"/>
          </p:cNvPicPr>
          <p:nvPr/>
        </p:nvPicPr>
        <p:blipFill>
          <a:blip r:embed="rId1"/>
          <a:stretch>
            <a:fillRect/>
          </a:stretch>
        </p:blipFill>
        <p:spPr>
          <a:xfrm>
            <a:off x="457200" y="1097280"/>
            <a:ext cx="4791456" cy="5248656"/>
          </a:xfrm>
          <a:prstGeom prst="rect">
            <a:avLst/>
          </a:prstGeom>
        </p:spPr>
      </p:pic>
      <p:sp>
        <p:nvSpPr>
          <p:cNvPr id="4" name="beat number 1"/>
          <p:cNvSpPr txBox="1"/>
          <p:nvPr/>
        </p:nvSpPr>
        <p:spPr>
          <a:xfrm>
            <a:off x="5577840" y="1161288"/>
            <a:ext cx="347472" cy="34747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5" name="beat 1"/>
          <p:cNvSpPr txBox="1"/>
          <p:nvPr/>
        </p:nvSpPr>
        <p:spPr>
          <a:xfrm>
            <a:off x="6080760" y="1143000"/>
            <a:ext cx="5669280" cy="402336"/>
          </a:xfrm>
          <a:prstGeom prst="rect">
            <a:avLst/>
          </a:prstGeom>
          <a:noFill/>
          <a:ln/>
        </p:spPr>
        <p:txBody>
          <a:bodyPr wrap="square" lIns="0" tIns="0" rIns="0" bIns="0" rtlCol="0" anchor="t"/>
          <a:lstStyle/>
          <a:p>
            <a:pPr indent="0" marL="0">
              <a:buNone/>
            </a:pPr>
            <a:r>
              <a:rPr lang="en-US" sz="1500" dirty="0">
                <a:solidFill>
                  <a:schemeClr val="bg2"/>
                </a:solidFill>
              </a:rPr>
              <a:t>Pistol outside the door, the tower is quiet</a:t>
            </a:r>
            <a:endParaRPr lang="en-US" sz="1500" dirty="0"/>
          </a:p>
        </p:txBody>
      </p:sp>
      <p:sp>
        <p:nvSpPr>
          <p:cNvPr id="6" name="beat number 2"/>
          <p:cNvSpPr txBox="1"/>
          <p:nvPr/>
        </p:nvSpPr>
        <p:spPr>
          <a:xfrm>
            <a:off x="5577840" y="1600200"/>
            <a:ext cx="347472" cy="347472"/>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beat 2"/>
          <p:cNvSpPr txBox="1"/>
          <p:nvPr/>
        </p:nvSpPr>
        <p:spPr>
          <a:xfrm>
            <a:off x="6080760" y="1581912"/>
            <a:ext cx="5669280" cy="402336"/>
          </a:xfrm>
          <a:prstGeom prst="rect">
            <a:avLst/>
          </a:prstGeom>
          <a:noFill/>
          <a:ln/>
        </p:spPr>
        <p:txBody>
          <a:bodyPr wrap="square" lIns="0" tIns="0" rIns="0" bIns="0" rtlCol="0" anchor="t"/>
          <a:lstStyle/>
          <a:p>
            <a:pPr indent="0" marL="0">
              <a:buNone/>
            </a:pPr>
            <a:r>
              <a:rPr lang="en-US" sz="1500" dirty="0">
                <a:solidFill>
                  <a:schemeClr val="bg2"/>
                </a:solidFill>
              </a:rPr>
              <a:t>The trap springs: shutter down, siren, red light</a:t>
            </a:r>
            <a:endParaRPr lang="en-US" sz="1500" dirty="0"/>
          </a:p>
        </p:txBody>
      </p:sp>
      <p:sp>
        <p:nvSpPr>
          <p:cNvPr id="8" name="beat number 3"/>
          <p:cNvSpPr txBox="1"/>
          <p:nvPr/>
        </p:nvSpPr>
        <p:spPr>
          <a:xfrm>
            <a:off x="5577840" y="2039112"/>
            <a:ext cx="347472" cy="347472"/>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9" name="beat 3"/>
          <p:cNvSpPr txBox="1"/>
          <p:nvPr/>
        </p:nvSpPr>
        <p:spPr>
          <a:xfrm>
            <a:off x="6080760" y="2020824"/>
            <a:ext cx="5669280" cy="402336"/>
          </a:xfrm>
          <a:prstGeom prst="rect">
            <a:avLst/>
          </a:prstGeom>
          <a:noFill/>
          <a:ln/>
        </p:spPr>
        <p:txBody>
          <a:bodyPr wrap="square" lIns="0" tIns="0" rIns="0" bIns="0" rtlCol="0" anchor="t"/>
          <a:lstStyle/>
          <a:p>
            <a:pPr indent="0" marL="0">
              <a:buNone/>
            </a:pPr>
            <a:r>
              <a:rPr lang="en-US" sz="1500" dirty="0">
                <a:solidFill>
                  <a:schemeClr val="bg2"/>
                </a:solidFill>
              </a:rPr>
              <a:t>Every soldier hunts you. The camera in Room A can set it off first</a:t>
            </a:r>
            <a:endParaRPr lang="en-US" sz="1500" dirty="0"/>
          </a:p>
        </p:txBody>
      </p:sp>
      <p:sp>
        <p:nvSpPr>
          <p:cNvPr id="10" name="beat number 4"/>
          <p:cNvSpPr txBox="1"/>
          <p:nvPr/>
        </p:nvSpPr>
        <p:spPr>
          <a:xfrm>
            <a:off x="5577840" y="2478024"/>
            <a:ext cx="347472" cy="34747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11" name="beat 4"/>
          <p:cNvSpPr txBox="1"/>
          <p:nvPr/>
        </p:nvSpPr>
        <p:spPr>
          <a:xfrm>
            <a:off x="6080760" y="2459736"/>
            <a:ext cx="5669280" cy="402336"/>
          </a:xfrm>
          <a:prstGeom prst="rect">
            <a:avLst/>
          </a:prstGeom>
          <a:noFill/>
          <a:ln/>
        </p:spPr>
        <p:txBody>
          <a:bodyPr wrap="square" lIns="0" tIns="0" rIns="0" bIns="0" rtlCol="0" anchor="t"/>
          <a:lstStyle/>
          <a:p>
            <a:pPr indent="0" marL="0">
              <a:buNone/>
            </a:pPr>
            <a:r>
              <a:rPr lang="en-US" sz="1500" dirty="0">
                <a:solidFill>
                  <a:schemeClr val="bg2"/>
                </a:solidFill>
              </a:rPr>
              <a:t>Rooms A → B → C: the left door stays locked, one way on</a:t>
            </a:r>
            <a:endParaRPr lang="en-US" sz="1500" dirty="0"/>
          </a:p>
        </p:txBody>
      </p:sp>
      <p:sp>
        <p:nvSpPr>
          <p:cNvPr id="12" name="beat number 5"/>
          <p:cNvSpPr txBox="1"/>
          <p:nvPr/>
        </p:nvSpPr>
        <p:spPr>
          <a:xfrm>
            <a:off x="5577840" y="2916936"/>
            <a:ext cx="347472" cy="34747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13" name="beat 5"/>
          <p:cNvSpPr txBox="1"/>
          <p:nvPr/>
        </p:nvSpPr>
        <p:spPr>
          <a:xfrm>
            <a:off x="6080760" y="2898648"/>
            <a:ext cx="5669280" cy="402336"/>
          </a:xfrm>
          <a:prstGeom prst="rect">
            <a:avLst/>
          </a:prstGeom>
          <a:noFill/>
          <a:ln/>
        </p:spPr>
        <p:txBody>
          <a:bodyPr wrap="square" lIns="0" tIns="0" rIns="0" bIns="0" rtlCol="0" anchor="t"/>
          <a:lstStyle/>
          <a:p>
            <a:pPr indent="0" marL="0">
              <a:buNone/>
            </a:pPr>
            <a:r>
              <a:rPr lang="en-US" sz="1500" dirty="0">
                <a:solidFill>
                  <a:schemeClr val="bg2"/>
                </a:solidFill>
              </a:rPr>
              <a:t>West Wing into the turret hall</a:t>
            </a:r>
            <a:endParaRPr lang="en-US" sz="1500" dirty="0"/>
          </a:p>
        </p:txBody>
      </p:sp>
      <p:sp>
        <p:nvSpPr>
          <p:cNvPr id="14" name="beat number 6"/>
          <p:cNvSpPr txBox="1"/>
          <p:nvPr/>
        </p:nvSpPr>
        <p:spPr>
          <a:xfrm>
            <a:off x="5577840" y="3355848"/>
            <a:ext cx="347472" cy="34747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15" name="beat 6"/>
          <p:cNvSpPr txBox="1"/>
          <p:nvPr/>
        </p:nvSpPr>
        <p:spPr>
          <a:xfrm>
            <a:off x="6080760" y="3337560"/>
            <a:ext cx="5669280" cy="402336"/>
          </a:xfrm>
          <a:prstGeom prst="rect">
            <a:avLst/>
          </a:prstGeom>
          <a:noFill/>
          <a:ln/>
        </p:spPr>
        <p:txBody>
          <a:bodyPr wrap="square" lIns="0" tIns="0" rIns="0" bIns="0" rtlCol="0" anchor="t"/>
          <a:lstStyle/>
          <a:p>
            <a:pPr indent="0" marL="0">
              <a:buNone/>
            </a:pPr>
            <a:r>
              <a:rPr lang="en-US" sz="1500" dirty="0">
                <a:solidFill>
                  <a:schemeClr val="bg2"/>
                </a:solidFill>
              </a:rPr>
              <a:t>Turret down, floor clear: the alarm stops</a:t>
            </a:r>
            <a:endParaRPr lang="en-US" sz="1500" dirty="0"/>
          </a:p>
        </p:txBody>
      </p:sp>
      <p:sp>
        <p:nvSpPr>
          <p:cNvPr id="16" name="beat number 7"/>
          <p:cNvSpPr txBox="1"/>
          <p:nvPr/>
        </p:nvSpPr>
        <p:spPr>
          <a:xfrm>
            <a:off x="5577840" y="3794760"/>
            <a:ext cx="347472" cy="347472"/>
          </a:xfrm>
          <a:prstGeom prst="ellipse">
            <a:avLst/>
          </a:prstGeom>
          <a:solidFill>
            <a:schemeClr val="accent3"/>
          </a:solid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7" name="beat 7"/>
          <p:cNvSpPr txBox="1"/>
          <p:nvPr/>
        </p:nvSpPr>
        <p:spPr>
          <a:xfrm>
            <a:off x="6080760" y="3776472"/>
            <a:ext cx="5669280" cy="402336"/>
          </a:xfrm>
          <a:prstGeom prst="rect">
            <a:avLst/>
          </a:prstGeom>
          <a:noFill/>
          <a:ln/>
        </p:spPr>
        <p:txBody>
          <a:bodyPr wrap="square" lIns="0" tIns="0" rIns="0" bIns="0" rtlCol="0" anchor="t"/>
          <a:lstStyle/>
          <a:p>
            <a:pPr indent="0" marL="0">
              <a:buNone/>
            </a:pPr>
            <a:r>
              <a:rPr lang="en-US" sz="1500" dirty="0">
                <a:solidFill>
                  <a:schemeClr val="bg2"/>
                </a:solidFill>
              </a:rPr>
              <a:t>The shutter rolls up, the stairs open</a:t>
            </a:r>
            <a:endParaRPr lang="en-US" sz="1500" dirty="0"/>
          </a:p>
        </p:txBody>
      </p:sp>
      <p:pic>
        <p:nvPicPr>
          <p:cNvPr id="18" name="alarm screenshot" descr="C:\Users\at488\AppData\Local\Temp\claude\C--Users-at488-OneDrive---Hochschule-Luzern-Desktop-Level-World-Design-\cc816706-66e7-4f21-b274-83f61f88f670\scratchpad\deck\screenshots\hud_alarm.png">    </p:cNvPr>
          <p:cNvPicPr>
            <a:picLocks noChangeAspect="1"/>
          </p:cNvPicPr>
          <p:nvPr/>
        </p:nvPicPr>
        <p:blipFill>
          <a:blip r:embed="rId2"/>
          <a:stretch>
            <a:fillRect/>
          </a:stretch>
        </p:blipFill>
        <p:spPr>
          <a:xfrm>
            <a:off x="5577840" y="4343400"/>
            <a:ext cx="3291840" cy="1856232"/>
          </a:xfrm>
          <a:prstGeom prst="rect">
            <a:avLst/>
          </a:prstGeom>
        </p:spPr>
      </p:pic>
      <p:sp>
        <p:nvSpPr>
          <p:cNvPr id="19" name="Text 15"/>
          <p:cNvSpPr txBox="1"/>
          <p:nvPr/>
        </p:nvSpPr>
        <p:spPr>
          <a:xfrm>
            <a:off x="5577840" y="6217920"/>
            <a:ext cx="3291840" cy="274320"/>
          </a:xfrm>
          <a:prstGeom prst="rect">
            <a:avLst/>
          </a:prstGeom>
          <a:noFill/>
          <a:ln/>
        </p:spPr>
        <p:txBody>
          <a:bodyPr wrap="square" lIns="0" tIns="0" rIns="0" bIns="0" rtlCol="0" anchor="ctr"/>
          <a:lstStyle/>
          <a:p>
            <a:pPr indent="0" marL="0">
              <a:buNone/>
            </a:pPr>
            <a:r>
              <a:rPr lang="en-US" sz="1100" i="1" dirty="0">
                <a:solidFill>
                  <a:schemeClr val="accent5"/>
                </a:solidFill>
              </a:rPr>
              <a:t>In game: “Spotted! Lockdown”</a:t>
            </a:r>
            <a:endParaRPr lang="en-US" sz="1100" dirty="0"/>
          </a:p>
        </p:txBody>
      </p:sp>
      <p:sp>
        <p:nvSpPr>
          <p:cNvPr id="20" name="Text 16"/>
          <p:cNvSpPr txBox="1"/>
          <p:nvPr/>
        </p:nvSpPr>
        <p:spPr>
          <a:xfrm>
            <a:off x="9235440" y="4343400"/>
            <a:ext cx="2468880" cy="274320"/>
          </a:xfrm>
          <a:prstGeom prst="rect">
            <a:avLst/>
          </a:prstGeom>
          <a:noFill/>
          <a:ln/>
        </p:spPr>
        <p:txBody>
          <a:bodyPr wrap="square" lIns="0" tIns="0" rIns="0" bIns="0" rtlCol="0" anchor="ctr"/>
          <a:lstStyle/>
          <a:p>
            <a:pPr indent="0" marL="0">
              <a:buNone/>
            </a:pPr>
            <a:r>
              <a:rPr lang="en-US" sz="1200" b="1" dirty="0">
                <a:solidFill>
                  <a:schemeClr val="accent5"/>
                </a:solidFill>
              </a:rPr>
              <a:t>EMOTION</a:t>
            </a:r>
            <a:endParaRPr lang="en-US" sz="1200" dirty="0"/>
          </a:p>
        </p:txBody>
      </p:sp>
      <p:sp>
        <p:nvSpPr>
          <p:cNvPr id="21" name="pill Curiosity"/>
          <p:cNvSpPr txBox="1"/>
          <p:nvPr/>
        </p:nvSpPr>
        <p:spPr>
          <a:xfrm>
            <a:off x="9235440" y="4663440"/>
            <a:ext cx="1463040" cy="310896"/>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tx1"/>
                </a:solidFill>
              </a:rPr>
              <a:t>CURIOSITY</a:t>
            </a:r>
            <a:endParaRPr lang="en-US" sz="1200" dirty="0"/>
          </a:p>
        </p:txBody>
      </p:sp>
      <p:sp>
        <p:nvSpPr>
          <p:cNvPr id="22" name="pill Shock"/>
          <p:cNvSpPr txBox="1"/>
          <p:nvPr/>
        </p:nvSpPr>
        <p:spPr>
          <a:xfrm>
            <a:off x="9235440" y="5010912"/>
            <a:ext cx="1463040"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dirty="0">
                <a:solidFill>
                  <a:schemeClr val="bg1"/>
                </a:solidFill>
              </a:rPr>
              <a:t>SHOCK</a:t>
            </a:r>
            <a:endParaRPr lang="en-US" sz="1200" dirty="0"/>
          </a:p>
        </p:txBody>
      </p:sp>
      <p:sp>
        <p:nvSpPr>
          <p:cNvPr id="23" name="pill Hunted"/>
          <p:cNvSpPr txBox="1"/>
          <p:nvPr/>
        </p:nvSpPr>
        <p:spPr>
          <a:xfrm>
            <a:off x="9235440" y="5358384"/>
            <a:ext cx="1463040"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dirty="0">
                <a:solidFill>
                  <a:schemeClr val="bg1"/>
                </a:solidFill>
              </a:rPr>
              <a:t>HUNTED</a:t>
            </a:r>
            <a:endParaRPr lang="en-US" sz="1200" dirty="0"/>
          </a:p>
        </p:txBody>
      </p:sp>
      <p:sp>
        <p:nvSpPr>
          <p:cNvPr id="24" name="pill Control"/>
          <p:cNvSpPr txBox="1"/>
          <p:nvPr/>
        </p:nvSpPr>
        <p:spPr>
          <a:xfrm>
            <a:off x="9235440" y="5705856"/>
            <a:ext cx="1463040" cy="310896"/>
          </a:xfrm>
          <a:prstGeom prst="roundRect">
            <a:avLst>
              <a:gd name="adj" fmla="val 50000"/>
            </a:avLst>
          </a:prstGeom>
          <a:solidFill>
            <a:schemeClr val="accent1"/>
          </a:solidFill>
          <a:ln/>
        </p:spPr>
        <p:txBody>
          <a:bodyPr wrap="square" lIns="0" tIns="0" rIns="0" bIns="0" rtlCol="0" anchor="ctr"/>
          <a:lstStyle/>
          <a:p>
            <a:pPr algn="ctr" indent="0" marL="0">
              <a:buNone/>
            </a:pPr>
            <a:r>
              <a:rPr lang="en-US" sz="1200" b="1" dirty="0">
                <a:solidFill>
                  <a:schemeClr val="tx1"/>
                </a:solidFill>
              </a:rPr>
              <a:t>CONTROL</a:t>
            </a:r>
            <a:endParaRPr lang="en-US" sz="1200" dirty="0"/>
          </a:p>
        </p:txBody>
      </p:sp>
      <p:sp>
        <p:nvSpPr>
          <p:cNvPr id="25" name="pill Relief"/>
          <p:cNvSpPr txBox="1"/>
          <p:nvPr/>
        </p:nvSpPr>
        <p:spPr>
          <a:xfrm>
            <a:off x="9235440" y="6053328"/>
            <a:ext cx="1463040" cy="310896"/>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tx1"/>
                </a:solidFill>
              </a:rPr>
              <a:t>RELIEF</a:t>
            </a:r>
            <a:endParaRPr lang="en-US" sz="1200" dirty="0"/>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640080"/>
          </a:xfrm>
          <a:prstGeom prst="rect">
            <a:avLst/>
          </a:prstGeom>
          <a:noFill/>
          <a:ln/>
        </p:spPr>
        <p:txBody>
          <a:bodyPr wrap="square" lIns="0" tIns="0" rIns="0" bIns="0" rtlCol="0" anchor="ctr"/>
          <a:lstStyle/>
          <a:p>
            <a:pPr algn="l" indent="0" marL="0">
              <a:buNone/>
            </a:pPr>
            <a:r>
              <a:rPr lang="en-US" sz="3200" dirty="0">
                <a:solidFill>
                  <a:schemeClr val="bg1"/>
                </a:solidFill>
              </a:rPr>
              <a:t>Level 2 · The armory: rifle and key</a:t>
            </a:r>
            <a:endParaRPr lang="en-US" sz="3200" dirty="0"/>
          </a:p>
        </p:txBody>
      </p:sp>
      <p:pic>
        <p:nvPicPr>
          <p:cNvPr id="3" name="map level 2" descr="C:\Users\at488\AppData\Local\Temp\claude\C--Users-at488-OneDrive---Hochschule-Luzern-Desktop-Level-World-Design-\cc816706-66e7-4f21-b274-83f61f88f670\scratchpad\deck\maps\map_L2_armory_slide.png">    </p:cNvPr>
          <p:cNvPicPr>
            <a:picLocks noChangeAspect="1"/>
          </p:cNvPicPr>
          <p:nvPr/>
        </p:nvPicPr>
        <p:blipFill>
          <a:blip r:embed="rId1"/>
          <a:stretch>
            <a:fillRect/>
          </a:stretch>
        </p:blipFill>
        <p:spPr>
          <a:xfrm>
            <a:off x="457200" y="1097280"/>
            <a:ext cx="5285232" cy="5248656"/>
          </a:xfrm>
          <a:prstGeom prst="rect">
            <a:avLst/>
          </a:prstGeom>
        </p:spPr>
      </p:pic>
      <p:sp>
        <p:nvSpPr>
          <p:cNvPr id="4" name="beat number 1"/>
          <p:cNvSpPr txBox="1"/>
          <p:nvPr/>
        </p:nvSpPr>
        <p:spPr>
          <a:xfrm>
            <a:off x="6080760" y="1161288"/>
            <a:ext cx="347472" cy="347472"/>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beat 1"/>
          <p:cNvSpPr txBox="1"/>
          <p:nvPr/>
        </p:nvSpPr>
        <p:spPr>
          <a:xfrm>
            <a:off x="6583680" y="1143000"/>
            <a:ext cx="5166360" cy="466344"/>
          </a:xfrm>
          <a:prstGeom prst="rect">
            <a:avLst/>
          </a:prstGeom>
          <a:noFill/>
          <a:ln/>
        </p:spPr>
        <p:txBody>
          <a:bodyPr wrap="square" lIns="0" tIns="0" rIns="0" bIns="0" rtlCol="0" anchor="t"/>
          <a:lstStyle/>
          <a:p>
            <a:pPr indent="0" marL="0">
              <a:buNone/>
            </a:pPr>
            <a:r>
              <a:rPr lang="en-US" sz="1500" dirty="0">
                <a:solidFill>
                  <a:schemeClr val="bg2"/>
                </a:solidFill>
              </a:rPr>
              <a:t>Up the stairs into the hall: soldiers, two turrets, drones</a:t>
            </a:r>
            <a:endParaRPr lang="en-US" sz="1500" dirty="0"/>
          </a:p>
        </p:txBody>
      </p:sp>
      <p:sp>
        <p:nvSpPr>
          <p:cNvPr id="6" name="beat number 2"/>
          <p:cNvSpPr txBox="1"/>
          <p:nvPr/>
        </p:nvSpPr>
        <p:spPr>
          <a:xfrm>
            <a:off x="6080760" y="1664208"/>
            <a:ext cx="347472" cy="34747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7" name="beat 2"/>
          <p:cNvSpPr txBox="1"/>
          <p:nvPr/>
        </p:nvSpPr>
        <p:spPr>
          <a:xfrm>
            <a:off x="6583680" y="1645920"/>
            <a:ext cx="5166360" cy="466344"/>
          </a:xfrm>
          <a:prstGeom prst="rect">
            <a:avLst/>
          </a:prstGeom>
          <a:noFill/>
          <a:ln/>
        </p:spPr>
        <p:txBody>
          <a:bodyPr wrap="square" lIns="0" tIns="0" rIns="0" bIns="0" rtlCol="0" anchor="t"/>
          <a:lstStyle/>
          <a:p>
            <a:pPr indent="0" marL="0">
              <a:buNone/>
            </a:pPr>
            <a:r>
              <a:rPr lang="en-US" sz="1500" dirty="0">
                <a:solidFill>
                  <a:schemeClr val="bg2"/>
                </a:solidFill>
              </a:rPr>
              <a:t>The Armory: the rifle</a:t>
            </a:r>
            <a:endParaRPr lang="en-US" sz="1500" dirty="0"/>
          </a:p>
        </p:txBody>
      </p:sp>
      <p:sp>
        <p:nvSpPr>
          <p:cNvPr id="8" name="beat number 3"/>
          <p:cNvSpPr txBox="1"/>
          <p:nvPr/>
        </p:nvSpPr>
        <p:spPr>
          <a:xfrm>
            <a:off x="6080760" y="2167128"/>
            <a:ext cx="347472" cy="34747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9" name="beat 3"/>
          <p:cNvSpPr txBox="1"/>
          <p:nvPr/>
        </p:nvSpPr>
        <p:spPr>
          <a:xfrm>
            <a:off x="6583680" y="2148840"/>
            <a:ext cx="5166360" cy="466344"/>
          </a:xfrm>
          <a:prstGeom prst="rect">
            <a:avLst/>
          </a:prstGeom>
          <a:noFill/>
          <a:ln/>
        </p:spPr>
        <p:txBody>
          <a:bodyPr wrap="square" lIns="0" tIns="0" rIns="0" bIns="0" rtlCol="0" anchor="t"/>
          <a:lstStyle/>
          <a:p>
            <a:pPr indent="0" marL="0">
              <a:buNone/>
            </a:pPr>
            <a:r>
              <a:rPr lang="en-US" sz="1500" dirty="0">
                <a:solidFill>
                  <a:schemeClr val="bg2"/>
                </a:solidFill>
              </a:rPr>
              <a:t>The Office: the key floats and glows on the desk</a:t>
            </a:r>
            <a:endParaRPr lang="en-US" sz="1500" dirty="0"/>
          </a:p>
        </p:txBody>
      </p:sp>
      <p:sp>
        <p:nvSpPr>
          <p:cNvPr id="10" name="beat number 4"/>
          <p:cNvSpPr txBox="1"/>
          <p:nvPr/>
        </p:nvSpPr>
        <p:spPr>
          <a:xfrm>
            <a:off x="6080760" y="2670048"/>
            <a:ext cx="347472" cy="347472"/>
          </a:xfrm>
          <a:prstGeom prst="ellipse">
            <a:avLst/>
          </a:prstGeom>
          <a:solidFill>
            <a:schemeClr val="accent3"/>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11" name="beat 4"/>
          <p:cNvSpPr txBox="1"/>
          <p:nvPr/>
        </p:nvSpPr>
        <p:spPr>
          <a:xfrm>
            <a:off x="6583680" y="2651760"/>
            <a:ext cx="5166360" cy="466344"/>
          </a:xfrm>
          <a:prstGeom prst="rect">
            <a:avLst/>
          </a:prstGeom>
          <a:noFill/>
          <a:ln/>
        </p:spPr>
        <p:txBody>
          <a:bodyPr wrap="square" lIns="0" tIns="0" rIns="0" bIns="0" rtlCol="0" anchor="t"/>
          <a:lstStyle/>
          <a:p>
            <a:pPr indent="0" marL="0">
              <a:buNone/>
            </a:pPr>
            <a:r>
              <a:rPr lang="en-US" sz="1500" dirty="0">
                <a:solidFill>
                  <a:schemeClr val="bg2"/>
                </a:solidFill>
              </a:rPr>
              <a:t>Key slot [E]: the key turns, the lamp goes red → green</a:t>
            </a:r>
            <a:endParaRPr lang="en-US" sz="1500" dirty="0"/>
          </a:p>
        </p:txBody>
      </p:sp>
      <p:sp>
        <p:nvSpPr>
          <p:cNvPr id="12" name="beat number 5"/>
          <p:cNvSpPr txBox="1"/>
          <p:nvPr/>
        </p:nvSpPr>
        <p:spPr>
          <a:xfrm>
            <a:off x="6080760" y="3172968"/>
            <a:ext cx="347472" cy="347472"/>
          </a:xfrm>
          <a:prstGeom prst="ellipse">
            <a:avLst/>
          </a:prstGeom>
          <a:solidFill>
            <a:schemeClr val="accent3"/>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13" name="beat 5"/>
          <p:cNvSpPr txBox="1"/>
          <p:nvPr/>
        </p:nvSpPr>
        <p:spPr>
          <a:xfrm>
            <a:off x="6583680" y="3154680"/>
            <a:ext cx="5166360" cy="466344"/>
          </a:xfrm>
          <a:prstGeom prst="rect">
            <a:avLst/>
          </a:prstGeom>
          <a:noFill/>
          <a:ln/>
        </p:spPr>
        <p:txBody>
          <a:bodyPr wrap="square" lIns="0" tIns="0" rIns="0" bIns="0" rtlCol="0" anchor="t"/>
          <a:lstStyle/>
          <a:p>
            <a:pPr indent="0" marL="0">
              <a:buNone/>
            </a:pPr>
            <a:r>
              <a:rPr lang="en-US" sz="1500" dirty="0">
                <a:solidFill>
                  <a:schemeClr val="bg2"/>
                </a:solidFill>
              </a:rPr>
              <a:t>Key in and the floor clear: the stairwell gate rolls up</a:t>
            </a:r>
            <a:endParaRPr lang="en-US" sz="1500" dirty="0"/>
          </a:p>
        </p:txBody>
      </p:sp>
      <p:pic>
        <p:nvPicPr>
          <p:cNvPr id="14" name="level 2 screenshot" descr="C:\Users\at488\AppData\Local\Temp\claude\C--Users-at488-OneDrive---Hochschule-Luzern-Desktop-Level-World-Design-\cc816706-66e7-4f21-b274-83f61f88f670\scratchpad\deck\screenshots\tower_3_level2.png">    </p:cNvPr>
          <p:cNvPicPr>
            <a:picLocks noChangeAspect="1"/>
          </p:cNvPicPr>
          <p:nvPr/>
        </p:nvPicPr>
        <p:blipFill>
          <a:blip r:embed="rId2"/>
          <a:stretch>
            <a:fillRect/>
          </a:stretch>
        </p:blipFill>
        <p:spPr>
          <a:xfrm>
            <a:off x="6080760" y="3840480"/>
            <a:ext cx="3611880" cy="2029968"/>
          </a:xfrm>
          <a:prstGeom prst="rect">
            <a:avLst/>
          </a:prstGeom>
        </p:spPr>
      </p:pic>
      <p:sp>
        <p:nvSpPr>
          <p:cNvPr id="15" name="Text 11"/>
          <p:cNvSpPr txBox="1"/>
          <p:nvPr/>
        </p:nvSpPr>
        <p:spPr>
          <a:xfrm>
            <a:off x="6080760" y="5943600"/>
            <a:ext cx="3611880" cy="274320"/>
          </a:xfrm>
          <a:prstGeom prst="rect">
            <a:avLst/>
          </a:prstGeom>
          <a:noFill/>
          <a:ln/>
        </p:spPr>
        <p:txBody>
          <a:bodyPr wrap="square" lIns="0" tIns="0" rIns="0" bIns="0" rtlCol="0" anchor="ctr"/>
          <a:lstStyle/>
          <a:p>
            <a:pPr indent="0" marL="0">
              <a:buNone/>
            </a:pPr>
            <a:r>
              <a:rPr lang="en-US" sz="1100" i="1" dirty="0">
                <a:solidFill>
                  <a:schemeClr val="accent5"/>
                </a:solidFill>
              </a:rPr>
              <a:t>The stairwell gate and its key slot, seen from the hall</a:t>
            </a:r>
            <a:endParaRPr lang="en-US" sz="1100" dirty="0"/>
          </a:p>
        </p:txBody>
      </p:sp>
      <p:sp>
        <p:nvSpPr>
          <p:cNvPr id="16" name="Text 12"/>
          <p:cNvSpPr txBox="1"/>
          <p:nvPr/>
        </p:nvSpPr>
        <p:spPr>
          <a:xfrm>
            <a:off x="10012680" y="3840480"/>
            <a:ext cx="1920240" cy="274320"/>
          </a:xfrm>
          <a:prstGeom prst="rect">
            <a:avLst/>
          </a:prstGeom>
          <a:noFill/>
          <a:ln/>
        </p:spPr>
        <p:txBody>
          <a:bodyPr wrap="square" lIns="0" tIns="0" rIns="0" bIns="0" rtlCol="0" anchor="ctr"/>
          <a:lstStyle/>
          <a:p>
            <a:pPr indent="0" marL="0">
              <a:buNone/>
            </a:pPr>
            <a:r>
              <a:rPr lang="en-US" sz="1200" b="1" dirty="0">
                <a:solidFill>
                  <a:schemeClr val="accent5"/>
                </a:solidFill>
              </a:rPr>
              <a:t>EMOTION</a:t>
            </a:r>
            <a:endParaRPr lang="en-US" sz="1200" dirty="0"/>
          </a:p>
        </p:txBody>
      </p:sp>
      <p:sp>
        <p:nvSpPr>
          <p:cNvPr id="17" name="pill Pressure"/>
          <p:cNvSpPr txBox="1"/>
          <p:nvPr/>
        </p:nvSpPr>
        <p:spPr>
          <a:xfrm>
            <a:off x="10012680" y="4160520"/>
            <a:ext cx="1463040"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dirty="0">
                <a:solidFill>
                  <a:schemeClr val="bg1"/>
                </a:solidFill>
              </a:rPr>
              <a:t>PRESSURE</a:t>
            </a:r>
            <a:endParaRPr lang="en-US" sz="1200" dirty="0"/>
          </a:p>
        </p:txBody>
      </p:sp>
      <p:sp>
        <p:nvSpPr>
          <p:cNvPr id="18" name="pill Reward"/>
          <p:cNvSpPr txBox="1"/>
          <p:nvPr/>
        </p:nvSpPr>
        <p:spPr>
          <a:xfrm>
            <a:off x="10012680" y="4572000"/>
            <a:ext cx="1463040" cy="310896"/>
          </a:xfrm>
          <a:prstGeom prst="roundRect">
            <a:avLst>
              <a:gd name="adj" fmla="val 50000"/>
            </a:avLst>
          </a:prstGeom>
          <a:solidFill>
            <a:schemeClr val="accent1"/>
          </a:solidFill>
          <a:ln/>
        </p:spPr>
        <p:txBody>
          <a:bodyPr wrap="square" lIns="0" tIns="0" rIns="0" bIns="0" rtlCol="0" anchor="ctr"/>
          <a:lstStyle/>
          <a:p>
            <a:pPr algn="ctr" indent="0" marL="0">
              <a:buNone/>
            </a:pPr>
            <a:r>
              <a:rPr lang="en-US" sz="1200" b="1" dirty="0">
                <a:solidFill>
                  <a:schemeClr val="tx1"/>
                </a:solidFill>
              </a:rPr>
              <a:t>REWARD</a:t>
            </a:r>
            <a:endParaRPr lang="en-US" sz="1200" dirty="0"/>
          </a:p>
        </p:txBody>
      </p:sp>
      <p:sp>
        <p:nvSpPr>
          <p:cNvPr id="19" name="pill Purpose"/>
          <p:cNvSpPr txBox="1"/>
          <p:nvPr/>
        </p:nvSpPr>
        <p:spPr>
          <a:xfrm>
            <a:off x="10012680" y="4983480"/>
            <a:ext cx="1463040" cy="310896"/>
          </a:xfrm>
          <a:prstGeom prst="roundRect">
            <a:avLst>
              <a:gd name="adj" fmla="val 50000"/>
            </a:avLst>
          </a:prstGeom>
          <a:solidFill>
            <a:schemeClr val="accent1"/>
          </a:solidFill>
          <a:ln/>
        </p:spPr>
        <p:txBody>
          <a:bodyPr wrap="square" lIns="0" tIns="0" rIns="0" bIns="0" rtlCol="0" anchor="ctr"/>
          <a:lstStyle/>
          <a:p>
            <a:pPr algn="ctr" indent="0" marL="0">
              <a:buNone/>
            </a:pPr>
            <a:r>
              <a:rPr lang="en-US" sz="1200" b="1" dirty="0">
                <a:solidFill>
                  <a:schemeClr val="tx1"/>
                </a:solidFill>
              </a:rPr>
              <a:t>PURPOSE</a:t>
            </a:r>
            <a:endParaRPr lang="en-US" sz="1200" dirty="0"/>
          </a:p>
        </p:txBody>
      </p:sp>
      <p:sp>
        <p:nvSpPr>
          <p:cNvPr id="20" name="pill Relief"/>
          <p:cNvSpPr txBox="1"/>
          <p:nvPr/>
        </p:nvSpPr>
        <p:spPr>
          <a:xfrm>
            <a:off x="10012680" y="5394960"/>
            <a:ext cx="1463040" cy="310896"/>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tx1"/>
                </a:solidFill>
              </a:rPr>
              <a:t>RELIEF</a:t>
            </a:r>
            <a:endParaRPr lang="en-US" sz="1200" dirty="0"/>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640080"/>
          </a:xfrm>
          <a:prstGeom prst="rect">
            <a:avLst/>
          </a:prstGeom>
          <a:noFill/>
          <a:ln/>
        </p:spPr>
        <p:txBody>
          <a:bodyPr wrap="square" lIns="0" tIns="0" rIns="0" bIns="0" rtlCol="0" anchor="ctr"/>
          <a:lstStyle/>
          <a:p>
            <a:pPr algn="l" indent="0" marL="0">
              <a:buNone/>
            </a:pPr>
            <a:r>
              <a:rPr lang="en-US" sz="3200" dirty="0">
                <a:solidFill>
                  <a:schemeClr val="bg1"/>
                </a:solidFill>
              </a:rPr>
              <a:t>Level 3 and the helipad · Awe, dread, climax</a:t>
            </a:r>
            <a:endParaRPr lang="en-US" sz="3200" dirty="0"/>
          </a:p>
        </p:txBody>
      </p:sp>
      <p:pic>
        <p:nvPicPr>
          <p:cNvPr id="3" name="map level 3 and finale" descr="C:\Users\at488\AppData\Local\Temp\claude\C--Users-at488-OneDrive---Hochschule-Luzern-Desktop-Level-World-Design-\cc816706-66e7-4f21-b274-83f61f88f670\scratchpad\deck\maps\map_L3_destroyed_floor_and_helipad_slide.png">    </p:cNvPr>
          <p:cNvPicPr>
            <a:picLocks noChangeAspect="1"/>
          </p:cNvPicPr>
          <p:nvPr/>
        </p:nvPicPr>
        <p:blipFill>
          <a:blip r:embed="rId1"/>
          <a:stretch>
            <a:fillRect/>
          </a:stretch>
        </p:blipFill>
        <p:spPr>
          <a:xfrm>
            <a:off x="457200" y="1188720"/>
            <a:ext cx="6995160" cy="4901184"/>
          </a:xfrm>
          <a:prstGeom prst="rect">
            <a:avLst/>
          </a:prstGeom>
        </p:spPr>
      </p:pic>
      <p:sp>
        <p:nvSpPr>
          <p:cNvPr id="4" name="beat number 1"/>
          <p:cNvSpPr txBox="1"/>
          <p:nvPr/>
        </p:nvSpPr>
        <p:spPr>
          <a:xfrm>
            <a:off x="7772400" y="1161288"/>
            <a:ext cx="347472" cy="347472"/>
          </a:xfrm>
          <a:prstGeom prst="ellipse">
            <a:avLst/>
          </a:prstGeom>
          <a:solidFill>
            <a:schemeClr val="accent4"/>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5" name="beat 1"/>
          <p:cNvSpPr txBox="1"/>
          <p:nvPr/>
        </p:nvSpPr>
        <p:spPr>
          <a:xfrm>
            <a:off x="8275320" y="1143000"/>
            <a:ext cx="3474720" cy="566928"/>
          </a:xfrm>
          <a:prstGeom prst="rect">
            <a:avLst/>
          </a:prstGeom>
          <a:noFill/>
          <a:ln/>
        </p:spPr>
        <p:txBody>
          <a:bodyPr wrap="square" lIns="0" tIns="0" rIns="0" bIns="0" rtlCol="0" anchor="t"/>
          <a:lstStyle/>
          <a:p>
            <a:pPr indent="0" marL="0">
              <a:buNone/>
            </a:pPr>
            <a:r>
              <a:rPr lang="en-US" sz="1400" dirty="0">
                <a:solidFill>
                  <a:schemeClr val="bg2"/>
                </a:solidFill>
              </a:rPr>
              <a:t>Arrival: daylight through the blown-out floor</a:t>
            </a:r>
            <a:endParaRPr lang="en-US" sz="1400" dirty="0"/>
          </a:p>
        </p:txBody>
      </p:sp>
      <p:sp>
        <p:nvSpPr>
          <p:cNvPr id="6" name="beat number 2"/>
          <p:cNvSpPr txBox="1"/>
          <p:nvPr/>
        </p:nvSpPr>
        <p:spPr>
          <a:xfrm>
            <a:off x="7772400" y="1764792"/>
            <a:ext cx="347472" cy="34747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7" name="beat 2"/>
          <p:cNvSpPr txBox="1"/>
          <p:nvPr/>
        </p:nvSpPr>
        <p:spPr>
          <a:xfrm>
            <a:off x="8275320" y="1746504"/>
            <a:ext cx="3474720" cy="566928"/>
          </a:xfrm>
          <a:prstGeom prst="rect">
            <a:avLst/>
          </a:prstGeom>
          <a:noFill/>
          <a:ln/>
        </p:spPr>
        <p:txBody>
          <a:bodyPr wrap="square" lIns="0" tIns="0" rIns="0" bIns="0" rtlCol="0" anchor="t"/>
          <a:lstStyle/>
          <a:p>
            <a:pPr indent="0" marL="0">
              <a:buNone/>
            </a:pPr>
            <a:r>
              <a:rPr lang="en-US" sz="1400" dirty="0">
                <a:solidFill>
                  <a:schemeClr val="bg2"/>
                </a:solidFill>
              </a:rPr>
              <a:t>Clear the barracks and comms</a:t>
            </a:r>
            <a:endParaRPr lang="en-US" sz="1400" dirty="0"/>
          </a:p>
        </p:txBody>
      </p:sp>
      <p:sp>
        <p:nvSpPr>
          <p:cNvPr id="8" name="beat number 3"/>
          <p:cNvSpPr txBox="1"/>
          <p:nvPr/>
        </p:nvSpPr>
        <p:spPr>
          <a:xfrm>
            <a:off x="7772400" y="2368296"/>
            <a:ext cx="347472" cy="347472"/>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9" name="beat 3"/>
          <p:cNvSpPr txBox="1"/>
          <p:nvPr/>
        </p:nvSpPr>
        <p:spPr>
          <a:xfrm>
            <a:off x="8275320" y="2350008"/>
            <a:ext cx="3474720" cy="566928"/>
          </a:xfrm>
          <a:prstGeom prst="rect">
            <a:avLst/>
          </a:prstGeom>
          <a:noFill/>
          <a:ln/>
        </p:spPr>
        <p:txBody>
          <a:bodyPr wrap="square" lIns="0" tIns="0" rIns="0" bIns="0" rtlCol="0" anchor="t"/>
          <a:lstStyle/>
          <a:p>
            <a:pPr indent="0" marL="0">
              <a:buNone/>
            </a:pPr>
            <a:r>
              <a:rPr lang="en-US" sz="1400" dirty="0">
                <a:solidFill>
                  <a:schemeClr val="bg2"/>
                </a:solidFill>
              </a:rPr>
              <a:t>The robot room opens; only the rifle hurts the robot</a:t>
            </a:r>
            <a:endParaRPr lang="en-US" sz="1400" dirty="0"/>
          </a:p>
        </p:txBody>
      </p:sp>
      <p:sp>
        <p:nvSpPr>
          <p:cNvPr id="10" name="beat number 4"/>
          <p:cNvSpPr txBox="1"/>
          <p:nvPr/>
        </p:nvSpPr>
        <p:spPr>
          <a:xfrm>
            <a:off x="7772400" y="2971800"/>
            <a:ext cx="347472" cy="347472"/>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1" name="beat 4"/>
          <p:cNvSpPr txBox="1"/>
          <p:nvPr/>
        </p:nvSpPr>
        <p:spPr>
          <a:xfrm>
            <a:off x="8275320" y="2953512"/>
            <a:ext cx="3474720" cy="566928"/>
          </a:xfrm>
          <a:prstGeom prst="rect">
            <a:avLst/>
          </a:prstGeom>
          <a:noFill/>
          <a:ln/>
        </p:spPr>
        <p:txBody>
          <a:bodyPr wrap="square" lIns="0" tIns="0" rIns="0" bIns="0" rtlCol="0" anchor="t"/>
          <a:lstStyle/>
          <a:p>
            <a:pPr indent="0" marL="0">
              <a:buNone/>
            </a:pPr>
            <a:r>
              <a:rPr lang="en-US" sz="1400" dirty="0">
                <a:solidFill>
                  <a:schemeClr val="bg2"/>
                </a:solidFill>
              </a:rPr>
              <a:t>Through the breach: two patrols on the broken slab</a:t>
            </a:r>
            <a:endParaRPr lang="en-US" sz="1400" dirty="0"/>
          </a:p>
        </p:txBody>
      </p:sp>
      <p:sp>
        <p:nvSpPr>
          <p:cNvPr id="12" name="beat number 5"/>
          <p:cNvSpPr txBox="1"/>
          <p:nvPr/>
        </p:nvSpPr>
        <p:spPr>
          <a:xfrm>
            <a:off x="7772400" y="3575304"/>
            <a:ext cx="347472" cy="34747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13" name="beat 5"/>
          <p:cNvSpPr txBox="1"/>
          <p:nvPr/>
        </p:nvSpPr>
        <p:spPr>
          <a:xfrm>
            <a:off x="8275320" y="3557016"/>
            <a:ext cx="3474720" cy="566928"/>
          </a:xfrm>
          <a:prstGeom prst="rect">
            <a:avLst/>
          </a:prstGeom>
          <a:noFill/>
          <a:ln/>
        </p:spPr>
        <p:txBody>
          <a:bodyPr wrap="square" lIns="0" tIns="0" rIns="0" bIns="0" rtlCol="0" anchor="t"/>
          <a:lstStyle/>
          <a:p>
            <a:pPr indent="0" marL="0">
              <a:buNone/>
            </a:pPr>
            <a:r>
              <a:rPr lang="en-US" sz="1400" dirty="0">
                <a:solidFill>
                  <a:schemeClr val="bg2"/>
                </a:solidFill>
              </a:rPr>
              <a:t>Both patrols dead: the SE room opens</a:t>
            </a:r>
            <a:endParaRPr lang="en-US" sz="1400" dirty="0"/>
          </a:p>
        </p:txBody>
      </p:sp>
      <p:sp>
        <p:nvSpPr>
          <p:cNvPr id="14" name="beat number 6"/>
          <p:cNvSpPr txBox="1"/>
          <p:nvPr/>
        </p:nvSpPr>
        <p:spPr>
          <a:xfrm>
            <a:off x="7772400" y="4178808"/>
            <a:ext cx="347472" cy="34747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15" name="beat 6"/>
          <p:cNvSpPr txBox="1"/>
          <p:nvPr/>
        </p:nvSpPr>
        <p:spPr>
          <a:xfrm>
            <a:off x="8275320" y="4160520"/>
            <a:ext cx="3474720" cy="566928"/>
          </a:xfrm>
          <a:prstGeom prst="rect">
            <a:avLst/>
          </a:prstGeom>
          <a:noFill/>
          <a:ln/>
        </p:spPr>
        <p:txBody>
          <a:bodyPr wrap="square" lIns="0" tIns="0" rIns="0" bIns="0" rtlCol="0" anchor="t"/>
          <a:lstStyle/>
          <a:p>
            <a:pPr indent="0" marL="0">
              <a:buNone/>
            </a:pPr>
            <a:r>
              <a:rPr lang="en-US" sz="1400" dirty="0">
                <a:solidFill>
                  <a:schemeClr val="bg2"/>
                </a:solidFill>
              </a:rPr>
              <a:t>Exit to the outside stairs</a:t>
            </a:r>
            <a:endParaRPr lang="en-US" sz="1400" dirty="0"/>
          </a:p>
        </p:txBody>
      </p:sp>
      <p:sp>
        <p:nvSpPr>
          <p:cNvPr id="16" name="beat number 7"/>
          <p:cNvSpPr txBox="1"/>
          <p:nvPr/>
        </p:nvSpPr>
        <p:spPr>
          <a:xfrm>
            <a:off x="7772400" y="4782312"/>
            <a:ext cx="347472" cy="347472"/>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17" name="beat 7"/>
          <p:cNvSpPr txBox="1"/>
          <p:nvPr/>
        </p:nvSpPr>
        <p:spPr>
          <a:xfrm>
            <a:off x="8275320" y="4764024"/>
            <a:ext cx="3474720" cy="566928"/>
          </a:xfrm>
          <a:prstGeom prst="rect">
            <a:avLst/>
          </a:prstGeom>
          <a:noFill/>
          <a:ln/>
        </p:spPr>
        <p:txBody>
          <a:bodyPr wrap="square" lIns="0" tIns="0" rIns="0" bIns="0" rtlCol="0" anchor="t"/>
          <a:lstStyle/>
          <a:p>
            <a:pPr indent="0" marL="0">
              <a:buNone/>
            </a:pPr>
            <a:r>
              <a:rPr lang="en-US" sz="1400" dirty="0">
                <a:solidFill>
                  <a:schemeClr val="bg2"/>
                </a:solidFill>
              </a:rPr>
              <a:t>Helipad: the boss, then the helicopter</a:t>
            </a:r>
            <a:endParaRPr lang="en-US" sz="1400" dirty="0"/>
          </a:p>
        </p:txBody>
      </p:sp>
      <p:sp>
        <p:nvSpPr>
          <p:cNvPr id="18" name="pill Awe"/>
          <p:cNvSpPr txBox="1"/>
          <p:nvPr/>
        </p:nvSpPr>
        <p:spPr>
          <a:xfrm>
            <a:off x="7772400" y="5669280"/>
            <a:ext cx="516636" cy="310896"/>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tx1"/>
                </a:solidFill>
              </a:rPr>
              <a:t>AWE</a:t>
            </a:r>
            <a:endParaRPr lang="en-US" sz="1200" dirty="0"/>
          </a:p>
        </p:txBody>
      </p:sp>
      <p:sp>
        <p:nvSpPr>
          <p:cNvPr id="19" name="Text 16"/>
          <p:cNvSpPr txBox="1"/>
          <p:nvPr/>
        </p:nvSpPr>
        <p:spPr>
          <a:xfrm>
            <a:off x="8343900" y="5669280"/>
            <a:ext cx="201168" cy="310896"/>
          </a:xfrm>
          <a:prstGeom prst="rect">
            <a:avLst/>
          </a:prstGeom>
          <a:noFill/>
          <a:ln/>
        </p:spPr>
        <p:txBody>
          <a:bodyPr wrap="square" lIns="0" tIns="0" rIns="0" bIns="0" rtlCol="0" anchor="ctr"/>
          <a:lstStyle/>
          <a:p>
            <a:pPr algn="ctr" indent="0" marL="0">
              <a:buNone/>
            </a:pPr>
            <a:r>
              <a:rPr lang="en-US" sz="1400" dirty="0">
                <a:solidFill>
                  <a:schemeClr val="accent5"/>
                </a:solidFill>
              </a:rPr>
              <a:t>→</a:t>
            </a:r>
            <a:endParaRPr lang="en-US" sz="1400" dirty="0"/>
          </a:p>
        </p:txBody>
      </p:sp>
      <p:sp>
        <p:nvSpPr>
          <p:cNvPr id="20" name="pill Dread"/>
          <p:cNvSpPr txBox="1"/>
          <p:nvPr/>
        </p:nvSpPr>
        <p:spPr>
          <a:xfrm>
            <a:off x="8599932" y="5669280"/>
            <a:ext cx="726948"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dirty="0">
                <a:solidFill>
                  <a:schemeClr val="bg1"/>
                </a:solidFill>
              </a:rPr>
              <a:t>DREAD</a:t>
            </a:r>
            <a:endParaRPr lang="en-US" sz="1200" dirty="0"/>
          </a:p>
        </p:txBody>
      </p:sp>
      <p:sp>
        <p:nvSpPr>
          <p:cNvPr id="21" name="Text 18"/>
          <p:cNvSpPr txBox="1"/>
          <p:nvPr/>
        </p:nvSpPr>
        <p:spPr>
          <a:xfrm>
            <a:off x="9381744" y="5669280"/>
            <a:ext cx="201168" cy="310896"/>
          </a:xfrm>
          <a:prstGeom prst="rect">
            <a:avLst/>
          </a:prstGeom>
          <a:noFill/>
          <a:ln/>
        </p:spPr>
        <p:txBody>
          <a:bodyPr wrap="square" lIns="0" tIns="0" rIns="0" bIns="0" rtlCol="0" anchor="ctr"/>
          <a:lstStyle/>
          <a:p>
            <a:pPr algn="ctr" indent="0" marL="0">
              <a:buNone/>
            </a:pPr>
            <a:r>
              <a:rPr lang="en-US" sz="1400" dirty="0">
                <a:solidFill>
                  <a:schemeClr val="accent5"/>
                </a:solidFill>
              </a:rPr>
              <a:t>→</a:t>
            </a:r>
            <a:endParaRPr lang="en-US" sz="1400" dirty="0"/>
          </a:p>
        </p:txBody>
      </p:sp>
      <p:sp>
        <p:nvSpPr>
          <p:cNvPr id="22" name="pill Climax"/>
          <p:cNvSpPr txBox="1"/>
          <p:nvPr/>
        </p:nvSpPr>
        <p:spPr>
          <a:xfrm>
            <a:off x="9637776" y="5669280"/>
            <a:ext cx="832104"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dirty="0">
                <a:solidFill>
                  <a:schemeClr val="bg1"/>
                </a:solidFill>
              </a:rPr>
              <a:t>CLIMAX</a:t>
            </a:r>
            <a:endParaRPr lang="en-US" sz="1200" dirty="0"/>
          </a:p>
        </p:txBody>
      </p:sp>
      <p:sp>
        <p:nvSpPr>
          <p:cNvPr id="23" name="Text 20"/>
          <p:cNvSpPr txBox="1"/>
          <p:nvPr/>
        </p:nvSpPr>
        <p:spPr>
          <a:xfrm>
            <a:off x="10524744" y="5669280"/>
            <a:ext cx="201168" cy="310896"/>
          </a:xfrm>
          <a:prstGeom prst="rect">
            <a:avLst/>
          </a:prstGeom>
          <a:noFill/>
          <a:ln/>
        </p:spPr>
        <p:txBody>
          <a:bodyPr wrap="square" lIns="0" tIns="0" rIns="0" bIns="0" rtlCol="0" anchor="ctr"/>
          <a:lstStyle/>
          <a:p>
            <a:pPr algn="ctr" indent="0" marL="0">
              <a:buNone/>
            </a:pPr>
            <a:r>
              <a:rPr lang="en-US" sz="1400" dirty="0">
                <a:solidFill>
                  <a:schemeClr val="accent5"/>
                </a:solidFill>
              </a:rPr>
              <a:t>→</a:t>
            </a:r>
            <a:endParaRPr lang="en-US" sz="1400" dirty="0"/>
          </a:p>
        </p:txBody>
      </p:sp>
      <p:sp>
        <p:nvSpPr>
          <p:cNvPr id="24" name="pill Release"/>
          <p:cNvSpPr txBox="1"/>
          <p:nvPr/>
        </p:nvSpPr>
        <p:spPr>
          <a:xfrm>
            <a:off x="10780776" y="5669280"/>
            <a:ext cx="937260" cy="310896"/>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tx1"/>
                </a:solidFill>
              </a:rPr>
              <a:t>RELEASE</a:t>
            </a:r>
            <a:endParaRPr lang="en-US" sz="1200" dirty="0"/>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640080"/>
          </a:xfrm>
          <a:prstGeom prst="rect">
            <a:avLst/>
          </a:prstGeom>
          <a:noFill/>
          <a:ln/>
        </p:spPr>
        <p:txBody>
          <a:bodyPr wrap="square" lIns="0" tIns="0" rIns="0" bIns="0" rtlCol="0" anchor="ctr"/>
          <a:lstStyle/>
          <a:p>
            <a:pPr algn="l" indent="0" marL="0">
              <a:buNone/>
            </a:pPr>
            <a:r>
              <a:rPr lang="en-US" sz="3200" dirty="0">
                <a:solidFill>
                  <a:schemeClr val="bg1"/>
                </a:solidFill>
              </a:rPr>
              <a:t>The emotion curve</a:t>
            </a:r>
            <a:endParaRPr lang="en-US" sz="3200" dirty="0"/>
          </a:p>
        </p:txBody>
      </p:sp>
      <p:graphicFrame>
        <p:nvGraphicFramePr>
          <p:cNvPr id="3" name="emotion curve chart" descr=""/>
          <p:cNvGraphicFramePr/>
          <p:nvPr/>
        </p:nvGraphicFramePr>
        <p:xfrm>
          <a:off x="457200" y="1051560"/>
          <a:ext cx="11274552" cy="4480560"/>
        </p:xfrm>
        <a:graphic xmlns:a="http://schemas.openxmlformats.org/drawingml/2006/main">
          <a:graphicData uri="http://schemas.openxmlformats.org/drawingml/2006/chart">
            <c:chart xmlns:c="http://schemas.openxmlformats.org/drawingml/2006/chart" r:id="rId1"/>
          </a:graphicData>
        </a:graphic>
      </p:graphicFrame>
      <p:sp>
        <p:nvSpPr>
          <p:cNvPr id="4" name="bracket Level 1"/>
          <p:cNvSpPr/>
          <p:nvPr/>
        </p:nvSpPr>
        <p:spPr>
          <a:xfrm>
            <a:off x="1075792" y="5623560"/>
            <a:ext cx="3703120" cy="54864"/>
          </a:xfrm>
          <a:prstGeom prst="rect">
            <a:avLst/>
          </a:prstGeom>
          <a:solidFill>
            <a:schemeClr val="accent1"/>
          </a:solidFill>
          <a:ln w="12700">
            <a:solidFill>
              <a:schemeClr val="accent1"/>
            </a:solidFill>
            <a:prstDash val="solid"/>
          </a:ln>
        </p:spPr>
      </p:sp>
      <p:sp>
        <p:nvSpPr>
          <p:cNvPr id="5" name="Text 2"/>
          <p:cNvSpPr txBox="1"/>
          <p:nvPr/>
        </p:nvSpPr>
        <p:spPr>
          <a:xfrm>
            <a:off x="1075792" y="5733288"/>
            <a:ext cx="3703120" cy="292608"/>
          </a:xfrm>
          <a:prstGeom prst="rect">
            <a:avLst/>
          </a:prstGeom>
          <a:noFill/>
          <a:ln/>
        </p:spPr>
        <p:txBody>
          <a:bodyPr wrap="square" lIns="0" tIns="0" rIns="0" bIns="0" rtlCol="0" anchor="ctr"/>
          <a:lstStyle/>
          <a:p>
            <a:pPr algn="ctr" indent="0" marL="0">
              <a:buNone/>
            </a:pPr>
            <a:r>
              <a:rPr lang="en-US" sz="1300" b="1" dirty="0">
                <a:solidFill>
                  <a:schemeClr val="bg2"/>
                </a:solidFill>
              </a:rPr>
              <a:t>Level 1</a:t>
            </a:r>
            <a:endParaRPr lang="en-US" sz="1300" dirty="0"/>
          </a:p>
        </p:txBody>
      </p:sp>
      <p:sp>
        <p:nvSpPr>
          <p:cNvPr id="6" name="bracket Level 2"/>
          <p:cNvSpPr/>
          <p:nvPr/>
        </p:nvSpPr>
        <p:spPr>
          <a:xfrm>
            <a:off x="4888640" y="5623560"/>
            <a:ext cx="2749908" cy="54864"/>
          </a:xfrm>
          <a:prstGeom prst="rect">
            <a:avLst/>
          </a:prstGeom>
          <a:solidFill>
            <a:schemeClr val="accent1"/>
          </a:solidFill>
          <a:ln w="12700">
            <a:solidFill>
              <a:schemeClr val="accent1"/>
            </a:solidFill>
            <a:prstDash val="solid"/>
          </a:ln>
        </p:spPr>
      </p:sp>
      <p:sp>
        <p:nvSpPr>
          <p:cNvPr id="7" name="Text 4"/>
          <p:cNvSpPr txBox="1"/>
          <p:nvPr/>
        </p:nvSpPr>
        <p:spPr>
          <a:xfrm>
            <a:off x="4888640" y="5733288"/>
            <a:ext cx="2749908" cy="292608"/>
          </a:xfrm>
          <a:prstGeom prst="rect">
            <a:avLst/>
          </a:prstGeom>
          <a:noFill/>
          <a:ln/>
        </p:spPr>
        <p:txBody>
          <a:bodyPr wrap="square" lIns="0" tIns="0" rIns="0" bIns="0" rtlCol="0" anchor="ctr"/>
          <a:lstStyle/>
          <a:p>
            <a:pPr algn="ctr" indent="0" marL="0">
              <a:buNone/>
            </a:pPr>
            <a:r>
              <a:rPr lang="en-US" sz="1300" b="1" dirty="0">
                <a:solidFill>
                  <a:schemeClr val="bg2"/>
                </a:solidFill>
              </a:rPr>
              <a:t>Level 2</a:t>
            </a:r>
            <a:endParaRPr lang="en-US" sz="1300" dirty="0"/>
          </a:p>
        </p:txBody>
      </p:sp>
      <p:sp>
        <p:nvSpPr>
          <p:cNvPr id="8" name="bracket Level 3"/>
          <p:cNvSpPr/>
          <p:nvPr/>
        </p:nvSpPr>
        <p:spPr>
          <a:xfrm>
            <a:off x="7748276" y="5623560"/>
            <a:ext cx="1796696" cy="54864"/>
          </a:xfrm>
          <a:prstGeom prst="rect">
            <a:avLst/>
          </a:prstGeom>
          <a:solidFill>
            <a:schemeClr val="accent1"/>
          </a:solidFill>
          <a:ln w="12700">
            <a:solidFill>
              <a:schemeClr val="accent1"/>
            </a:solidFill>
            <a:prstDash val="solid"/>
          </a:ln>
        </p:spPr>
      </p:sp>
      <p:sp>
        <p:nvSpPr>
          <p:cNvPr id="9" name="Text 6"/>
          <p:cNvSpPr txBox="1"/>
          <p:nvPr/>
        </p:nvSpPr>
        <p:spPr>
          <a:xfrm>
            <a:off x="7748276" y="5733288"/>
            <a:ext cx="1796696" cy="292608"/>
          </a:xfrm>
          <a:prstGeom prst="rect">
            <a:avLst/>
          </a:prstGeom>
          <a:noFill/>
          <a:ln/>
        </p:spPr>
        <p:txBody>
          <a:bodyPr wrap="square" lIns="0" tIns="0" rIns="0" bIns="0" rtlCol="0" anchor="ctr"/>
          <a:lstStyle/>
          <a:p>
            <a:pPr algn="ctr" indent="0" marL="0">
              <a:buNone/>
            </a:pPr>
            <a:r>
              <a:rPr lang="en-US" sz="1300" b="1" dirty="0">
                <a:solidFill>
                  <a:schemeClr val="bg2"/>
                </a:solidFill>
              </a:rPr>
              <a:t>Level 3</a:t>
            </a:r>
            <a:endParaRPr lang="en-US" sz="1300" dirty="0"/>
          </a:p>
        </p:txBody>
      </p:sp>
      <p:sp>
        <p:nvSpPr>
          <p:cNvPr id="10" name="bracket Finale"/>
          <p:cNvSpPr/>
          <p:nvPr/>
        </p:nvSpPr>
        <p:spPr>
          <a:xfrm>
            <a:off x="9654701" y="5623560"/>
            <a:ext cx="1796696" cy="54864"/>
          </a:xfrm>
          <a:prstGeom prst="rect">
            <a:avLst/>
          </a:prstGeom>
          <a:solidFill>
            <a:schemeClr val="accent2"/>
          </a:solidFill>
          <a:ln w="12700">
            <a:solidFill>
              <a:schemeClr val="accent2"/>
            </a:solidFill>
            <a:prstDash val="solid"/>
          </a:ln>
        </p:spPr>
      </p:sp>
      <p:sp>
        <p:nvSpPr>
          <p:cNvPr id="11" name="Text 8"/>
          <p:cNvSpPr txBox="1"/>
          <p:nvPr/>
        </p:nvSpPr>
        <p:spPr>
          <a:xfrm>
            <a:off x="9654701" y="5733288"/>
            <a:ext cx="1796696" cy="292608"/>
          </a:xfrm>
          <a:prstGeom prst="rect">
            <a:avLst/>
          </a:prstGeom>
          <a:noFill/>
          <a:ln/>
        </p:spPr>
        <p:txBody>
          <a:bodyPr wrap="square" lIns="0" tIns="0" rIns="0" bIns="0" rtlCol="0" anchor="ctr"/>
          <a:lstStyle/>
          <a:p>
            <a:pPr algn="ctr" indent="0" marL="0">
              <a:buNone/>
            </a:pPr>
            <a:r>
              <a:rPr lang="en-US" sz="1300" b="1" dirty="0">
                <a:solidFill>
                  <a:schemeClr val="bg2"/>
                </a:solidFill>
              </a:rPr>
              <a:t>Finale</a:t>
            </a:r>
            <a:endParaRPr lang="en-US" sz="1300" dirty="0"/>
          </a:p>
        </p:txBody>
      </p:sp>
      <p:sp>
        <p:nvSpPr>
          <p:cNvPr id="12" name="Text 9"/>
          <p:cNvSpPr txBox="1"/>
          <p:nvPr/>
        </p:nvSpPr>
        <p:spPr>
          <a:xfrm>
            <a:off x="457200" y="6053328"/>
            <a:ext cx="11247120" cy="292608"/>
          </a:xfrm>
          <a:prstGeom prst="rect">
            <a:avLst/>
          </a:prstGeom>
          <a:noFill/>
          <a:ln/>
        </p:spPr>
        <p:txBody>
          <a:bodyPr wrap="square" lIns="0" tIns="0" rIns="0" bIns="0" rtlCol="0" anchor="ctr"/>
          <a:lstStyle/>
          <a:p>
            <a:pPr indent="0" marL="0">
              <a:buNone/>
            </a:pPr>
            <a:r>
              <a:rPr lang="en-US" sz="1300" dirty="0">
                <a:solidFill>
                  <a:schemeClr val="accent5"/>
                </a:solidFill>
              </a:rPr>
              <a:t>Each level rises and falls: a sudden spike at the trap, a long build on level 3, the boss as the highest peak, then the release.</a:t>
            </a:r>
            <a:endParaRPr lang="en-US" sz="1300" dirty="0"/>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640080"/>
          </a:xfrm>
          <a:prstGeom prst="rect">
            <a:avLst/>
          </a:prstGeom>
          <a:noFill/>
          <a:ln/>
        </p:spPr>
        <p:txBody>
          <a:bodyPr wrap="square" lIns="0" tIns="0" rIns="0" bIns="0" rtlCol="0" anchor="ctr"/>
          <a:lstStyle/>
          <a:p>
            <a:pPr algn="l" indent="0" marL="0">
              <a:buNone/>
            </a:pPr>
            <a:r>
              <a:rPr lang="en-US" sz="3200" dirty="0">
                <a:solidFill>
                  <a:schemeClr val="bg1"/>
                </a:solidFill>
              </a:rPr>
              <a:t>Telling the player what to do with the space</a:t>
            </a:r>
            <a:endParaRPr lang="en-US" sz="3200" dirty="0"/>
          </a:p>
        </p:txBody>
      </p:sp>
      <p:pic>
        <p:nvPicPr>
          <p:cNvPr id="3" name="entrance corridor" descr="C:\Users\at488\AppData\Local\Temp\claude\C--Users-at488-OneDrive---Hochschule-Luzern-Desktop-Level-World-Design-\cc816706-66e7-4f21-b274-83f61f88f670\scratchpad\deck\screenshots\tower_3_level1.png">    </p:cNvPr>
          <p:cNvPicPr>
            <a:picLocks noChangeAspect="1"/>
          </p:cNvPicPr>
          <p:nvPr/>
        </p:nvPicPr>
        <p:blipFill>
          <a:blip r:embed="rId1"/>
          <a:stretch>
            <a:fillRect/>
          </a:stretch>
        </p:blipFill>
        <p:spPr>
          <a:xfrm>
            <a:off x="457200" y="1097280"/>
            <a:ext cx="4846320" cy="2724912"/>
          </a:xfrm>
          <a:prstGeom prst="rect">
            <a:avLst/>
          </a:prstGeom>
        </p:spPr>
      </p:pic>
      <p:sp>
        <p:nvSpPr>
          <p:cNvPr id="4" name="Text 1"/>
          <p:cNvSpPr txBox="1"/>
          <p:nvPr/>
        </p:nvSpPr>
        <p:spPr>
          <a:xfrm>
            <a:off x="457200" y="3886200"/>
            <a:ext cx="4846320" cy="274320"/>
          </a:xfrm>
          <a:prstGeom prst="rect">
            <a:avLst/>
          </a:prstGeom>
          <a:noFill/>
          <a:ln/>
        </p:spPr>
        <p:txBody>
          <a:bodyPr wrap="square" lIns="0" tIns="0" rIns="0" bIns="0" rtlCol="0" anchor="ctr"/>
          <a:lstStyle/>
          <a:p>
            <a:pPr indent="0" marL="0">
              <a:buNone/>
            </a:pPr>
            <a:r>
              <a:rPr lang="en-US" sz="1100" i="1" dirty="0">
                <a:solidFill>
                  <a:schemeClr val="accent5"/>
                </a:solidFill>
              </a:rPr>
              <a:t>The first view inside: the corridor frames the shutter in front of the stairs.</a:t>
            </a:r>
            <a:endParaRPr lang="en-US" sz="1100" dirty="0"/>
          </a:p>
        </p:txBody>
      </p:sp>
      <p:sp>
        <p:nvSpPr>
          <p:cNvPr id="5" name="Text 2"/>
          <p:cNvSpPr txBox="1"/>
          <p:nvPr/>
        </p:nvSpPr>
        <p:spPr>
          <a:xfrm>
            <a:off x="457200" y="4389120"/>
            <a:ext cx="4846320" cy="1280160"/>
          </a:xfrm>
          <a:prstGeom prst="rect">
            <a:avLst/>
          </a:prstGeom>
          <a:noFill/>
          <a:ln/>
        </p:spPr>
        <p:txBody>
          <a:bodyPr wrap="square" lIns="0" tIns="0" rIns="0" bIns="0" rtlCol="0" anchor="t"/>
          <a:lstStyle/>
          <a:p>
            <a:pPr indent="0" marL="0">
              <a:buNone/>
            </a:pPr>
            <a:r>
              <a:rPr lang="en-US" sz="1500" b="1" dirty="0">
                <a:solidFill>
                  <a:schemeClr val="accent1"/>
                </a:solidFill>
              </a:rPr>
              <a:t>After Peter Field, “Spatial Communication in Level Design”: </a:t>
            </a:r>
            <a:pPr indent="0" marL="0">
              <a:buNone/>
            </a:pPr>
            <a:r>
              <a:rPr lang="en-US" sz="1500" dirty="0">
                <a:solidFill>
                  <a:schemeClr val="bg2"/>
                </a:solidFill>
              </a:rPr>
              <a:t>the level should explain itself through layout, light and colour before any HUD text does.</a:t>
            </a:r>
            <a:endParaRPr lang="en-US" sz="1500" dirty="0"/>
          </a:p>
        </p:txBody>
      </p:sp>
      <p:sp>
        <p:nvSpPr>
          <p:cNvPr id="6" name="card Frame the goal"/>
          <p:cNvSpPr/>
          <p:nvPr/>
        </p:nvSpPr>
        <p:spPr>
          <a:xfrm>
            <a:off x="5715000" y="1097280"/>
            <a:ext cx="2907792" cy="1591056"/>
          </a:xfrm>
          <a:prstGeom prst="rect">
            <a:avLst/>
          </a:prstGeom>
          <a:solidFill>
            <a:schemeClr val="tx2"/>
          </a:solidFill>
          <a:ln w="12700">
            <a:solidFill>
              <a:schemeClr val="tx2"/>
            </a:solidFill>
            <a:prstDash val="solid"/>
          </a:ln>
        </p:spPr>
      </p:sp>
      <p:sp>
        <p:nvSpPr>
          <p:cNvPr id="7" name="dot Frame the goal"/>
          <p:cNvSpPr/>
          <p:nvPr/>
        </p:nvSpPr>
        <p:spPr>
          <a:xfrm>
            <a:off x="5897880" y="1280160"/>
            <a:ext cx="274320" cy="274320"/>
          </a:xfrm>
          <a:prstGeom prst="ellipse">
            <a:avLst/>
          </a:prstGeom>
          <a:solidFill>
            <a:schemeClr val="accent1"/>
          </a:solidFill>
          <a:ln w="12700">
            <a:solidFill>
              <a:schemeClr val="accent1"/>
            </a:solidFill>
            <a:prstDash val="solid"/>
          </a:ln>
        </p:spPr>
      </p:sp>
      <p:sp>
        <p:nvSpPr>
          <p:cNvPr id="8" name="Text 5"/>
          <p:cNvSpPr txBox="1"/>
          <p:nvPr/>
        </p:nvSpPr>
        <p:spPr>
          <a:xfrm>
            <a:off x="6281928" y="1234440"/>
            <a:ext cx="2240280" cy="365760"/>
          </a:xfrm>
          <a:prstGeom prst="rect">
            <a:avLst/>
          </a:prstGeom>
          <a:noFill/>
          <a:ln/>
        </p:spPr>
        <p:txBody>
          <a:bodyPr wrap="square" lIns="0" tIns="0" rIns="0" bIns="0" rtlCol="0" anchor="ctr"/>
          <a:lstStyle/>
          <a:p>
            <a:pPr indent="0" marL="0">
              <a:buNone/>
            </a:pPr>
            <a:r>
              <a:rPr lang="en-US" sz="1600" dirty="0">
                <a:solidFill>
                  <a:schemeClr val="bg1"/>
                </a:solidFill>
              </a:rPr>
              <a:t>Frame the goal</a:t>
            </a:r>
            <a:endParaRPr lang="en-US" sz="1600" dirty="0"/>
          </a:p>
        </p:txBody>
      </p:sp>
      <p:sp>
        <p:nvSpPr>
          <p:cNvPr id="9" name="Text 6"/>
          <p:cNvSpPr txBox="1"/>
          <p:nvPr/>
        </p:nvSpPr>
        <p:spPr>
          <a:xfrm>
            <a:off x="5897880" y="1664208"/>
            <a:ext cx="2606040" cy="960120"/>
          </a:xfrm>
          <a:prstGeom prst="rect">
            <a:avLst/>
          </a:prstGeom>
          <a:noFill/>
          <a:ln/>
        </p:spPr>
        <p:txBody>
          <a:bodyPr wrap="square" lIns="0" tIns="0" rIns="0" bIns="0" rtlCol="0" anchor="t"/>
          <a:lstStyle/>
          <a:p>
            <a:pPr indent="0" marL="0">
              <a:buNone/>
            </a:pPr>
            <a:r>
              <a:rPr lang="en-US" sz="1300" dirty="0">
                <a:solidFill>
                  <a:schemeClr val="bg2"/>
                </a:solidFill>
              </a:rPr>
              <a:t>The entrance corridor points straight at the shutter and the stairs behind it, and that is what the trap closes.</a:t>
            </a:r>
            <a:endParaRPr lang="en-US" sz="1300" dirty="0"/>
          </a:p>
        </p:txBody>
      </p:sp>
      <p:sp>
        <p:nvSpPr>
          <p:cNvPr id="10" name="card Colour is a rule"/>
          <p:cNvSpPr/>
          <p:nvPr/>
        </p:nvSpPr>
        <p:spPr>
          <a:xfrm>
            <a:off x="8750808" y="1097280"/>
            <a:ext cx="2907792" cy="1591056"/>
          </a:xfrm>
          <a:prstGeom prst="rect">
            <a:avLst/>
          </a:prstGeom>
          <a:solidFill>
            <a:schemeClr val="tx2"/>
          </a:solidFill>
          <a:ln w="12700">
            <a:solidFill>
              <a:schemeClr val="tx2"/>
            </a:solidFill>
            <a:prstDash val="solid"/>
          </a:ln>
        </p:spPr>
      </p:sp>
      <p:sp>
        <p:nvSpPr>
          <p:cNvPr id="11" name="dot Colour is a rule"/>
          <p:cNvSpPr/>
          <p:nvPr/>
        </p:nvSpPr>
        <p:spPr>
          <a:xfrm>
            <a:off x="8933688" y="1280160"/>
            <a:ext cx="274320" cy="274320"/>
          </a:xfrm>
          <a:prstGeom prst="ellipse">
            <a:avLst/>
          </a:prstGeom>
          <a:solidFill>
            <a:schemeClr val="accent2"/>
          </a:solidFill>
          <a:ln w="12700">
            <a:solidFill>
              <a:schemeClr val="accent2"/>
            </a:solidFill>
            <a:prstDash val="solid"/>
          </a:ln>
        </p:spPr>
      </p:sp>
      <p:sp>
        <p:nvSpPr>
          <p:cNvPr id="12" name="Text 9"/>
          <p:cNvSpPr txBox="1"/>
          <p:nvPr/>
        </p:nvSpPr>
        <p:spPr>
          <a:xfrm>
            <a:off x="9317736" y="1234440"/>
            <a:ext cx="2240280" cy="365760"/>
          </a:xfrm>
          <a:prstGeom prst="rect">
            <a:avLst/>
          </a:prstGeom>
          <a:noFill/>
          <a:ln/>
        </p:spPr>
        <p:txBody>
          <a:bodyPr wrap="square" lIns="0" tIns="0" rIns="0" bIns="0" rtlCol="0" anchor="ctr"/>
          <a:lstStyle/>
          <a:p>
            <a:pPr indent="0" marL="0">
              <a:buNone/>
            </a:pPr>
            <a:r>
              <a:rPr lang="en-US" sz="1600" dirty="0">
                <a:solidFill>
                  <a:schemeClr val="bg1"/>
                </a:solidFill>
              </a:rPr>
              <a:t>Colour is a rule</a:t>
            </a:r>
            <a:endParaRPr lang="en-US" sz="1600" dirty="0"/>
          </a:p>
        </p:txBody>
      </p:sp>
      <p:sp>
        <p:nvSpPr>
          <p:cNvPr id="13" name="Text 10"/>
          <p:cNvSpPr txBox="1"/>
          <p:nvPr/>
        </p:nvSpPr>
        <p:spPr>
          <a:xfrm>
            <a:off x="8933688" y="1664208"/>
            <a:ext cx="2606040" cy="960120"/>
          </a:xfrm>
          <a:prstGeom prst="rect">
            <a:avLst/>
          </a:prstGeom>
          <a:noFill/>
          <a:ln/>
        </p:spPr>
        <p:txBody>
          <a:bodyPr wrap="square" lIns="0" tIns="0" rIns="0" bIns="0" rtlCol="0" anchor="t"/>
          <a:lstStyle/>
          <a:p>
            <a:pPr indent="0" marL="0">
              <a:buNone/>
            </a:pPr>
            <a:r>
              <a:rPr lang="en-US" sz="1300" dirty="0">
                <a:solidFill>
                  <a:schemeClr val="bg2"/>
                </a:solidFill>
              </a:rPr>
              <a:t>Red means locked or danger, green means open, yellow stripes mark gates and the key slot.</a:t>
            </a:r>
            <a:endParaRPr lang="en-US" sz="1300" dirty="0"/>
          </a:p>
        </p:txBody>
      </p:sp>
      <p:sp>
        <p:nvSpPr>
          <p:cNvPr id="14" name="card Show the threat first"/>
          <p:cNvSpPr/>
          <p:nvPr/>
        </p:nvSpPr>
        <p:spPr>
          <a:xfrm>
            <a:off x="5715000" y="2816352"/>
            <a:ext cx="2907792" cy="1591056"/>
          </a:xfrm>
          <a:prstGeom prst="rect">
            <a:avLst/>
          </a:prstGeom>
          <a:solidFill>
            <a:schemeClr val="tx2"/>
          </a:solidFill>
          <a:ln w="12700">
            <a:solidFill>
              <a:schemeClr val="tx2"/>
            </a:solidFill>
            <a:prstDash val="solid"/>
          </a:ln>
        </p:spPr>
      </p:sp>
      <p:sp>
        <p:nvSpPr>
          <p:cNvPr id="15" name="dot Show the threat first"/>
          <p:cNvSpPr/>
          <p:nvPr/>
        </p:nvSpPr>
        <p:spPr>
          <a:xfrm>
            <a:off x="5897880" y="2999232"/>
            <a:ext cx="274320" cy="274320"/>
          </a:xfrm>
          <a:prstGeom prst="ellipse">
            <a:avLst/>
          </a:prstGeom>
          <a:solidFill>
            <a:schemeClr val="accent2"/>
          </a:solidFill>
          <a:ln w="12700">
            <a:solidFill>
              <a:schemeClr val="accent2"/>
            </a:solidFill>
            <a:prstDash val="solid"/>
          </a:ln>
        </p:spPr>
      </p:sp>
      <p:sp>
        <p:nvSpPr>
          <p:cNvPr id="16" name="Text 13"/>
          <p:cNvSpPr txBox="1"/>
          <p:nvPr/>
        </p:nvSpPr>
        <p:spPr>
          <a:xfrm>
            <a:off x="6281928" y="2953512"/>
            <a:ext cx="2240280" cy="365760"/>
          </a:xfrm>
          <a:prstGeom prst="rect">
            <a:avLst/>
          </a:prstGeom>
          <a:noFill/>
          <a:ln/>
        </p:spPr>
        <p:txBody>
          <a:bodyPr wrap="square" lIns="0" tIns="0" rIns="0" bIns="0" rtlCol="0" anchor="ctr"/>
          <a:lstStyle/>
          <a:p>
            <a:pPr indent="0" marL="0">
              <a:buNone/>
            </a:pPr>
            <a:r>
              <a:rPr lang="en-US" sz="1600" dirty="0">
                <a:solidFill>
                  <a:schemeClr val="bg1"/>
                </a:solidFill>
              </a:rPr>
              <a:t>Show the threat first</a:t>
            </a:r>
            <a:endParaRPr lang="en-US" sz="1600" dirty="0"/>
          </a:p>
        </p:txBody>
      </p:sp>
      <p:sp>
        <p:nvSpPr>
          <p:cNvPr id="17" name="Text 14"/>
          <p:cNvSpPr txBox="1"/>
          <p:nvPr/>
        </p:nvSpPr>
        <p:spPr>
          <a:xfrm>
            <a:off x="5897880" y="3383280"/>
            <a:ext cx="2606040" cy="960120"/>
          </a:xfrm>
          <a:prstGeom prst="rect">
            <a:avLst/>
          </a:prstGeom>
          <a:noFill/>
          <a:ln/>
        </p:spPr>
        <p:txBody>
          <a:bodyPr wrap="square" lIns="0" tIns="0" rIns="0" bIns="0" rtlCol="0" anchor="t"/>
          <a:lstStyle/>
          <a:p>
            <a:pPr indent="0" marL="0">
              <a:buNone/>
            </a:pPr>
            <a:r>
              <a:rPr lang="en-US" sz="1300" dirty="0">
                <a:solidFill>
                  <a:schemeClr val="bg2"/>
                </a:solidFill>
              </a:rPr>
              <a:t>The camera's sweeping light cone is visible before it sees you: shoot it or slip past.</a:t>
            </a:r>
            <a:endParaRPr lang="en-US" sz="1300" dirty="0"/>
          </a:p>
        </p:txBody>
      </p:sp>
      <p:sp>
        <p:nvSpPr>
          <p:cNvPr id="18" name="card One interaction"/>
          <p:cNvSpPr/>
          <p:nvPr/>
        </p:nvSpPr>
        <p:spPr>
          <a:xfrm>
            <a:off x="8750808" y="2816352"/>
            <a:ext cx="2907792" cy="1591056"/>
          </a:xfrm>
          <a:prstGeom prst="rect">
            <a:avLst/>
          </a:prstGeom>
          <a:solidFill>
            <a:schemeClr val="tx2"/>
          </a:solidFill>
          <a:ln w="12700">
            <a:solidFill>
              <a:schemeClr val="tx2"/>
            </a:solidFill>
            <a:prstDash val="solid"/>
          </a:ln>
        </p:spPr>
      </p:sp>
      <p:sp>
        <p:nvSpPr>
          <p:cNvPr id="19" name="dot One interaction"/>
          <p:cNvSpPr/>
          <p:nvPr/>
        </p:nvSpPr>
        <p:spPr>
          <a:xfrm>
            <a:off x="8933688" y="2999232"/>
            <a:ext cx="274320" cy="274320"/>
          </a:xfrm>
          <a:prstGeom prst="ellipse">
            <a:avLst/>
          </a:prstGeom>
          <a:solidFill>
            <a:schemeClr val="accent1"/>
          </a:solidFill>
          <a:ln w="12700">
            <a:solidFill>
              <a:schemeClr val="accent1"/>
            </a:solidFill>
            <a:prstDash val="solid"/>
          </a:ln>
        </p:spPr>
      </p:sp>
      <p:sp>
        <p:nvSpPr>
          <p:cNvPr id="20" name="Text 17"/>
          <p:cNvSpPr txBox="1"/>
          <p:nvPr/>
        </p:nvSpPr>
        <p:spPr>
          <a:xfrm>
            <a:off x="9317736" y="2953512"/>
            <a:ext cx="2240280" cy="365760"/>
          </a:xfrm>
          <a:prstGeom prst="rect">
            <a:avLst/>
          </a:prstGeom>
          <a:noFill/>
          <a:ln/>
        </p:spPr>
        <p:txBody>
          <a:bodyPr wrap="square" lIns="0" tIns="0" rIns="0" bIns="0" rtlCol="0" anchor="ctr"/>
          <a:lstStyle/>
          <a:p>
            <a:pPr indent="0" marL="0">
              <a:buNone/>
            </a:pPr>
            <a:r>
              <a:rPr lang="en-US" sz="1600" dirty="0">
                <a:solidFill>
                  <a:schemeClr val="bg1"/>
                </a:solidFill>
              </a:rPr>
              <a:t>One interaction</a:t>
            </a:r>
            <a:endParaRPr lang="en-US" sz="1600" dirty="0"/>
          </a:p>
        </p:txBody>
      </p:sp>
      <p:sp>
        <p:nvSpPr>
          <p:cNvPr id="21" name="Text 18"/>
          <p:cNvSpPr txBox="1"/>
          <p:nvPr/>
        </p:nvSpPr>
        <p:spPr>
          <a:xfrm>
            <a:off x="8933688" y="3383280"/>
            <a:ext cx="2606040" cy="960120"/>
          </a:xfrm>
          <a:prstGeom prst="rect">
            <a:avLst/>
          </a:prstGeom>
          <a:noFill/>
          <a:ln/>
        </p:spPr>
        <p:txBody>
          <a:bodyPr wrap="square" lIns="0" tIns="0" rIns="0" bIns="0" rtlCol="0" anchor="t"/>
          <a:lstStyle/>
          <a:p>
            <a:pPr indent="0" marL="0">
              <a:buNone/>
            </a:pPr>
            <a:r>
              <a:rPr lang="en-US" sz="1300" dirty="0">
                <a:solidFill>
                  <a:schemeClr val="bg2"/>
                </a:solidFill>
              </a:rPr>
              <a:t>Only the key slot uses [E], so the one thing to press stands out.</a:t>
            </a:r>
            <a:endParaRPr lang="en-US" sz="1300" dirty="0"/>
          </a:p>
        </p:txBody>
      </p:sp>
      <p:sp>
        <p:nvSpPr>
          <p:cNvPr id="22" name="card Open means the way"/>
          <p:cNvSpPr/>
          <p:nvPr/>
        </p:nvSpPr>
        <p:spPr>
          <a:xfrm>
            <a:off x="5715000" y="4535424"/>
            <a:ext cx="2907792" cy="1591056"/>
          </a:xfrm>
          <a:prstGeom prst="rect">
            <a:avLst/>
          </a:prstGeom>
          <a:solidFill>
            <a:schemeClr val="tx2"/>
          </a:solidFill>
          <a:ln w="12700">
            <a:solidFill>
              <a:schemeClr val="tx2"/>
            </a:solidFill>
            <a:prstDash val="solid"/>
          </a:ln>
        </p:spPr>
      </p:sp>
      <p:sp>
        <p:nvSpPr>
          <p:cNvPr id="23" name="dot Open means the way"/>
          <p:cNvSpPr/>
          <p:nvPr/>
        </p:nvSpPr>
        <p:spPr>
          <a:xfrm>
            <a:off x="5897880" y="4718304"/>
            <a:ext cx="274320" cy="274320"/>
          </a:xfrm>
          <a:prstGeom prst="ellipse">
            <a:avLst/>
          </a:prstGeom>
          <a:solidFill>
            <a:schemeClr val="accent3"/>
          </a:solidFill>
          <a:ln w="12700">
            <a:solidFill>
              <a:schemeClr val="accent3"/>
            </a:solidFill>
            <a:prstDash val="solid"/>
          </a:ln>
        </p:spPr>
      </p:sp>
      <p:sp>
        <p:nvSpPr>
          <p:cNvPr id="24" name="Text 21"/>
          <p:cNvSpPr txBox="1"/>
          <p:nvPr/>
        </p:nvSpPr>
        <p:spPr>
          <a:xfrm>
            <a:off x="6281928" y="4672584"/>
            <a:ext cx="2240280" cy="365760"/>
          </a:xfrm>
          <a:prstGeom prst="rect">
            <a:avLst/>
          </a:prstGeom>
          <a:noFill/>
          <a:ln/>
        </p:spPr>
        <p:txBody>
          <a:bodyPr wrap="square" lIns="0" tIns="0" rIns="0" bIns="0" rtlCol="0" anchor="ctr"/>
          <a:lstStyle/>
          <a:p>
            <a:pPr indent="0" marL="0">
              <a:buNone/>
            </a:pPr>
            <a:r>
              <a:rPr lang="en-US" sz="1600" dirty="0">
                <a:solidFill>
                  <a:schemeClr val="bg1"/>
                </a:solidFill>
              </a:rPr>
              <a:t>Open means the way</a:t>
            </a:r>
            <a:endParaRPr lang="en-US" sz="1600" dirty="0"/>
          </a:p>
        </p:txBody>
      </p:sp>
      <p:sp>
        <p:nvSpPr>
          <p:cNvPr id="25" name="Text 22"/>
          <p:cNvSpPr txBox="1"/>
          <p:nvPr/>
        </p:nvSpPr>
        <p:spPr>
          <a:xfrm>
            <a:off x="5897880" y="5102352"/>
            <a:ext cx="2606040" cy="960120"/>
          </a:xfrm>
          <a:prstGeom prst="rect">
            <a:avLst/>
          </a:prstGeom>
          <a:noFill/>
          <a:ln/>
        </p:spPr>
        <p:txBody>
          <a:bodyPr wrap="square" lIns="0" tIns="0" rIns="0" bIns="0" rtlCol="0" anchor="t"/>
          <a:lstStyle/>
          <a:p>
            <a:pPr indent="0" marL="0">
              <a:buNone/>
            </a:pPr>
            <a:r>
              <a:rPr lang="en-US" sz="1300" dirty="0">
                <a:solidFill>
                  <a:schemeClr val="bg2"/>
                </a:solidFill>
              </a:rPr>
              <a:t>Doors on the route stand open, locked doors stay shut: the path reads at a glance.</a:t>
            </a:r>
            <a:endParaRPr lang="en-US" sz="1300" dirty="0"/>
          </a:p>
        </p:txBody>
      </p:sp>
      <p:sp>
        <p:nvSpPr>
          <p:cNvPr id="26" name="card Light pulls you on"/>
          <p:cNvSpPr/>
          <p:nvPr/>
        </p:nvSpPr>
        <p:spPr>
          <a:xfrm>
            <a:off x="8750808" y="4535424"/>
            <a:ext cx="2907792" cy="1591056"/>
          </a:xfrm>
          <a:prstGeom prst="rect">
            <a:avLst/>
          </a:prstGeom>
          <a:solidFill>
            <a:schemeClr val="tx2"/>
          </a:solidFill>
          <a:ln w="12700">
            <a:solidFill>
              <a:schemeClr val="tx2"/>
            </a:solidFill>
            <a:prstDash val="solid"/>
          </a:ln>
        </p:spPr>
      </p:sp>
      <p:sp>
        <p:nvSpPr>
          <p:cNvPr id="27" name="dot Light pulls you on"/>
          <p:cNvSpPr/>
          <p:nvPr/>
        </p:nvSpPr>
        <p:spPr>
          <a:xfrm>
            <a:off x="8933688" y="4718304"/>
            <a:ext cx="274320" cy="274320"/>
          </a:xfrm>
          <a:prstGeom prst="ellipse">
            <a:avLst/>
          </a:prstGeom>
          <a:solidFill>
            <a:schemeClr val="accent4"/>
          </a:solidFill>
          <a:ln w="12700">
            <a:solidFill>
              <a:schemeClr val="accent4"/>
            </a:solidFill>
            <a:prstDash val="solid"/>
          </a:ln>
        </p:spPr>
      </p:sp>
      <p:sp>
        <p:nvSpPr>
          <p:cNvPr id="28" name="Text 25"/>
          <p:cNvSpPr txBox="1"/>
          <p:nvPr/>
        </p:nvSpPr>
        <p:spPr>
          <a:xfrm>
            <a:off x="9317736" y="4672584"/>
            <a:ext cx="2240280" cy="365760"/>
          </a:xfrm>
          <a:prstGeom prst="rect">
            <a:avLst/>
          </a:prstGeom>
          <a:noFill/>
          <a:ln/>
        </p:spPr>
        <p:txBody>
          <a:bodyPr wrap="square" lIns="0" tIns="0" rIns="0" bIns="0" rtlCol="0" anchor="ctr"/>
          <a:lstStyle/>
          <a:p>
            <a:pPr indent="0" marL="0">
              <a:buNone/>
            </a:pPr>
            <a:r>
              <a:rPr lang="en-US" sz="1600" dirty="0">
                <a:solidFill>
                  <a:schemeClr val="bg1"/>
                </a:solidFill>
              </a:rPr>
              <a:t>Light pulls you on</a:t>
            </a:r>
            <a:endParaRPr lang="en-US" sz="1600" dirty="0"/>
          </a:p>
        </p:txBody>
      </p:sp>
      <p:sp>
        <p:nvSpPr>
          <p:cNvPr id="29" name="Text 26"/>
          <p:cNvSpPr txBox="1"/>
          <p:nvPr/>
        </p:nvSpPr>
        <p:spPr>
          <a:xfrm>
            <a:off x="8933688" y="5102352"/>
            <a:ext cx="2606040" cy="960120"/>
          </a:xfrm>
          <a:prstGeom prst="rect">
            <a:avLst/>
          </a:prstGeom>
          <a:noFill/>
          <a:ln/>
        </p:spPr>
        <p:txBody>
          <a:bodyPr wrap="square" lIns="0" tIns="0" rIns="0" bIns="0" rtlCol="0" anchor="t"/>
          <a:lstStyle/>
          <a:p>
            <a:pPr indent="0" marL="0">
              <a:buNone/>
            </a:pPr>
            <a:r>
              <a:rPr lang="en-US" sz="1300" dirty="0">
                <a:solidFill>
                  <a:schemeClr val="bg2"/>
                </a:solidFill>
              </a:rPr>
              <a:t>Daylight through the breach and the “HELIPAD →” sign lead to the finale.</a:t>
            </a:r>
            <a:endParaRPr lang="en-US" sz="1300" dirty="0"/>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640080"/>
          </a:xfrm>
          <a:prstGeom prst="rect">
            <a:avLst/>
          </a:prstGeom>
          <a:noFill/>
          <a:ln/>
        </p:spPr>
        <p:txBody>
          <a:bodyPr wrap="square" lIns="0" tIns="0" rIns="0" bIns="0" rtlCol="0" anchor="ctr"/>
          <a:lstStyle/>
          <a:p>
            <a:pPr algn="l" indent="0" marL="0">
              <a:buNone/>
            </a:pPr>
            <a:r>
              <a:rPr lang="en-US" sz="3200" dirty="0">
                <a:solidFill>
                  <a:schemeClr val="bg1"/>
                </a:solidFill>
              </a:rPr>
              <a:t>Where it stands</a:t>
            </a:r>
            <a:endParaRPr lang="en-US" sz="3200" dirty="0"/>
          </a:p>
        </p:txBody>
      </p:sp>
      <p:sp>
        <p:nvSpPr>
          <p:cNvPr id="3" name="Text 1"/>
          <p:cNvSpPr txBox="1"/>
          <p:nvPr/>
        </p:nvSpPr>
        <p:spPr>
          <a:xfrm>
            <a:off x="457200" y="1097280"/>
            <a:ext cx="5120640" cy="320040"/>
          </a:xfrm>
          <a:prstGeom prst="rect">
            <a:avLst/>
          </a:prstGeom>
          <a:noFill/>
          <a:ln/>
        </p:spPr>
        <p:txBody>
          <a:bodyPr wrap="square" lIns="0" tIns="0" rIns="0" bIns="0" rtlCol="0" anchor="ctr"/>
          <a:lstStyle/>
          <a:p>
            <a:pPr indent="0" marL="0">
              <a:buNone/>
            </a:pPr>
            <a:r>
              <a:rPr lang="en-US" sz="1300" b="1" dirty="0">
                <a:solidFill>
                  <a:schemeClr val="accent3"/>
                </a:solidFill>
              </a:rPr>
              <a:t>PLAYABLE TODAY</a:t>
            </a:r>
            <a:endParaRPr lang="en-US" sz="1300" dirty="0"/>
          </a:p>
        </p:txBody>
      </p:sp>
      <p:sp>
        <p:nvSpPr>
          <p:cNvPr id="4" name="Text 2"/>
          <p:cNvSpPr txBox="1"/>
          <p:nvPr/>
        </p:nvSpPr>
        <p:spPr>
          <a:xfrm>
            <a:off x="457200" y="1508760"/>
            <a:ext cx="329184" cy="329184"/>
          </a:xfrm>
          <a:prstGeom prst="ellipse">
            <a:avLst/>
          </a:prstGeom>
          <a:solidFill>
            <a:schemeClr val="accent3"/>
          </a:solidFill>
          <a:ln/>
        </p:spPr>
        <p:txBody>
          <a:bodyPr wrap="square" lIns="0" tIns="0" rIns="0" bIns="0" rtlCol="0" anchor="ctr"/>
          <a:lstStyle/>
          <a:p>
            <a:pPr algn="ctr" indent="0" marL="0">
              <a:buNone/>
            </a:pPr>
            <a:r>
              <a:rPr lang="en-US" sz="1400" b="1" dirty="0">
                <a:solidFill>
                  <a:schemeClr val="tx1"/>
                </a:solidFill>
              </a:rPr>
              <a:t>✓</a:t>
            </a:r>
            <a:endParaRPr lang="en-US" sz="1400" dirty="0"/>
          </a:p>
        </p:txBody>
      </p:sp>
      <p:sp>
        <p:nvSpPr>
          <p:cNvPr id="5" name="Text 3"/>
          <p:cNvSpPr txBox="1"/>
          <p:nvPr/>
        </p:nvSpPr>
        <p:spPr>
          <a:xfrm>
            <a:off x="914400" y="1490472"/>
            <a:ext cx="4663440" cy="530352"/>
          </a:xfrm>
          <a:prstGeom prst="rect">
            <a:avLst/>
          </a:prstGeom>
          <a:noFill/>
          <a:ln/>
        </p:spPr>
        <p:txBody>
          <a:bodyPr wrap="square" lIns="0" tIns="0" rIns="0" bIns="0" rtlCol="0" anchor="t"/>
          <a:lstStyle/>
          <a:p>
            <a:pPr indent="0" marL="0">
              <a:buNone/>
            </a:pPr>
            <a:r>
              <a:rPr lang="en-US" sz="1500" dirty="0">
                <a:solidFill>
                  <a:schemeClr val="bg2"/>
                </a:solidFill>
              </a:rPr>
              <a:t>All three floors and the helipad, start to end screen</a:t>
            </a:r>
            <a:endParaRPr lang="en-US" sz="1500" dirty="0"/>
          </a:p>
        </p:txBody>
      </p:sp>
      <p:sp>
        <p:nvSpPr>
          <p:cNvPr id="6" name="Text 4"/>
          <p:cNvSpPr txBox="1"/>
          <p:nvPr/>
        </p:nvSpPr>
        <p:spPr>
          <a:xfrm>
            <a:off x="457200" y="2075688"/>
            <a:ext cx="329184" cy="329184"/>
          </a:xfrm>
          <a:prstGeom prst="ellipse">
            <a:avLst/>
          </a:prstGeom>
          <a:solidFill>
            <a:schemeClr val="accent3"/>
          </a:solidFill>
          <a:ln/>
        </p:spPr>
        <p:txBody>
          <a:bodyPr wrap="square" lIns="0" tIns="0" rIns="0" bIns="0" rtlCol="0" anchor="ctr"/>
          <a:lstStyle/>
          <a:p>
            <a:pPr algn="ctr" indent="0" marL="0">
              <a:buNone/>
            </a:pPr>
            <a:r>
              <a:rPr lang="en-US" sz="1400" b="1" dirty="0">
                <a:solidFill>
                  <a:schemeClr val="tx1"/>
                </a:solidFill>
              </a:rPr>
              <a:t>✓</a:t>
            </a:r>
            <a:endParaRPr lang="en-US" sz="1400" dirty="0"/>
          </a:p>
        </p:txBody>
      </p:sp>
      <p:sp>
        <p:nvSpPr>
          <p:cNvPr id="7" name="Text 5"/>
          <p:cNvSpPr txBox="1"/>
          <p:nvPr/>
        </p:nvSpPr>
        <p:spPr>
          <a:xfrm>
            <a:off x="914400" y="2057400"/>
            <a:ext cx="4663440" cy="530352"/>
          </a:xfrm>
          <a:prstGeom prst="rect">
            <a:avLst/>
          </a:prstGeom>
          <a:noFill/>
          <a:ln/>
        </p:spPr>
        <p:txBody>
          <a:bodyPr wrap="square" lIns="0" tIns="0" rIns="0" bIns="0" rtlCol="0" anchor="t"/>
          <a:lstStyle/>
          <a:p>
            <a:pPr indent="0" marL="0">
              <a:buNone/>
            </a:pPr>
            <a:r>
              <a:rPr lang="en-US" sz="1500" dirty="0">
                <a:solidFill>
                  <a:schemeClr val="bg2"/>
                </a:solidFill>
              </a:rPr>
              <a:t>Alarm trap, security camera, key and key slot</a:t>
            </a:r>
            <a:endParaRPr lang="en-US" sz="1500" dirty="0"/>
          </a:p>
        </p:txBody>
      </p:sp>
      <p:sp>
        <p:nvSpPr>
          <p:cNvPr id="8" name="Text 6"/>
          <p:cNvSpPr txBox="1"/>
          <p:nvPr/>
        </p:nvSpPr>
        <p:spPr>
          <a:xfrm>
            <a:off x="457200" y="2642616"/>
            <a:ext cx="329184" cy="329184"/>
          </a:xfrm>
          <a:prstGeom prst="ellipse">
            <a:avLst/>
          </a:prstGeom>
          <a:solidFill>
            <a:schemeClr val="accent3"/>
          </a:solidFill>
          <a:ln/>
        </p:spPr>
        <p:txBody>
          <a:bodyPr wrap="square" lIns="0" tIns="0" rIns="0" bIns="0" rtlCol="0" anchor="ctr"/>
          <a:lstStyle/>
          <a:p>
            <a:pPr algn="ctr" indent="0" marL="0">
              <a:buNone/>
            </a:pPr>
            <a:r>
              <a:rPr lang="en-US" sz="1400" b="1" dirty="0">
                <a:solidFill>
                  <a:schemeClr val="tx1"/>
                </a:solidFill>
              </a:rPr>
              <a:t>✓</a:t>
            </a:r>
            <a:endParaRPr lang="en-US" sz="1400" dirty="0"/>
          </a:p>
        </p:txBody>
      </p:sp>
      <p:sp>
        <p:nvSpPr>
          <p:cNvPr id="9" name="Text 7"/>
          <p:cNvSpPr txBox="1"/>
          <p:nvPr/>
        </p:nvSpPr>
        <p:spPr>
          <a:xfrm>
            <a:off x="914400" y="2624328"/>
            <a:ext cx="4663440" cy="530352"/>
          </a:xfrm>
          <a:prstGeom prst="rect">
            <a:avLst/>
          </a:prstGeom>
          <a:noFill/>
          <a:ln/>
        </p:spPr>
        <p:txBody>
          <a:bodyPr wrap="square" lIns="0" tIns="0" rIns="0" bIns="0" rtlCol="0" anchor="t"/>
          <a:lstStyle/>
          <a:p>
            <a:pPr indent="0" marL="0">
              <a:buNone/>
            </a:pPr>
            <a:r>
              <a:rPr lang="en-US" sz="1500" dirty="0">
                <a:solidFill>
                  <a:schemeClr val="bg2"/>
                </a:solidFill>
              </a:rPr>
              <a:t>Rifle-only heavy robot, boss, helicopter extraction</a:t>
            </a:r>
            <a:endParaRPr lang="en-US" sz="1500" dirty="0"/>
          </a:p>
        </p:txBody>
      </p:sp>
      <p:sp>
        <p:nvSpPr>
          <p:cNvPr id="10" name="Text 8"/>
          <p:cNvSpPr txBox="1"/>
          <p:nvPr/>
        </p:nvSpPr>
        <p:spPr>
          <a:xfrm>
            <a:off x="457200" y="3209544"/>
            <a:ext cx="329184" cy="329184"/>
          </a:xfrm>
          <a:prstGeom prst="ellipse">
            <a:avLst/>
          </a:prstGeom>
          <a:solidFill>
            <a:schemeClr val="accent3"/>
          </a:solidFill>
          <a:ln/>
        </p:spPr>
        <p:txBody>
          <a:bodyPr wrap="square" lIns="0" tIns="0" rIns="0" bIns="0" rtlCol="0" anchor="ctr"/>
          <a:lstStyle/>
          <a:p>
            <a:pPr algn="ctr" indent="0" marL="0">
              <a:buNone/>
            </a:pPr>
            <a:r>
              <a:rPr lang="en-US" sz="1400" b="1" dirty="0">
                <a:solidFill>
                  <a:schemeClr val="tx1"/>
                </a:solidFill>
              </a:rPr>
              <a:t>✓</a:t>
            </a:r>
            <a:endParaRPr lang="en-US" sz="1400" dirty="0"/>
          </a:p>
        </p:txBody>
      </p:sp>
      <p:sp>
        <p:nvSpPr>
          <p:cNvPr id="11" name="Text 9"/>
          <p:cNvSpPr txBox="1"/>
          <p:nvPr/>
        </p:nvSpPr>
        <p:spPr>
          <a:xfrm>
            <a:off x="914400" y="3191256"/>
            <a:ext cx="4663440" cy="530352"/>
          </a:xfrm>
          <a:prstGeom prst="rect">
            <a:avLst/>
          </a:prstGeom>
          <a:noFill/>
          <a:ln/>
        </p:spPr>
        <p:txBody>
          <a:bodyPr wrap="square" lIns="0" tIns="0" rIns="0" bIns="0" rtlCol="0" anchor="t"/>
          <a:lstStyle/>
          <a:p>
            <a:pPr indent="0" marL="0">
              <a:buNone/>
            </a:pPr>
            <a:r>
              <a:rPr lang="en-US" sz="1500" dirty="0">
                <a:solidFill>
                  <a:schemeClr val="bg2"/>
                </a:solidFill>
              </a:rPr>
              <a:t>Five hidden coins, checkpoint per level, achievements</a:t>
            </a:r>
            <a:endParaRPr lang="en-US" sz="1500" dirty="0"/>
          </a:p>
        </p:txBody>
      </p:sp>
      <p:sp>
        <p:nvSpPr>
          <p:cNvPr id="12" name="Text 10"/>
          <p:cNvSpPr txBox="1"/>
          <p:nvPr/>
        </p:nvSpPr>
        <p:spPr>
          <a:xfrm>
            <a:off x="457200" y="3776472"/>
            <a:ext cx="329184" cy="329184"/>
          </a:xfrm>
          <a:prstGeom prst="ellipse">
            <a:avLst/>
          </a:prstGeom>
          <a:solidFill>
            <a:schemeClr val="accent3"/>
          </a:solidFill>
          <a:ln/>
        </p:spPr>
        <p:txBody>
          <a:bodyPr wrap="square" lIns="0" tIns="0" rIns="0" bIns="0" rtlCol="0" anchor="ctr"/>
          <a:lstStyle/>
          <a:p>
            <a:pPr algn="ctr" indent="0" marL="0">
              <a:buNone/>
            </a:pPr>
            <a:r>
              <a:rPr lang="en-US" sz="1400" b="1" dirty="0">
                <a:solidFill>
                  <a:schemeClr val="tx1"/>
                </a:solidFill>
              </a:rPr>
              <a:t>✓</a:t>
            </a:r>
            <a:endParaRPr lang="en-US" sz="1400" dirty="0"/>
          </a:p>
        </p:txBody>
      </p:sp>
      <p:sp>
        <p:nvSpPr>
          <p:cNvPr id="13" name="Text 11"/>
          <p:cNvSpPr txBox="1"/>
          <p:nvPr/>
        </p:nvSpPr>
        <p:spPr>
          <a:xfrm>
            <a:off x="914400" y="3758184"/>
            <a:ext cx="4663440" cy="530352"/>
          </a:xfrm>
          <a:prstGeom prst="rect">
            <a:avLst/>
          </a:prstGeom>
          <a:noFill/>
          <a:ln/>
        </p:spPr>
        <p:txBody>
          <a:bodyPr wrap="square" lIns="0" tIns="0" rIns="0" bIns="0" rtlCol="0" anchor="t"/>
          <a:lstStyle/>
          <a:p>
            <a:pPr indent="0" marL="0">
              <a:buNone/>
            </a:pPr>
            <a:r>
              <a:rPr lang="en-US" sz="1500" dirty="0">
                <a:solidFill>
                  <a:schemeClr val="bg2"/>
                </a:solidFill>
              </a:rPr>
              <a:t>Procedural part: seeded soldier placement per play</a:t>
            </a:r>
            <a:endParaRPr lang="en-US" sz="1500" dirty="0"/>
          </a:p>
        </p:txBody>
      </p:sp>
      <p:sp>
        <p:nvSpPr>
          <p:cNvPr id="14" name="Text 12"/>
          <p:cNvSpPr txBox="1"/>
          <p:nvPr/>
        </p:nvSpPr>
        <p:spPr>
          <a:xfrm>
            <a:off x="457200" y="4343400"/>
            <a:ext cx="329184" cy="329184"/>
          </a:xfrm>
          <a:prstGeom prst="ellipse">
            <a:avLst/>
          </a:prstGeom>
          <a:solidFill>
            <a:schemeClr val="accent3"/>
          </a:solidFill>
          <a:ln/>
        </p:spPr>
        <p:txBody>
          <a:bodyPr wrap="square" lIns="0" tIns="0" rIns="0" bIns="0" rtlCol="0" anchor="ctr"/>
          <a:lstStyle/>
          <a:p>
            <a:pPr algn="ctr" indent="0" marL="0">
              <a:buNone/>
            </a:pPr>
            <a:r>
              <a:rPr lang="en-US" sz="1400" b="1" dirty="0">
                <a:solidFill>
                  <a:schemeClr val="tx1"/>
                </a:solidFill>
              </a:rPr>
              <a:t>✓</a:t>
            </a:r>
            <a:endParaRPr lang="en-US" sz="1400" dirty="0"/>
          </a:p>
        </p:txBody>
      </p:sp>
      <p:sp>
        <p:nvSpPr>
          <p:cNvPr id="15" name="Text 13"/>
          <p:cNvSpPr txBox="1"/>
          <p:nvPr/>
        </p:nvSpPr>
        <p:spPr>
          <a:xfrm>
            <a:off x="914400" y="4325112"/>
            <a:ext cx="4663440" cy="530352"/>
          </a:xfrm>
          <a:prstGeom prst="rect">
            <a:avLst/>
          </a:prstGeom>
          <a:noFill/>
          <a:ln/>
        </p:spPr>
        <p:txBody>
          <a:bodyPr wrap="square" lIns="0" tIns="0" rIns="0" bIns="0" rtlCol="0" anchor="t"/>
          <a:lstStyle/>
          <a:p>
            <a:pPr indent="0" marL="0">
              <a:buNone/>
            </a:pPr>
            <a:r>
              <a:rPr lang="en-US" sz="1500" dirty="0">
                <a:solidFill>
                  <a:schemeClr val="bg2"/>
                </a:solidFill>
              </a:rPr>
              <a:t>Automated playtest bot plays the whole level and runs 30+ checks on every change</a:t>
            </a:r>
            <a:endParaRPr lang="en-US" sz="1500" dirty="0"/>
          </a:p>
        </p:txBody>
      </p:sp>
      <p:sp>
        <p:nvSpPr>
          <p:cNvPr id="16" name="Text 14"/>
          <p:cNvSpPr txBox="1"/>
          <p:nvPr/>
        </p:nvSpPr>
        <p:spPr>
          <a:xfrm>
            <a:off x="6035040" y="1097280"/>
            <a:ext cx="5669280" cy="320040"/>
          </a:xfrm>
          <a:prstGeom prst="rect">
            <a:avLst/>
          </a:prstGeom>
          <a:noFill/>
          <a:ln/>
        </p:spPr>
        <p:txBody>
          <a:bodyPr wrap="square" lIns="0" tIns="0" rIns="0" bIns="0" rtlCol="0" anchor="ctr"/>
          <a:lstStyle/>
          <a:p>
            <a:pPr indent="0" marL="0">
              <a:buNone/>
            </a:pPr>
            <a:r>
              <a:rPr lang="en-US" sz="1300" b="1" dirty="0">
                <a:solidFill>
                  <a:schemeClr val="accent1"/>
                </a:solidFill>
              </a:rPr>
              <a:t>NEXT</a:t>
            </a:r>
            <a:endParaRPr lang="en-US" sz="1300" dirty="0"/>
          </a:p>
        </p:txBody>
      </p:sp>
      <p:sp>
        <p:nvSpPr>
          <p:cNvPr id="17" name="Text 15"/>
          <p:cNvSpPr txBox="1"/>
          <p:nvPr/>
        </p:nvSpPr>
        <p:spPr>
          <a:xfrm>
            <a:off x="6035040" y="1508760"/>
            <a:ext cx="329184" cy="32918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18" name="Text 16"/>
          <p:cNvSpPr txBox="1"/>
          <p:nvPr/>
        </p:nvSpPr>
        <p:spPr>
          <a:xfrm>
            <a:off x="6492240" y="1490472"/>
            <a:ext cx="5212080" cy="530352"/>
          </a:xfrm>
          <a:prstGeom prst="rect">
            <a:avLst/>
          </a:prstGeom>
          <a:noFill/>
          <a:ln/>
        </p:spPr>
        <p:txBody>
          <a:bodyPr wrap="square" lIns="0" tIns="0" rIns="0" bIns="0" rtlCol="0" anchor="t"/>
          <a:lstStyle/>
          <a:p>
            <a:pPr indent="0" marL="0">
              <a:buNone/>
            </a:pPr>
            <a:r>
              <a:rPr lang="en-US" sz="1500" dirty="0">
                <a:solidFill>
                  <a:schemeClr val="bg2"/>
                </a:solidFill>
              </a:rPr>
              <a:t>My own Blender models for the robot, the boss and the helicopter (placeholders now)</a:t>
            </a:r>
            <a:endParaRPr lang="en-US" sz="1500" dirty="0"/>
          </a:p>
        </p:txBody>
      </p:sp>
      <p:sp>
        <p:nvSpPr>
          <p:cNvPr id="19" name="Text 17"/>
          <p:cNvSpPr txBox="1"/>
          <p:nvPr/>
        </p:nvSpPr>
        <p:spPr>
          <a:xfrm>
            <a:off x="6035040" y="2075688"/>
            <a:ext cx="329184" cy="32918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20" name="Text 18"/>
          <p:cNvSpPr txBox="1"/>
          <p:nvPr/>
        </p:nvSpPr>
        <p:spPr>
          <a:xfrm>
            <a:off x="6492240" y="2057400"/>
            <a:ext cx="5212080" cy="530352"/>
          </a:xfrm>
          <a:prstGeom prst="rect">
            <a:avLst/>
          </a:prstGeom>
          <a:noFill/>
          <a:ln/>
        </p:spPr>
        <p:txBody>
          <a:bodyPr wrap="square" lIns="0" tIns="0" rIns="0" bIns="0" rtlCol="0" anchor="t"/>
          <a:lstStyle/>
          <a:p>
            <a:pPr indent="0" marL="0">
              <a:buNone/>
            </a:pPr>
            <a:r>
              <a:rPr lang="en-US" sz="1500" dirty="0">
                <a:solidFill>
                  <a:schemeClr val="bg2"/>
                </a:solidFill>
              </a:rPr>
              <a:t>Environmental storytelling: props that show how the base was overrun</a:t>
            </a:r>
            <a:endParaRPr lang="en-US" sz="1500" dirty="0"/>
          </a:p>
        </p:txBody>
      </p:sp>
      <p:sp>
        <p:nvSpPr>
          <p:cNvPr id="21" name="Text 19"/>
          <p:cNvSpPr txBox="1"/>
          <p:nvPr/>
        </p:nvSpPr>
        <p:spPr>
          <a:xfrm>
            <a:off x="6035040" y="2642616"/>
            <a:ext cx="329184" cy="32918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22" name="Text 20"/>
          <p:cNvSpPr txBox="1"/>
          <p:nvPr/>
        </p:nvSpPr>
        <p:spPr>
          <a:xfrm>
            <a:off x="6492240" y="2624328"/>
            <a:ext cx="5212080" cy="530352"/>
          </a:xfrm>
          <a:prstGeom prst="rect">
            <a:avLst/>
          </a:prstGeom>
          <a:noFill/>
          <a:ln/>
        </p:spPr>
        <p:txBody>
          <a:bodyPr wrap="square" lIns="0" tIns="0" rIns="0" bIns="0" rtlCol="0" anchor="t"/>
          <a:lstStyle/>
          <a:p>
            <a:pPr indent="0" marL="0">
              <a:buNone/>
            </a:pPr>
            <a:r>
              <a:rPr lang="en-US" sz="1500" dirty="0">
                <a:solidFill>
                  <a:schemeClr val="bg2"/>
                </a:solidFill>
              </a:rPr>
              <a:t>A mood per space: post-processing for the lockdown, the breach, the roof</a:t>
            </a:r>
            <a:endParaRPr lang="en-US" sz="1500" dirty="0"/>
          </a:p>
        </p:txBody>
      </p:sp>
      <p:sp>
        <p:nvSpPr>
          <p:cNvPr id="23" name="Text 21"/>
          <p:cNvSpPr txBox="1"/>
          <p:nvPr/>
        </p:nvSpPr>
        <p:spPr>
          <a:xfrm>
            <a:off x="6035040" y="3209544"/>
            <a:ext cx="329184" cy="32918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4" name="Text 22"/>
          <p:cNvSpPr txBox="1"/>
          <p:nvPr/>
        </p:nvSpPr>
        <p:spPr>
          <a:xfrm>
            <a:off x="6492240" y="3191256"/>
            <a:ext cx="5212080" cy="530352"/>
          </a:xfrm>
          <a:prstGeom prst="rect">
            <a:avLst/>
          </a:prstGeom>
          <a:noFill/>
          <a:ln/>
        </p:spPr>
        <p:txBody>
          <a:bodyPr wrap="square" lIns="0" tIns="0" rIns="0" bIns="0" rtlCol="0" anchor="t"/>
          <a:lstStyle/>
          <a:p>
            <a:pPr indent="0" marL="0">
              <a:buNone/>
            </a:pPr>
            <a:r>
              <a:rPr lang="en-US" sz="1500" dirty="0">
                <a:solidFill>
                  <a:schemeClr val="bg2"/>
                </a:solidFill>
              </a:rPr>
              <a:t>Peer playtests, especially the balance of the lockdown with only a pistol</a:t>
            </a:r>
            <a:endParaRPr lang="en-US" sz="1500" dirty="0"/>
          </a:p>
        </p:txBody>
      </p:sp>
      <p:pic>
        <p:nvPicPr>
          <p:cNvPr id="25" name="extraction screenshot" descr="C:\Users\at488\AppData\Local\Temp\claude\C--Users-at488-OneDrive---Hochschule-Luzern-Desktop-Level-World-Design-\cc816706-66e7-4f21-b274-83f61f88f670\scratchpad\deck\screenshots\hud_end_screen.png">    </p:cNvPr>
          <p:cNvPicPr>
            <a:picLocks noChangeAspect="1"/>
          </p:cNvPicPr>
          <p:nvPr/>
        </p:nvPicPr>
        <p:blipFill>
          <a:blip r:embed="rId1"/>
          <a:stretch>
            <a:fillRect/>
          </a:stretch>
        </p:blipFill>
        <p:spPr>
          <a:xfrm>
            <a:off x="6035040" y="3886200"/>
            <a:ext cx="4023360" cy="2267712"/>
          </a:xfrm>
          <a:prstGeom prst="rect">
            <a:avLst/>
          </a:prstGeom>
        </p:spPr>
      </p:pic>
      <p:sp>
        <p:nvSpPr>
          <p:cNvPr id="26" name="Text 23"/>
          <p:cNvSpPr txBox="1"/>
          <p:nvPr/>
        </p:nvSpPr>
        <p:spPr>
          <a:xfrm>
            <a:off x="6035040" y="6181344"/>
            <a:ext cx="4023360" cy="274320"/>
          </a:xfrm>
          <a:prstGeom prst="rect">
            <a:avLst/>
          </a:prstGeom>
          <a:noFill/>
          <a:ln/>
        </p:spPr>
        <p:txBody>
          <a:bodyPr wrap="square" lIns="0" tIns="0" rIns="0" bIns="0" rtlCol="0" anchor="ctr"/>
          <a:lstStyle/>
          <a:p>
            <a:pPr indent="0" marL="0">
              <a:buNone/>
            </a:pPr>
            <a:r>
              <a:rPr lang="en-US" sz="1100" i="1" dirty="0">
                <a:solidFill>
                  <a:schemeClr val="accent5"/>
                </a:solidFill>
              </a:rPr>
              <a:t>The extraction: the helicopter on the pad</a:t>
            </a:r>
            <a:endParaRPr lang="en-US" sz="1100" dirty="0"/>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VANTAGE">
  <a:themeElements>
    <a:clrScheme name="VANTAGE">
      <a:dk1>
        <a:srgbClr val="15181D"/>
      </a:dk1>
      <a:lt1>
        <a:srgbClr val="FFFFFF"/>
      </a:lt1>
      <a:dk2>
        <a:srgbClr val="232830"/>
      </a:dk2>
      <a:lt2>
        <a:srgbClr val="EDEBE6"/>
      </a:lt2>
      <a:accent1>
        <a:srgbClr val="F2A900"/>
      </a:accent1>
      <a:accent2>
        <a:srgbClr val="D7263D"/>
      </a:accent2>
      <a:accent3>
        <a:srgbClr val="3BB273"/>
      </a:accent3>
      <a:accent4>
        <a:srgbClr val="5AA0D2"/>
      </a:accent4>
      <a:accent5>
        <a:srgbClr val="8A8F98"/>
      </a:accent5>
      <a:accent6>
        <a:srgbClr val="2E343D"/>
      </a:accent6>
      <a:hlink>
        <a:srgbClr val="F2A900"/>
      </a:hlink>
      <a:folHlink>
        <a:srgbClr val="D7263D"/>
      </a:folHlink>
    </a:clrScheme>
    <a:fontScheme name="VANTAGE">
      <a:majorFont>
        <a:latin typeface="Bahnschrift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hnschrif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VANTAGE: Level and World Design</dc:title>
  <dc:subject>PptxGenJS Presentation</dc:subject>
  <dc:creator>Adhurim Thaqi</dc:creator>
  <cp:lastModifiedBy>Adhurim Thaqi</cp:lastModifiedBy>
  <cp:revision>1</cp:revision>
  <dcterms:created xsi:type="dcterms:W3CDTF">2026-10-16T13:10:58Z</dcterms:created>
  <dcterms:modified xsi:type="dcterms:W3CDTF">2026-10-16T13:10:58Z</dcterms:modified>
</cp:coreProperties>
</file>